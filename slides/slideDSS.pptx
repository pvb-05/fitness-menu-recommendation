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8" r:id="rId15"/>
    <p:sldId id="267" r:id="rId16"/>
    <p:sldId id="269" r:id="rId17"/>
    <p:sldId id="270" r:id="rId18"/>
    <p:sldId id="271" r:id="rId19"/>
    <p:sldId id="272" r:id="rId20"/>
    <p:sldId id="273" r:id="rId21"/>
    <p:sldId id="274" r:id="rId22"/>
    <p:sldId id="275" r:id="rId23"/>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p:txBody>
      </p:sp>
      <p:sp>
        <p:nvSpPr>
          <p:cNvPr id="3" name="Date Placeholder"/>
          <p:cNvSpPr>
            <a:spLocks noGrp="1"/>
          </p:cNvSpPr>
          <p:nvPr>
            <p:ph type="dt" sz="quarter" idx="1"/>
          </p:nvPr>
        </p:nvSpPr>
        <p:spPr>
          <a:prstGeom prst="rect">
            <a:avLst/>
          </a:prstGeom>
        </p:spPr>
        <p:txBody>
          <a:bodyPr/>
          <a:lstStyle/>
          <a:p/>
        </p:txBody>
      </p:sp>
      <p:sp>
        <p:nvSpPr>
          <p:cNvPr id="4" name="Slide Image Placeholder"/>
          <p:cNvSpPr>
            <a:spLocks noGrp="1" noRot="1" noChangeAspect="1"/>
          </p:cNvSpPr>
          <p:nvPr>
            <p:ph type="sldImg" idx="2"/>
          </p:nvPr>
        </p:nvSpPr>
        <p:spPr>
          <a:prstGeom prst="rect">
            <a:avLst/>
          </a:prstGeom>
        </p:spPr>
        <p:txBody>
          <a:bodyPr/>
          <a:lstStyle/>
          <a:p/>
        </p:txBody>
      </p:sp>
      <p:sp>
        <p:nvSpPr>
          <p:cNvPr id="5" name="Notes Placeholder"/>
          <p:cNvSpPr>
            <a:spLocks noGrp="1"/>
          </p:cNvSpPr>
          <p:nvPr>
            <p:ph type="body" sz="quarter" idx="3"/>
          </p:nvPr>
        </p:nvSpPr>
        <p:spPr>
          <a:prstGeom prst="rect">
            <a:avLst/>
          </a:prstGeom>
        </p:spPr>
        <p:txBody>
          <a:bodyPr/>
          <a:lstStyle/>
          <a:p/>
        </p:txBody>
      </p:sp>
      <p:sp>
        <p:nvSpPr>
          <p:cNvPr id="6" name="Footer Placeholder"/>
          <p:cNvSpPr>
            <a:spLocks noGrp="1"/>
          </p:cNvSpPr>
          <p:nvPr>
            <p:ph type="ftr" sz="quarter" idx="4"/>
          </p:nvPr>
        </p:nvSpPr>
        <p:spPr>
          <a:prstGeom prst="rect">
            <a:avLst/>
          </a:prstGeom>
        </p:spPr>
        <p:txBody>
          <a:bodyPr/>
          <a:lstStyle/>
          <a:p/>
        </p:txBody>
      </p:sp>
      <p:sp>
        <p:nvSpPr>
          <p:cNvPr id="7" name="Slide Number Placeholder"/>
          <p:cNvSpPr>
            <a:spLocks noGrp="1"/>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Em chào cô và các bạn. Nhóm 4 xin trình bày đề tài gợi ý thực đơn dinh dưỡng cho người tập thể hình bằng KNN. Bài trình bày tập trung vào vấn đề cần giải quyết, cách nhóm xây dựng giải pháp, các bước sử dụng và kết quả kiểm tra ứng dụng.</a:t>
            </a:r>
          </a:p>
          <a:p/>
          <a:p>
            <a:r>
              <a:t>Nguồn nội dung: baocaoDSS_final.docx. Hình minh họa AI về bữa ăn và tập luyện, không phải ảnh hệ thống hoặc dữ liệu thực nghiệm.</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Nhóm gồm bốn thành viên như trên slide, dưới sự hướng dẫn của cô Nguyễn Thị Huệ. Nhóm sẽ trình bày theo bốn phần: vấn đề và giải pháp, cơ chế tìm thực đơn, minh họa ứng dụng, cuối cùng là kết quả và hướng cải thiện.</a:t>
            </a:r>
          </a:p>
          <a:p/>
          <a:p>
            <a:r>
              <a:t>Nguồn: baocaoDSS_final.docx, báo cáo môn Hệ thống hỗ trợ ra quyết định của nhóm 4, lớp 23CN2. Nội dung và ảnh do nhóm cung cấp.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Khó khăn ban đầu là cùng một món ăn nhưng mỗi người lại cần khẩu phần khác nhau. Người tăng cơ và người giảm mỡ cũng có mục tiêu khác nhau. Nhóm chọn giải quyết phần tính toán và so sánh dinh dưỡng để người dùng có cơ sở lựa chọn, thay vì phải tự tra cứu và cộng từng nguyên liệu.</a:t>
            </a:r>
          </a:p>
          <a:p/>
          <a:p>
            <a:r>
              <a:t>Nguồn: baocaoDSS_final.docx, báo cáo môn Hệ thống hỗ trợ ra quyết định của nhóm 4, lớp 23CN2. Nội dung và ảnh do nhóm cung cấp. Ảnh hộp thực đơn là hình minh họa AI.</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Giải pháp có ba việc nối tiếp nhau. Đầu tiên là xác định nhu cầu cá nhân. Tiếp theo là tìm các thực đơn gần nhu cầu bằng KNN. Cuối cùng là trình bày phương án và bảng đối chiếu. Đây là vai trò của DSS: hỗ trợ quyết định bằng dữ liệu và mô hình, còn người dùng chọn phương án cuối cùng.</a:t>
            </a:r>
          </a:p>
          <a:p/>
          <a:p>
            <a:r>
              <a:t>Nguồn: baocaoDSS_final.docx, báo cáo môn Hệ thống hỗ trợ ra quyết định của nhóm 4, lớp 23CN2. Nội dung và ảnh do nhóm cung cấp.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Ở phía triển khai, giao diện nhận thông tin người dùng và gửi tới Flask. Flask tính nhu cầu, lấy dữ liệu thực đơn từ SQLite và gọi bộ tìm kiếm. StandardScaler chuẩn hóa các đặc trưng, NearestNeighbors tìm phương án gần nhất. Kết quả quay lại trình duyệt để người dùng so sánh và chọn bữa.</a:t>
            </a:r>
          </a:p>
          <a:p/>
          <a:p>
            <a:r>
              <a:t>Nguồn: baocaoDSS_final.docx, báo cáo môn Hệ thống hỗ trợ ra quyết định của nhóm 4, lớp 23CN2. Nội dung và ảnh do nhóm cung cấp.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Dữ liệu nguyên liệu được lấy từ Bộ Nông nghiệp Việt Nam và nhập bằng tay. Sau khi nhập, nhóm kiểm tra thủ công tên thực phẩm, đơn vị và giá trị dinh dưỡng để rà soát lỗi nhập. Các giá trị Calories, Protein, Carb và Fat được thống nhất trên 100 gram. Cơ sở này giúp quy đổi theo khẩu phần và tính tổng dinh dưỡng từng thực đơn. Kiểm tra dữ liệu đầu vào và chuẩn hóa StandardScaler ở bước KNN là hai công việc khác nhau.</a:t>
            </a:r>
          </a:p>
          <a:p/>
          <a:p>
            <a:r>
              <a:t>Nguồn dữ liệu và cách thu thập do người thực hiện xác nhận: Bộ Nông nghiệp Việt Nam; nhập tay và kiểm tra thủ công. Hình nguyên liệu là minh họa AI, không biểu diễn khẩu phần định lượng.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Từ các nguyên liệu, chương trình thực hiện 20.000 lượt sinh tổ hợp. Mỗi tổ hợp có tinh bột, đạm và rau với các mức định lượng khác nhau. Chương trình cộng dinh dưỡng từng nguyên liệu rồi lưu vào MenuTable. Con số này mô tả số lượt sinh, chưa đồng nghĩa với 20.000 thực đơn hoàn toàn khác nhau.</a:t>
            </a:r>
          </a:p>
          <a:p/>
          <a:p>
            <a:r>
              <a:t>Nguồn: baocaoDSS_final.docx, báo cáo môn Hệ thống hỗ trợ ra quyết định của nhóm 4, lớp 23CN2. Nội dung và ảnh do nhóm cung cấp. Số lượt sinh chưa chứng minh số tổ hợp duy nhất. Ảnh ba nhóm thực phẩm là minh họa AI, không biểu diễn khẩu phần định lượng.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Mỗi thực đơn và mỗi nhu cầu đều biểu diễn bằng bốn đặc trưng. Nếu tính khoảng cách trực tiếp, Calories có giá trị số lớn sẽ dễ chi phối kết quả. Nhóm dùng StandardScaler để trừ trung bình và chia độ lệch chuẩn. Quan trọng là cả nhu cầu và dữ liệu thực đơn cùng dùng một scaler đã khớp với tập ứng viên.</a:t>
            </a:r>
          </a:p>
          <a:p/>
          <a:p>
            <a:r>
              <a:t>Nguồn: baocaoDSS_final.docx, báo cáo môn Hệ thống hỗ trợ ra quyết định của nhóm 4, lớp 23CN2. Nội dung và ảnh do nhóm cung cấp.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Thông tin thể trạng giúp tính BMR, tức mức chuyển hóa cơ bản. Nhân BMR với hệ số vận động sẽ có TDEE. Từ đó, hệ thống điều chỉnh theo mục tiêu tập luyện. Kết quả cần thiết cho bước tìm kiếm là vector nhu cầu gồm năng lượng và ba chất đa lượng, chứ không chỉ một con số Calories.</a:t>
            </a:r>
          </a:p>
          <a:p/>
          <a:p>
            <a:r>
              <a:t>Nguồn: baocaoDSS_final.docx, báo cáo môn Hệ thống hỗ trợ ra quyết định của nhóm 4, lớp 23CN2. Nội dung và ảnh do nhóm cung cấp.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Sau khi có nhu cầu ngày, chương trình phân bổ Protein, Carb và Fat theo mục tiêu. Các tỷ lệ này là cấu hình của đề tài. Protein và Carb quy đổi 4 kcal mỗi gram, Fat 9 kcal mỗi gram. Nhóm chia mục tiêu thành ba bữa để tìm phương án cho từng bữa. Đây cũng là một giả định có thể cải tiến về sau.</a:t>
            </a:r>
          </a:p>
          <a:p/>
          <a:p>
            <a:r>
              <a:t>Nguồn: baocaoDSS_final.docx, báo cáo môn Hệ thống hỗ trợ ra quyết định của nhóm 4, lớp 23CN2. Nội dung và ảnh do nhóm cung cấp.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Quy trình tìm kiếm bắt đầu bằng nhu cầu một bữa. Hệ thống lọc thực phẩm người dùng chọn tránh, chuẩn hóa dữ liệu, rồi xếp hạng theo khoảng cách Euclidean. K bằng 5 nghĩa là tối đa năm phương án để so sánh. Nếu số ứng viên ít hơn năm thì cần dùng số láng giềng tương ứng với số ứng viên hợp lệ.</a:t>
            </a:r>
          </a:p>
          <a:p/>
          <a:p>
            <a:r>
              <a:t>Nguồn: baocaoDSS_final.docx, báo cáo môn Hệ thống hỗ trợ ra quyết định của nhóm 4, lớp 23CN2. Nội dung và ảnh do nhóm cung cấp.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Sau phần cơ chế, nhóm chuyển sang minh họa ứng dụng. Có ba bước chính: nhập nhu cầu, chọn thực đơn và đối chiếu tổng dinh dưỡng. Các slide tiếp theo đi theo đúng thứ tự sử dụng này để thấy kết quả của phần tính toán và tìm kiếm trên giao diện.</a:t>
            </a:r>
          </a:p>
          <a:p/>
          <a:p>
            <a:r>
              <a:t>Nguồn: baocaoDSS_final.docx, báo cáo môn Hệ thống hỗ trợ ra quyết định của nhóm 4, lớp 23CN2. Nội dung và ảnh do nhóm cung cấp.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Nhóm chọn KNN vì bài toán có các đặc trưng số và cần tìm những phương án tương đồng với nhu cầu. Cách tiếp cận này dễ triển khai và giải thích theo khoảng cách. Tuy nhiên, sự phù hợp về khoảng cách chưa đảm bảo đa dạng nguyên liệu hay đúng khẩu vị. Chất lượng dữ liệu và chuẩn hóa vẫn quyết định nhiều đến kết quả.</a:t>
            </a:r>
          </a:p>
          <a:p/>
          <a:p>
            <a:r>
              <a:t>Nguồn: baocaoDSS_final.docx, báo cáo môn Hệ thống hỗ trợ ra quyết định của nhóm 4, lớp 23CN2. Nội dung và ảnh do nhóm cung cấp.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Đầu tiên, người dùng điền các thông tin cá nhân. Mức vận động và mục tiêu tập luyện ảnh hưởng trực tiếp đến nhu cầu năng lượng. Phần chọn dị ứng hoặc thực phẩm cần tránh giúp loại ứng viên trước khi tìm kiếm. Khi nhấn Gợi ý thực đơn, biểu mẫu gửi yêu cầu tới máy chủ.</a:t>
            </a:r>
          </a:p>
          <a:p/>
          <a:p>
            <a:r>
              <a:t>Nguồn: baocaoDSS_final.docx, báo cáo môn Hệ thống hỗ trợ ra quyết định của nhóm 4, lớp 23CN2. Nội dung và ảnh do nhóm cung cấp.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Trang kết quả hiển thị nhu cầu cho một bữa ở phía trên. Mỗi thẻ bên dưới cho biết nguyên liệu, khối lượng và dinh dưỡng. Người dùng nên đối chiếu từng chất thay vì chỉ nhìn phần trăm độ khớp. Sau đó có thể gán phương án vào bữa sáng, trưa hoặc tối. Ảnh hiện có chỉ chụp hai lựa chọn.</a:t>
            </a:r>
          </a:p>
          <a:p/>
          <a:p>
            <a:r>
              <a:t>Nguồn: baocaoDSS_final.docx, báo cáo môn Hệ thống hỗ trợ ra quyết định của nhóm 4, lớp 23CN2. Nội dung và ảnh do nhóm cung cấp. Ảnh chỉ thể hiện hai trong năm lựa chọn. Phần trăm độ khớp trên giao diện mang tính tham khảo, chưa xác nhận công thức từ mã nguồn.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Bước cuối là tổng hợp dinh dưỡng từ các bữa đã chọn và so với mục tiêu ngày. Điều này giúp người dùng nhận biết phần thiếu hoặc dư để đổi lựa chọn. Ảnh trên slide đang ở trạng thái chưa chọn bữa nên tổng bằng không. Khi demo trực tiếp cần chọn bữa trước rồi mới xem bảng đối chiếu có dữ liệu.</a:t>
            </a:r>
          </a:p>
          <a:p/>
          <a:p>
            <a:r>
              <a:t>Nguồn: baocaoDSS_final.docx, báo cáo môn Hệ thống hỗ trợ ra quyết định của nhóm 4, lớp 23CN2. Nội dung và ảnh do nhóm cung cấp.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Nhóm minh họa hai trường hợp kiểm tra. Nhập tuổi âm bị chặn ngay trên biểu mẫu. Với lựa chọn tránh thịt bò, các thực đơn trong ảnh không chứa nguyên liệu này. Hai ảnh cho thấy hành vi ở các trường hợp đã kiểm tra, nhưng chưa đủ để khẳng định mọi đầu vào và mọi lựa chọn lọc đều đúng.</a:t>
            </a:r>
          </a:p>
          <a:p/>
          <a:p>
            <a:r>
              <a:t>Nguồn: baocaoDSS_final.docx, báo cáo môn Hệ thống hỗ trợ ra quyết định của nhóm 4, lớp 23CN2. Nội dung và ảnh do nhóm cung cấp. Nguồn: mục 4.1.1 và 4.1.3, Hình 4.1 và ảnh bộ lọc dị ứng trong báo cáo hoàn chỉnh. Ảnh mẫu chưa chứng minh toàn bộ trường hợp lọc.</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Ví dụ này dùng nam 20 tuổi, cao 170 cm, nặng 60 kg và vận động nhẹ. BMR là 1567,5 kcal, nhân 1,375 được khoảng 2155 kcal. Trong trường hợp kiểm thử tăng cơ này, cộng 500 kcal cho mục tiêu khoảng 2655 kcal, phù hợp với giá trị giao diện. Mức cộng 500 chỉ nói cho đúng ví dụ đang minh họa.</a:t>
            </a:r>
          </a:p>
          <a:p/>
          <a:p>
            <a:r>
              <a:t>Nguồn: baocaoDSS_final.docx, báo cáo môn Hệ thống hỗ trợ ra quyết định của nhóm 4, lớp 23CN2. Nội dung và ảnh do nhóm cung cấp. Nguồn: trường hợp kiểm thử mục 4.1.2. BMR = 1567,5 kcal/ngày. TDEE = 2155,3125 kcal/ngày. Mức tăng cơ +500 kcal áp dụng cho đúng ví dụ này. Chương 2 ghi +300 còn Chương 4 ghi +500, nên chưa thể khẳng định một mức thống nhất cho toàn bộ hệ thống.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Hệ thống đã có luồng sử dụng hoàn chỉnh nhưng vẫn cần cải thiện. Top 5 có thể lặp nguyên liệu, nên cần thêm tiêu chí đa dạng. Khẩu vị, chi phí và thời gian nấu chưa tham gia xếp hạng. Nhóm cũng chưa có tài khoản và lịch sử lựa chọn. Các hướng này cần dữ liệu bổ sung và phản hồi người dùng để kiểm chứng.</a:t>
            </a:r>
          </a:p>
          <a:p/>
          <a:p>
            <a:r>
              <a:t>Nguồn: baocaoDSS_final.docx, báo cáo môn Hệ thống hỗ trợ ra quyết định của nhóm 4, lớp 23CN2. Nội dung và ảnh do nhóm cung cấp.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Phần trình bày của nhóm đến đây là hết. Nhóm xin cảm ơn cô và các bạn đã lắng nghe.</a:t>
            </a:r>
          </a:p>
          <a:p/>
          <a:p>
            <a:r>
              <a:t>Hình thực đơn là minh họa AI, không có người.</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6.xml"/><Relationship Id="rId2" Type="http://schemas.openxmlformats.org/officeDocument/2006/relationships/image" Target="../media/image10.pn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8" name="Panel nội dung"/>
          <p:cNvSpPr>
            <a:spLocks noGrp="1"/>
          </p:cNvSpPr>
          <p:nvPr/>
        </p:nvSpPr>
        <p:spPr>
          <a:xfrm>
            <a:off x="361950" y="1400175"/>
            <a:ext cx="5734685" cy="5324475"/>
          </a:xfrm>
          <a:prstGeom prst="roundRect">
            <a:avLst>
              <a:gd name="adj" fmla="val 3220"/>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pic>
        <p:nvPicPr>
          <p:cNvPr id="2" name="Picture 1"/>
          <p:cNvPicPr>
            <a:picLocks noChangeAspect="1"/>
          </p:cNvPicPr>
          <p:nvPr/>
        </p:nvPicPr>
        <p:blipFill>
          <a:blip r:embed="rId1"/>
          <a:srcRect l="26550" r="26550"/>
          <a:stretch>
            <a:fillRect/>
          </a:stretch>
        </p:blipFill>
        <p:spPr>
          <a:xfrm>
            <a:off x="6477000" y="0"/>
            <a:ext cx="5715000" cy="6858000"/>
          </a:xfrm>
          <a:prstGeom prst="rect">
            <a:avLst/>
          </a:prstGeom>
        </p:spPr>
      </p:pic>
      <p:sp>
        <p:nvSpPr>
          <p:cNvPr id="3" name="Rectangle 2"/>
          <p:cNvSpPr>
            <a:spLocks noGrp="1"/>
          </p:cNvSpPr>
          <p:nvPr/>
        </p:nvSpPr>
        <p:spPr>
          <a:xfrm>
            <a:off x="590550" y="504825"/>
            <a:ext cx="5905500" cy="523875"/>
          </a:xfrm>
          <a:prstGeom prst="rect">
            <a:avLst/>
          </a:prstGeom>
          <a:noFill/>
          <a:ln w="0">
            <a:noFill/>
          </a:ln>
        </p:spPr>
        <p:txBody>
          <a:bodyPr/>
          <a:lstStyle>
            <a:defPPr>
              <a:defRPr sz="1425" b="1">
                <a:solidFill>
                  <a:srgbClr val="BCE2CB"/>
                </a:solidFill>
                <a:latin typeface="DejaVu Sans"/>
                <a:ea typeface="DejaVu Sans"/>
                <a:cs typeface="DejaVu Sans"/>
              </a:defRPr>
            </a:defPPr>
          </a:lstStyle>
          <a:p>
            <a:pPr>
              <a:defRPr sz="1425" b="1">
                <a:solidFill>
                  <a:srgbClr val="BCE2CB"/>
                </a:solidFill>
                <a:latin typeface="DejaVu Sans"/>
                <a:ea typeface="DejaVu Sans"/>
                <a:cs typeface="DejaVu Sans"/>
              </a:defRPr>
            </a:pPr>
            <a:r>
              <a:rPr sz="2400" b="1">
                <a:solidFill>
                  <a:srgbClr val="BCE2CB"/>
                </a:solidFill>
                <a:latin typeface="Calibri" panose="020F0502020204030204" charset="0"/>
                <a:ea typeface="DejaVu Sans"/>
                <a:cs typeface="Calibri" panose="020F0502020204030204" charset="0"/>
              </a:rPr>
              <a:t>HỆ THỐNG HỖ TRỢ RA QUYẾT ĐỊNH</a:t>
            </a:r>
            <a:endParaRPr sz="2400" b="1">
              <a:solidFill>
                <a:srgbClr val="BCE2CB"/>
              </a:solidFill>
              <a:latin typeface="Calibri" panose="020F0502020204030204" charset="0"/>
              <a:ea typeface="DejaVu Sans"/>
              <a:cs typeface="Calibri" panose="020F0502020204030204" charset="0"/>
            </a:endParaRPr>
          </a:p>
        </p:txBody>
      </p:sp>
      <p:sp>
        <p:nvSpPr>
          <p:cNvPr id="4" name="Rectangle 3"/>
          <p:cNvSpPr>
            <a:spLocks noGrp="1"/>
          </p:cNvSpPr>
          <p:nvPr/>
        </p:nvSpPr>
        <p:spPr>
          <a:xfrm>
            <a:off x="571500" y="1685925"/>
            <a:ext cx="5162550" cy="1714500"/>
          </a:xfrm>
          <a:prstGeom prst="rect">
            <a:avLst/>
          </a:prstGeom>
          <a:noFill/>
          <a:ln w="0">
            <a:noFill/>
          </a:ln>
        </p:spPr>
        <p:txBody>
          <a:bodyPr/>
          <a:lstStyle>
            <a:defPPr>
              <a:defRPr sz="4800" b="1">
                <a:solidFill>
                  <a:srgbClr val="FFFFFF"/>
                </a:solidFill>
                <a:latin typeface="DejaVu Sans"/>
                <a:ea typeface="DejaVu Sans"/>
                <a:cs typeface="DejaVu Sans"/>
              </a:defRPr>
            </a:defPPr>
          </a:lstStyle>
          <a:p>
            <a:pPr algn="just">
              <a:defRPr sz="4800" b="1">
                <a:solidFill>
                  <a:srgbClr val="FFFFFF"/>
                </a:solidFill>
                <a:latin typeface="DejaVu Sans"/>
                <a:ea typeface="DejaVu Sans"/>
                <a:cs typeface="DejaVu Sans"/>
              </a:defRPr>
            </a:pPr>
            <a:r>
              <a:rPr lang="en-US" sz="4400" b="1">
                <a:solidFill>
                  <a:srgbClr val="FFFFFF"/>
                </a:solidFill>
                <a:latin typeface="Calibri" panose="020F0502020204030204" charset="0"/>
                <a:ea typeface="DejaVu Sans"/>
                <a:cs typeface="Calibri" panose="020F0502020204030204" charset="0"/>
              </a:rPr>
              <a:t>Xây dựng hệ thống g</a:t>
            </a:r>
            <a:r>
              <a:rPr sz="4400" b="1">
                <a:solidFill>
                  <a:srgbClr val="FFFFFF"/>
                </a:solidFill>
                <a:latin typeface="Calibri" panose="020F0502020204030204" charset="0"/>
                <a:ea typeface="DejaVu Sans"/>
                <a:cs typeface="Calibri" panose="020F0502020204030204" charset="0"/>
              </a:rPr>
              <a:t>ợi ý thực đơn</a:t>
            </a:r>
            <a:r>
              <a:rPr lang="en-US" sz="4400" b="1">
                <a:solidFill>
                  <a:srgbClr val="FFFFFF"/>
                </a:solidFill>
                <a:latin typeface="Calibri" panose="020F0502020204030204" charset="0"/>
                <a:ea typeface="DejaVu Sans"/>
                <a:cs typeface="Calibri" panose="020F0502020204030204" charset="0"/>
              </a:rPr>
              <a:t> </a:t>
            </a:r>
            <a:r>
              <a:rPr sz="4400" b="1">
                <a:solidFill>
                  <a:srgbClr val="FFFFFF"/>
                </a:solidFill>
                <a:latin typeface="Calibri" panose="020F0502020204030204" charset="0"/>
                <a:ea typeface="DejaVu Sans"/>
                <a:cs typeface="Calibri" panose="020F0502020204030204" charset="0"/>
              </a:rPr>
              <a:t>dinh dưỡng</a:t>
            </a:r>
            <a:r>
              <a:rPr lang="en-US" sz="4400" b="1">
                <a:solidFill>
                  <a:srgbClr val="FFFFFF"/>
                </a:solidFill>
                <a:latin typeface="Calibri" panose="020F0502020204030204" charset="0"/>
                <a:ea typeface="DejaVu Sans"/>
                <a:cs typeface="Calibri" panose="020F0502020204030204" charset="0"/>
              </a:rPr>
              <a:t> </a:t>
            </a:r>
            <a:r>
              <a:rPr lang="en-US" altLang="en-US" sz="4400" b="1">
                <a:solidFill>
                  <a:srgbClr val="FFFFFF"/>
                </a:solidFill>
                <a:latin typeface="Calibri" panose="020F0502020204030204" charset="0"/>
                <a:ea typeface="DejaVu Sans"/>
                <a:cs typeface="Calibri" panose="020F0502020204030204" charset="0"/>
              </a:rPr>
              <a:t>cho ng</a:t>
            </a:r>
            <a:r>
              <a:rPr lang="en-US" altLang="en-US" sz="4400" b="1">
                <a:solidFill>
                  <a:srgbClr val="FFFFFF"/>
                </a:solidFill>
                <a:latin typeface="Calibri" panose="020F0502020204030204" charset="0"/>
                <a:ea typeface="DejaVu Sans"/>
                <a:cs typeface="Calibri" panose="020F0502020204030204" charset="0"/>
              </a:rPr>
              <a:t>ư</a:t>
            </a:r>
            <a:r>
              <a:rPr lang="en-US" altLang="en-US" sz="4400" b="1">
                <a:solidFill>
                  <a:srgbClr val="FFFFFF"/>
                </a:solidFill>
                <a:latin typeface="Calibri" panose="020F0502020204030204" charset="0"/>
                <a:ea typeface="DejaVu Sans"/>
                <a:cs typeface="Calibri" panose="020F0502020204030204" charset="0"/>
              </a:rPr>
              <a:t>ời tập thể hình</a:t>
            </a:r>
            <a:endParaRPr lang="en-US" altLang="en-US" sz="4400" b="1">
              <a:solidFill>
                <a:srgbClr val="FFFFFF"/>
              </a:solidFill>
              <a:latin typeface="Calibri" panose="020F0502020204030204" charset="0"/>
              <a:ea typeface="DejaVu Sans"/>
              <a:cs typeface="Calibri" panose="020F0502020204030204" charset="0"/>
            </a:endParaRPr>
          </a:p>
        </p:txBody>
      </p:sp>
      <p:sp>
        <p:nvSpPr>
          <p:cNvPr id="5" name="Rectangle 4"/>
          <p:cNvSpPr>
            <a:spLocks noGrp="1"/>
          </p:cNvSpPr>
          <p:nvPr/>
        </p:nvSpPr>
        <p:spPr>
          <a:xfrm>
            <a:off x="609600" y="4540250"/>
            <a:ext cx="5486400" cy="990600"/>
          </a:xfrm>
          <a:prstGeom prst="rect">
            <a:avLst/>
          </a:prstGeom>
          <a:noFill/>
          <a:ln w="0">
            <a:noFill/>
          </a:ln>
        </p:spPr>
        <p:txBody>
          <a:bodyPr/>
          <a:lstStyle>
            <a:defPPr>
              <a:defRPr sz="2325" b="0">
                <a:solidFill>
                  <a:srgbClr val="E4EEE8"/>
                </a:solidFill>
                <a:latin typeface="DejaVu Sans"/>
                <a:ea typeface="DejaVu Sans"/>
                <a:cs typeface="DejaVu Sans"/>
              </a:defRPr>
            </a:defPPr>
          </a:lstStyle>
          <a:p>
            <a:pPr>
              <a:defRPr sz="2325" b="0">
                <a:solidFill>
                  <a:srgbClr val="E4EEE8"/>
                </a:solidFill>
                <a:latin typeface="DejaVu Sans"/>
                <a:ea typeface="DejaVu Sans"/>
                <a:cs typeface="DejaVu Sans"/>
              </a:defRPr>
            </a:pPr>
            <a:r>
              <a:rPr sz="2325" b="0">
                <a:solidFill>
                  <a:srgbClr val="E4EEE8"/>
                </a:solidFill>
                <a:latin typeface="Calibri" panose="020F0502020204030204" charset="0"/>
                <a:ea typeface="DejaVu Sans"/>
                <a:cs typeface="Calibri" panose="020F0502020204030204" charset="0"/>
              </a:rPr>
              <a:t>Áp dụng thuật toán KNN</a:t>
            </a:r>
            <a:endParaRPr sz="2325" b="0">
              <a:solidFill>
                <a:srgbClr val="E4EEE8"/>
              </a:solidFill>
              <a:latin typeface="Calibri" panose="020F0502020204030204" charset="0"/>
              <a:ea typeface="DejaVu Sans"/>
              <a:cs typeface="Calibri" panose="020F0502020204030204" charset="0"/>
            </a:endParaRPr>
          </a:p>
        </p:txBody>
      </p:sp>
      <p:sp>
        <p:nvSpPr>
          <p:cNvPr id="6" name="Rectangle 5"/>
          <p:cNvSpPr>
            <a:spLocks noGrp="1"/>
          </p:cNvSpPr>
          <p:nvPr/>
        </p:nvSpPr>
        <p:spPr>
          <a:xfrm>
            <a:off x="609600" y="5429250"/>
            <a:ext cx="5238750" cy="476250"/>
          </a:xfrm>
          <a:prstGeom prst="rect">
            <a:avLst/>
          </a:prstGeom>
          <a:noFill/>
          <a:ln w="0">
            <a:noFill/>
          </a:ln>
        </p:spPr>
        <p:txBody>
          <a:bodyPr/>
          <a:lstStyle>
            <a:defPPr>
              <a:defRPr sz="1875" b="1">
                <a:solidFill>
                  <a:srgbClr val="FFFFFF"/>
                </a:solidFill>
                <a:latin typeface="DejaVu Sans"/>
                <a:ea typeface="DejaVu Sans"/>
                <a:cs typeface="DejaVu Sans"/>
              </a:defRPr>
            </a:defPPr>
          </a:lstStyle>
          <a:p>
            <a:pPr>
              <a:defRPr sz="1875" b="1">
                <a:solidFill>
                  <a:srgbClr val="FFFFFF"/>
                </a:solidFill>
                <a:latin typeface="DejaVu Sans"/>
                <a:ea typeface="DejaVu Sans"/>
                <a:cs typeface="DejaVu Sans"/>
              </a:defRPr>
            </a:pPr>
            <a:r>
              <a:rPr sz="1875" b="1">
                <a:solidFill>
                  <a:srgbClr val="FFFFFF"/>
                </a:solidFill>
                <a:latin typeface="Calibri" panose="020F0502020204030204" charset="0"/>
                <a:ea typeface="DejaVu Sans"/>
                <a:cs typeface="Calibri" panose="020F0502020204030204" charset="0"/>
              </a:rPr>
              <a:t>Nhóm 4 </a:t>
            </a:r>
            <a:r>
              <a:rPr lang="en-US" sz="1875" b="1">
                <a:solidFill>
                  <a:srgbClr val="FFFFFF"/>
                </a:solidFill>
                <a:latin typeface="Calibri" panose="020F0502020204030204" charset="0"/>
                <a:ea typeface="DejaVu Sans"/>
                <a:cs typeface="Calibri" panose="020F0502020204030204" charset="0"/>
              </a:rPr>
              <a:t>-</a:t>
            </a:r>
            <a:r>
              <a:rPr sz="1875" b="1">
                <a:solidFill>
                  <a:srgbClr val="FFFFFF"/>
                </a:solidFill>
                <a:latin typeface="Calibri" panose="020F0502020204030204" charset="0"/>
                <a:ea typeface="DejaVu Sans"/>
                <a:cs typeface="Calibri" panose="020F0502020204030204" charset="0"/>
              </a:rPr>
              <a:t> Lớp 23CN2</a:t>
            </a:r>
            <a:endParaRPr sz="1875" b="1">
              <a:solidFill>
                <a:srgbClr val="FFFFFF"/>
              </a:solidFill>
              <a:latin typeface="Calibri" panose="020F0502020204030204" charset="0"/>
              <a:ea typeface="DejaVu Sans"/>
              <a:cs typeface="Calibri" panose="020F0502020204030204" charset="0"/>
            </a:endParaRPr>
          </a:p>
        </p:txBody>
      </p:sp>
      <p:sp>
        <p:nvSpPr>
          <p:cNvPr id="7" name="Rectangle 6"/>
          <p:cNvSpPr>
            <a:spLocks noGrp="1"/>
          </p:cNvSpPr>
          <p:nvPr/>
        </p:nvSpPr>
        <p:spPr>
          <a:xfrm>
            <a:off x="609600" y="5962650"/>
            <a:ext cx="5905500" cy="647700"/>
          </a:xfrm>
          <a:prstGeom prst="rect">
            <a:avLst/>
          </a:prstGeom>
          <a:noFill/>
          <a:ln w="0">
            <a:noFill/>
          </a:ln>
        </p:spPr>
        <p:txBody>
          <a:bodyPr/>
          <a:lstStyle>
            <a:defPPr>
              <a:defRPr sz="1500" b="0">
                <a:solidFill>
                  <a:srgbClr val="CEDDD4"/>
                </a:solidFill>
                <a:latin typeface="DejaVu Sans"/>
                <a:ea typeface="DejaVu Sans"/>
                <a:cs typeface="DejaVu Sans"/>
              </a:defRPr>
            </a:defPPr>
          </a:lstStyle>
          <a:p>
            <a:pPr>
              <a:defRPr sz="1500" b="0">
                <a:solidFill>
                  <a:srgbClr val="CEDDD4"/>
                </a:solidFill>
                <a:latin typeface="DejaVu Sans"/>
                <a:ea typeface="DejaVu Sans"/>
                <a:cs typeface="DejaVu Sans"/>
              </a:defRPr>
            </a:pPr>
            <a:r>
              <a:rPr sz="1500" b="0">
                <a:solidFill>
                  <a:srgbClr val="CEDDD4"/>
                </a:solidFill>
                <a:latin typeface="Calibri" panose="020F0502020204030204" charset="0"/>
                <a:ea typeface="DejaVu Sans"/>
                <a:cs typeface="Calibri" panose="020F0502020204030204" charset="0"/>
              </a:rPr>
              <a:t>Đại học Kiến trúc Hà Nội</a:t>
            </a:r>
            <a:endParaRPr sz="1500" b="0">
              <a:solidFill>
                <a:srgbClr val="CEDDD4"/>
              </a:solidFill>
              <a:latin typeface="Calibri" panose="020F0502020204030204" charset="0"/>
              <a:ea typeface="DejaVu Sans"/>
              <a:cs typeface="Calibri" panose="020F0502020204030204" charset="0"/>
            </a:endParaRPr>
          </a:p>
          <a:p>
            <a:pPr>
              <a:defRPr sz="1500" b="0">
                <a:solidFill>
                  <a:srgbClr val="CEDDD4"/>
                </a:solidFill>
                <a:latin typeface="DejaVu Sans"/>
                <a:ea typeface="DejaVu Sans"/>
                <a:cs typeface="DejaVu Sans"/>
              </a:defRPr>
            </a:pPr>
            <a:r>
              <a:rPr sz="1500" b="0">
                <a:solidFill>
                  <a:srgbClr val="CEDDD4"/>
                </a:solidFill>
                <a:latin typeface="Calibri" panose="020F0502020204030204" charset="0"/>
                <a:ea typeface="DejaVu Sans"/>
                <a:cs typeface="Calibri" panose="020F0502020204030204" charset="0"/>
              </a:rPr>
              <a:t>Khoa Công nghệ thông tin</a:t>
            </a:r>
            <a:endParaRPr sz="1500" b="0">
              <a:solidFill>
                <a:srgbClr val="CEDDD4"/>
              </a:solidFill>
              <a:latin typeface="Calibri" panose="020F0502020204030204" charset="0"/>
              <a:ea typeface="DejaVu Sans"/>
              <a:cs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18" name="Panel nội dung"/>
          <p:cNvSpPr>
            <a:spLocks noGrp="1"/>
          </p:cNvSpPr>
          <p:nvPr/>
        </p:nvSpPr>
        <p:spPr>
          <a:xfrm>
            <a:off x="457200" y="1447800"/>
            <a:ext cx="4686300" cy="4505325"/>
          </a:xfrm>
          <a:prstGeom prst="roundRect">
            <a:avLst>
              <a:gd name="adj" fmla="val 3805"/>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Panel nội dung"/>
          <p:cNvSpPr>
            <a:spLocks noGrp="1"/>
          </p:cNvSpPr>
          <p:nvPr/>
        </p:nvSpPr>
        <p:spPr>
          <a:xfrm>
            <a:off x="5572125" y="1447800"/>
            <a:ext cx="6010275" cy="4505325"/>
          </a:xfrm>
          <a:prstGeom prst="roundRect">
            <a:avLst>
              <a:gd name="adj" fmla="val 3805"/>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3" name="Rectangle 2"/>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lang="en-US" sz="3150" b="1">
                <a:solidFill>
                  <a:srgbClr val="FFFFFF"/>
                </a:solidFill>
                <a:latin typeface="Calibri" panose="020F0502020204030204" charset="0"/>
                <a:ea typeface="DejaVu Sans"/>
                <a:cs typeface="Calibri" panose="020F0502020204030204" charset="0"/>
              </a:rPr>
              <a:t>Thành viên nhóm </a:t>
            </a:r>
            <a:r>
              <a:rPr sz="3150" b="1">
                <a:solidFill>
                  <a:srgbClr val="FFFFFF"/>
                </a:solidFill>
                <a:latin typeface="Calibri" panose="020F0502020204030204" charset="0"/>
                <a:ea typeface="DejaVu Sans"/>
                <a:cs typeface="Calibri" panose="020F0502020204030204" charset="0"/>
              </a:rPr>
              <a:t>và nội dung báo cáo</a:t>
            </a:r>
            <a:endParaRPr sz="3150" b="1">
              <a:solidFill>
                <a:srgbClr val="FFFFFF"/>
              </a:solidFill>
              <a:latin typeface="Calibri" panose="020F0502020204030204" charset="0"/>
              <a:ea typeface="DejaVu Sans"/>
              <a:cs typeface="Calibri" panose="020F0502020204030204" charset="0"/>
            </a:endParaRPr>
          </a:p>
        </p:txBody>
      </p:sp>
      <p:sp>
        <p:nvSpPr>
          <p:cNvPr id="4" name="Rectangle 3"/>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Calibri" panose="020F0502020204030204" charset="0"/>
              <a:ea typeface="DejaVu Sans"/>
              <a:cs typeface="Calibri" panose="020F0502020204030204" charset="0"/>
            </a:endParaRPr>
          </a:p>
        </p:txBody>
      </p:sp>
      <p:sp>
        <p:nvSpPr>
          <p:cNvPr id="5" name="Rectangle 4"/>
          <p:cNvSpPr>
            <a:spLocks noGrp="1"/>
          </p:cNvSpPr>
          <p:nvPr/>
        </p:nvSpPr>
        <p:spPr>
          <a:xfrm>
            <a:off x="704850" y="1657350"/>
            <a:ext cx="4171950" cy="371475"/>
          </a:xfrm>
          <a:prstGeom prst="rect">
            <a:avLst/>
          </a:prstGeom>
          <a:noFill/>
          <a:ln w="0">
            <a:noFill/>
          </a:ln>
        </p:spPr>
        <p:txBody>
          <a:bodyPr/>
          <a:lstStyle>
            <a:defPPr>
              <a:defRPr sz="2175" b="1">
                <a:solidFill>
                  <a:srgbClr val="FFFFFF"/>
                </a:solidFill>
                <a:latin typeface="DejaVu Sans"/>
                <a:ea typeface="DejaVu Sans"/>
                <a:cs typeface="DejaVu Sans"/>
              </a:defRPr>
            </a:defPPr>
          </a:lstStyle>
          <a:p>
            <a:pPr>
              <a:defRPr sz="2175" b="1">
                <a:solidFill>
                  <a:srgbClr val="FFFFFF"/>
                </a:solidFill>
                <a:latin typeface="DejaVu Sans"/>
                <a:ea typeface="DejaVu Sans"/>
                <a:cs typeface="DejaVu Sans"/>
              </a:defRPr>
            </a:pPr>
            <a:r>
              <a:rPr sz="2175" b="1">
                <a:solidFill>
                  <a:srgbClr val="FFFFFF"/>
                </a:solidFill>
                <a:latin typeface="Calibri" panose="020F0502020204030204" charset="0"/>
                <a:ea typeface="DejaVu Sans"/>
                <a:cs typeface="Calibri" panose="020F0502020204030204" charset="0"/>
              </a:rPr>
              <a:t>Phan Văn Bắc</a:t>
            </a:r>
            <a:endParaRPr sz="2175" b="1">
              <a:solidFill>
                <a:srgbClr val="FFFFFF"/>
              </a:solidFill>
              <a:latin typeface="Calibri" panose="020F0502020204030204" charset="0"/>
              <a:ea typeface="DejaVu Sans"/>
              <a:cs typeface="Calibri" panose="020F0502020204030204" charset="0"/>
            </a:endParaRPr>
          </a:p>
        </p:txBody>
      </p:sp>
      <p:sp>
        <p:nvSpPr>
          <p:cNvPr id="6" name="Rectangle 5"/>
          <p:cNvSpPr>
            <a:spLocks noGrp="1"/>
          </p:cNvSpPr>
          <p:nvPr/>
        </p:nvSpPr>
        <p:spPr>
          <a:xfrm>
            <a:off x="704850" y="2019300"/>
            <a:ext cx="4171950" cy="295275"/>
          </a:xfrm>
          <a:prstGeom prst="rect">
            <a:avLst/>
          </a:prstGeom>
          <a:noFill/>
          <a:ln w="0">
            <a:noFill/>
          </a:ln>
        </p:spPr>
        <p:txBody>
          <a:bodyPr/>
          <a:lstStyle>
            <a:defPPr>
              <a:defRPr sz="1575" b="0">
                <a:solidFill>
                  <a:srgbClr val="B4CDC1"/>
                </a:solidFill>
                <a:latin typeface="DejaVu Sans"/>
                <a:ea typeface="DejaVu Sans"/>
                <a:cs typeface="DejaVu Sans"/>
              </a:defRPr>
            </a:defPPr>
          </a:lstStyle>
          <a:p>
            <a:pPr>
              <a:defRPr sz="1575" b="0">
                <a:solidFill>
                  <a:srgbClr val="B4CDC1"/>
                </a:solidFill>
                <a:latin typeface="DejaVu Sans"/>
                <a:ea typeface="DejaVu Sans"/>
                <a:cs typeface="DejaVu Sans"/>
              </a:defRPr>
            </a:pPr>
            <a:r>
              <a:rPr sz="1575" b="0">
                <a:solidFill>
                  <a:srgbClr val="B4CDC1"/>
                </a:solidFill>
                <a:latin typeface="Calibri" panose="020F0502020204030204" charset="0"/>
                <a:ea typeface="DejaVu Sans"/>
                <a:cs typeface="Calibri" panose="020F0502020204030204" charset="0"/>
              </a:rPr>
              <a:t>MSV: 2355010026</a:t>
            </a:r>
            <a:endParaRPr sz="1575" b="0">
              <a:solidFill>
                <a:srgbClr val="B4CDC1"/>
              </a:solidFill>
              <a:latin typeface="Calibri" panose="020F0502020204030204" charset="0"/>
              <a:ea typeface="DejaVu Sans"/>
              <a:cs typeface="Calibri" panose="020F0502020204030204" charset="0"/>
            </a:endParaRPr>
          </a:p>
        </p:txBody>
      </p:sp>
      <p:sp>
        <p:nvSpPr>
          <p:cNvPr id="7" name="Rectangle 6"/>
          <p:cNvSpPr>
            <a:spLocks noGrp="1"/>
          </p:cNvSpPr>
          <p:nvPr/>
        </p:nvSpPr>
        <p:spPr>
          <a:xfrm>
            <a:off x="704850" y="2362200"/>
            <a:ext cx="4171950" cy="371475"/>
          </a:xfrm>
          <a:prstGeom prst="rect">
            <a:avLst/>
          </a:prstGeom>
          <a:noFill/>
          <a:ln w="0">
            <a:noFill/>
          </a:ln>
        </p:spPr>
        <p:txBody>
          <a:bodyPr/>
          <a:lstStyle>
            <a:defPPr>
              <a:defRPr sz="2175" b="1">
                <a:solidFill>
                  <a:srgbClr val="FFFFFF"/>
                </a:solidFill>
                <a:latin typeface="DejaVu Sans"/>
                <a:ea typeface="DejaVu Sans"/>
                <a:cs typeface="DejaVu Sans"/>
              </a:defRPr>
            </a:defPPr>
          </a:lstStyle>
          <a:p>
            <a:pPr>
              <a:defRPr sz="2175" b="1">
                <a:solidFill>
                  <a:srgbClr val="FFFFFF"/>
                </a:solidFill>
                <a:latin typeface="DejaVu Sans"/>
                <a:ea typeface="DejaVu Sans"/>
                <a:cs typeface="DejaVu Sans"/>
              </a:defRPr>
            </a:pPr>
            <a:r>
              <a:rPr sz="2175" b="1">
                <a:solidFill>
                  <a:srgbClr val="FFFFFF"/>
                </a:solidFill>
                <a:latin typeface="Calibri" panose="020F0502020204030204" charset="0"/>
                <a:ea typeface="DejaVu Sans"/>
                <a:cs typeface="Calibri" panose="020F0502020204030204" charset="0"/>
              </a:rPr>
              <a:t>Lê Quốc Duy</a:t>
            </a:r>
            <a:endParaRPr sz="2175" b="1">
              <a:solidFill>
                <a:srgbClr val="FFFFFF"/>
              </a:solidFill>
              <a:latin typeface="Calibri" panose="020F0502020204030204" charset="0"/>
              <a:ea typeface="DejaVu Sans"/>
              <a:cs typeface="Calibri" panose="020F0502020204030204" charset="0"/>
            </a:endParaRPr>
          </a:p>
        </p:txBody>
      </p:sp>
      <p:sp>
        <p:nvSpPr>
          <p:cNvPr id="8" name="Rectangle 7"/>
          <p:cNvSpPr>
            <a:spLocks noGrp="1"/>
          </p:cNvSpPr>
          <p:nvPr/>
        </p:nvSpPr>
        <p:spPr>
          <a:xfrm>
            <a:off x="704850" y="2724150"/>
            <a:ext cx="4171950" cy="295275"/>
          </a:xfrm>
          <a:prstGeom prst="rect">
            <a:avLst/>
          </a:prstGeom>
          <a:noFill/>
          <a:ln w="0">
            <a:noFill/>
          </a:ln>
        </p:spPr>
        <p:txBody>
          <a:bodyPr/>
          <a:lstStyle>
            <a:defPPr>
              <a:defRPr sz="1575" b="0">
                <a:solidFill>
                  <a:srgbClr val="B4CDC1"/>
                </a:solidFill>
                <a:latin typeface="DejaVu Sans"/>
                <a:ea typeface="DejaVu Sans"/>
                <a:cs typeface="DejaVu Sans"/>
              </a:defRPr>
            </a:defPPr>
          </a:lstStyle>
          <a:p>
            <a:pPr>
              <a:defRPr sz="1575" b="0">
                <a:solidFill>
                  <a:srgbClr val="B4CDC1"/>
                </a:solidFill>
                <a:latin typeface="DejaVu Sans"/>
                <a:ea typeface="DejaVu Sans"/>
                <a:cs typeface="DejaVu Sans"/>
              </a:defRPr>
            </a:pPr>
            <a:r>
              <a:rPr sz="1575" b="0">
                <a:solidFill>
                  <a:srgbClr val="B4CDC1"/>
                </a:solidFill>
                <a:latin typeface="Calibri" panose="020F0502020204030204" charset="0"/>
                <a:ea typeface="DejaVu Sans"/>
                <a:cs typeface="Calibri" panose="020F0502020204030204" charset="0"/>
              </a:rPr>
              <a:t>MSV: 2355010042</a:t>
            </a:r>
            <a:endParaRPr sz="1575" b="0">
              <a:solidFill>
                <a:srgbClr val="B4CDC1"/>
              </a:solidFill>
              <a:latin typeface="Calibri" panose="020F0502020204030204" charset="0"/>
              <a:ea typeface="DejaVu Sans"/>
              <a:cs typeface="Calibri" panose="020F0502020204030204" charset="0"/>
            </a:endParaRPr>
          </a:p>
        </p:txBody>
      </p:sp>
      <p:sp>
        <p:nvSpPr>
          <p:cNvPr id="9" name="Rectangle 8"/>
          <p:cNvSpPr>
            <a:spLocks noGrp="1"/>
          </p:cNvSpPr>
          <p:nvPr/>
        </p:nvSpPr>
        <p:spPr>
          <a:xfrm>
            <a:off x="704850" y="3067050"/>
            <a:ext cx="4171950" cy="371475"/>
          </a:xfrm>
          <a:prstGeom prst="rect">
            <a:avLst/>
          </a:prstGeom>
          <a:noFill/>
          <a:ln w="0">
            <a:noFill/>
          </a:ln>
        </p:spPr>
        <p:txBody>
          <a:bodyPr/>
          <a:lstStyle>
            <a:defPPr>
              <a:defRPr sz="2175" b="1">
                <a:solidFill>
                  <a:srgbClr val="FFFFFF"/>
                </a:solidFill>
                <a:latin typeface="DejaVu Sans"/>
                <a:ea typeface="DejaVu Sans"/>
                <a:cs typeface="DejaVu Sans"/>
              </a:defRPr>
            </a:defPPr>
          </a:lstStyle>
          <a:p>
            <a:pPr>
              <a:defRPr sz="2175" b="1">
                <a:solidFill>
                  <a:srgbClr val="FFFFFF"/>
                </a:solidFill>
                <a:latin typeface="DejaVu Sans"/>
                <a:ea typeface="DejaVu Sans"/>
                <a:cs typeface="DejaVu Sans"/>
              </a:defRPr>
            </a:pPr>
            <a:r>
              <a:rPr sz="2175" b="1">
                <a:solidFill>
                  <a:srgbClr val="FFFFFF"/>
                </a:solidFill>
                <a:latin typeface="Calibri" panose="020F0502020204030204" charset="0"/>
                <a:ea typeface="DejaVu Sans"/>
                <a:cs typeface="Calibri" panose="020F0502020204030204" charset="0"/>
              </a:rPr>
              <a:t>Lê Hồng Phong</a:t>
            </a:r>
            <a:endParaRPr sz="2175" b="1">
              <a:solidFill>
                <a:srgbClr val="FFFFFF"/>
              </a:solidFill>
              <a:latin typeface="Calibri" panose="020F0502020204030204" charset="0"/>
              <a:ea typeface="DejaVu Sans"/>
              <a:cs typeface="Calibri" panose="020F0502020204030204" charset="0"/>
            </a:endParaRPr>
          </a:p>
        </p:txBody>
      </p:sp>
      <p:sp>
        <p:nvSpPr>
          <p:cNvPr id="10" name="Rectangle 9"/>
          <p:cNvSpPr>
            <a:spLocks noGrp="1"/>
          </p:cNvSpPr>
          <p:nvPr/>
        </p:nvSpPr>
        <p:spPr>
          <a:xfrm>
            <a:off x="704850" y="3429000"/>
            <a:ext cx="4171950" cy="295275"/>
          </a:xfrm>
          <a:prstGeom prst="rect">
            <a:avLst/>
          </a:prstGeom>
          <a:noFill/>
          <a:ln w="0">
            <a:noFill/>
          </a:ln>
        </p:spPr>
        <p:txBody>
          <a:bodyPr/>
          <a:lstStyle>
            <a:defPPr>
              <a:defRPr sz="1575" b="0">
                <a:solidFill>
                  <a:srgbClr val="B4CDC1"/>
                </a:solidFill>
                <a:latin typeface="DejaVu Sans"/>
                <a:ea typeface="DejaVu Sans"/>
                <a:cs typeface="DejaVu Sans"/>
              </a:defRPr>
            </a:defPPr>
          </a:lstStyle>
          <a:p>
            <a:pPr>
              <a:defRPr sz="1575" b="0">
                <a:solidFill>
                  <a:srgbClr val="B4CDC1"/>
                </a:solidFill>
                <a:latin typeface="DejaVu Sans"/>
                <a:ea typeface="DejaVu Sans"/>
                <a:cs typeface="DejaVu Sans"/>
              </a:defRPr>
            </a:pPr>
            <a:r>
              <a:rPr sz="1575" b="0">
                <a:solidFill>
                  <a:srgbClr val="B4CDC1"/>
                </a:solidFill>
                <a:latin typeface="Calibri" panose="020F0502020204030204" charset="0"/>
                <a:ea typeface="DejaVu Sans"/>
                <a:cs typeface="Calibri" panose="020F0502020204030204" charset="0"/>
              </a:rPr>
              <a:t>MSV: 2355010158</a:t>
            </a:r>
            <a:endParaRPr sz="1575" b="0">
              <a:solidFill>
                <a:srgbClr val="B4CDC1"/>
              </a:solidFill>
              <a:latin typeface="Calibri" panose="020F0502020204030204" charset="0"/>
              <a:ea typeface="DejaVu Sans"/>
              <a:cs typeface="Calibri" panose="020F0502020204030204" charset="0"/>
            </a:endParaRPr>
          </a:p>
        </p:txBody>
      </p:sp>
      <p:sp>
        <p:nvSpPr>
          <p:cNvPr id="11" name="Rectangle 10"/>
          <p:cNvSpPr>
            <a:spLocks noGrp="1"/>
          </p:cNvSpPr>
          <p:nvPr/>
        </p:nvSpPr>
        <p:spPr>
          <a:xfrm>
            <a:off x="704850" y="3771900"/>
            <a:ext cx="4171950" cy="371475"/>
          </a:xfrm>
          <a:prstGeom prst="rect">
            <a:avLst/>
          </a:prstGeom>
          <a:noFill/>
          <a:ln w="0">
            <a:noFill/>
          </a:ln>
        </p:spPr>
        <p:txBody>
          <a:bodyPr/>
          <a:lstStyle>
            <a:defPPr>
              <a:defRPr sz="2175" b="1">
                <a:solidFill>
                  <a:srgbClr val="FFFFFF"/>
                </a:solidFill>
                <a:latin typeface="DejaVu Sans"/>
                <a:ea typeface="DejaVu Sans"/>
                <a:cs typeface="DejaVu Sans"/>
              </a:defRPr>
            </a:defPPr>
          </a:lstStyle>
          <a:p>
            <a:pPr>
              <a:defRPr sz="2175" b="1">
                <a:solidFill>
                  <a:srgbClr val="FFFFFF"/>
                </a:solidFill>
                <a:latin typeface="DejaVu Sans"/>
                <a:ea typeface="DejaVu Sans"/>
                <a:cs typeface="DejaVu Sans"/>
              </a:defRPr>
            </a:pPr>
            <a:r>
              <a:rPr sz="2175" b="1">
                <a:solidFill>
                  <a:srgbClr val="FFFFFF"/>
                </a:solidFill>
                <a:latin typeface="Calibri" panose="020F0502020204030204" charset="0"/>
                <a:ea typeface="DejaVu Sans"/>
                <a:cs typeface="Calibri" panose="020F0502020204030204" charset="0"/>
              </a:rPr>
              <a:t>Chu Đức Hiếu</a:t>
            </a:r>
            <a:endParaRPr sz="2175" b="1">
              <a:solidFill>
                <a:srgbClr val="FFFFFF"/>
              </a:solidFill>
              <a:latin typeface="Calibri" panose="020F0502020204030204" charset="0"/>
              <a:ea typeface="DejaVu Sans"/>
              <a:cs typeface="Calibri" panose="020F0502020204030204" charset="0"/>
            </a:endParaRPr>
          </a:p>
        </p:txBody>
      </p:sp>
      <p:sp>
        <p:nvSpPr>
          <p:cNvPr id="12" name="Rectangle 11"/>
          <p:cNvSpPr>
            <a:spLocks noGrp="1"/>
          </p:cNvSpPr>
          <p:nvPr/>
        </p:nvSpPr>
        <p:spPr>
          <a:xfrm>
            <a:off x="704850" y="4133850"/>
            <a:ext cx="4171950" cy="295275"/>
          </a:xfrm>
          <a:prstGeom prst="rect">
            <a:avLst/>
          </a:prstGeom>
          <a:noFill/>
          <a:ln w="0">
            <a:noFill/>
          </a:ln>
        </p:spPr>
        <p:txBody>
          <a:bodyPr/>
          <a:lstStyle>
            <a:defPPr>
              <a:defRPr sz="1575" b="0">
                <a:solidFill>
                  <a:srgbClr val="B4CDC1"/>
                </a:solidFill>
                <a:latin typeface="DejaVu Sans"/>
                <a:ea typeface="DejaVu Sans"/>
                <a:cs typeface="DejaVu Sans"/>
              </a:defRPr>
            </a:defPPr>
          </a:lstStyle>
          <a:p>
            <a:pPr>
              <a:defRPr sz="1575" b="0">
                <a:solidFill>
                  <a:srgbClr val="B4CDC1"/>
                </a:solidFill>
                <a:latin typeface="DejaVu Sans"/>
                <a:ea typeface="DejaVu Sans"/>
                <a:cs typeface="DejaVu Sans"/>
              </a:defRPr>
            </a:pPr>
            <a:r>
              <a:rPr sz="1575" b="0">
                <a:solidFill>
                  <a:srgbClr val="B4CDC1"/>
                </a:solidFill>
                <a:latin typeface="Calibri" panose="020F0502020204030204" charset="0"/>
                <a:ea typeface="DejaVu Sans"/>
                <a:cs typeface="Calibri" panose="020F0502020204030204" charset="0"/>
              </a:rPr>
              <a:t>MSV: 2355010078</a:t>
            </a:r>
            <a:endParaRPr sz="1575" b="0">
              <a:solidFill>
                <a:srgbClr val="B4CDC1"/>
              </a:solidFill>
              <a:latin typeface="Calibri" panose="020F0502020204030204" charset="0"/>
              <a:ea typeface="DejaVu Sans"/>
              <a:cs typeface="Calibri" panose="020F0502020204030204" charset="0"/>
            </a:endParaRPr>
          </a:p>
        </p:txBody>
      </p:sp>
      <p:sp>
        <p:nvSpPr>
          <p:cNvPr id="13" name="Rectangle 12"/>
          <p:cNvSpPr>
            <a:spLocks noGrp="1"/>
          </p:cNvSpPr>
          <p:nvPr/>
        </p:nvSpPr>
        <p:spPr>
          <a:xfrm>
            <a:off x="704850" y="4810125"/>
            <a:ext cx="4191000" cy="1038225"/>
          </a:xfrm>
          <a:prstGeom prst="rect">
            <a:avLst/>
          </a:prstGeom>
          <a:noFill/>
          <a:ln w="0">
            <a:noFill/>
          </a:ln>
        </p:spPr>
        <p:txBody>
          <a:bodyPr/>
          <a:lstStyle>
            <a:defPPr>
              <a:defRPr sz="2250" b="1">
                <a:solidFill>
                  <a:srgbClr val="FFFFFF"/>
                </a:solidFill>
                <a:latin typeface="DejaVu Sans"/>
                <a:ea typeface="DejaVu Sans"/>
                <a:cs typeface="DejaVu Sans"/>
              </a:defRPr>
            </a:defPPr>
          </a:lstStyle>
          <a:p>
            <a:pPr>
              <a:defRPr sz="2250" b="1">
                <a:solidFill>
                  <a:srgbClr val="FFFFFF"/>
                </a:solidFill>
                <a:latin typeface="DejaVu Sans"/>
                <a:ea typeface="DejaVu Sans"/>
                <a:cs typeface="DejaVu Sans"/>
              </a:defRPr>
            </a:pPr>
            <a:r>
              <a:rPr sz="2250" b="1">
                <a:solidFill>
                  <a:srgbClr val="FFFFFF"/>
                </a:solidFill>
                <a:latin typeface="Calibri" panose="020F0502020204030204" charset="0"/>
                <a:ea typeface="DejaVu Sans"/>
                <a:cs typeface="Calibri" panose="020F0502020204030204" charset="0"/>
              </a:rPr>
              <a:t>Giảng viên hướng dẫn</a:t>
            </a:r>
            <a:endParaRPr sz="2250" b="1">
              <a:solidFill>
                <a:srgbClr val="FFFFFF"/>
              </a:solidFill>
              <a:latin typeface="Calibri" panose="020F0502020204030204" charset="0"/>
              <a:ea typeface="DejaVu Sans"/>
              <a:cs typeface="Calibri" panose="020F0502020204030204" charset="0"/>
            </a:endParaRPr>
          </a:p>
          <a:p>
            <a:pPr>
              <a:defRPr sz="2250" b="1">
                <a:solidFill>
                  <a:srgbClr val="FFFFFF"/>
                </a:solidFill>
                <a:latin typeface="DejaVu Sans"/>
                <a:ea typeface="DejaVu Sans"/>
                <a:cs typeface="DejaVu Sans"/>
              </a:defRPr>
            </a:pPr>
            <a:r>
              <a:rPr sz="2250" b="1">
                <a:solidFill>
                  <a:srgbClr val="FFFFFF"/>
                </a:solidFill>
                <a:latin typeface="Calibri" panose="020F0502020204030204" charset="0"/>
                <a:ea typeface="DejaVu Sans"/>
                <a:cs typeface="Calibri" panose="020F0502020204030204" charset="0"/>
              </a:rPr>
              <a:t>T</a:t>
            </a:r>
            <a:r>
              <a:rPr lang="en-US" sz="2250" b="1">
                <a:solidFill>
                  <a:srgbClr val="FFFFFF"/>
                </a:solidFill>
                <a:latin typeface="Calibri" panose="020F0502020204030204" charset="0"/>
                <a:ea typeface="DejaVu Sans"/>
                <a:cs typeface="Calibri" panose="020F0502020204030204" charset="0"/>
              </a:rPr>
              <a:t>S</a:t>
            </a:r>
            <a:r>
              <a:rPr sz="2250" b="1">
                <a:solidFill>
                  <a:srgbClr val="FFFFFF"/>
                </a:solidFill>
                <a:latin typeface="Calibri" panose="020F0502020204030204" charset="0"/>
                <a:ea typeface="DejaVu Sans"/>
                <a:cs typeface="Calibri" panose="020F0502020204030204" charset="0"/>
              </a:rPr>
              <a:t> Nguyễn Thị Huệ</a:t>
            </a:r>
            <a:endParaRPr sz="2250" b="1">
              <a:solidFill>
                <a:srgbClr val="FFFFFF"/>
              </a:solidFill>
              <a:latin typeface="Calibri" panose="020F0502020204030204" charset="0"/>
              <a:ea typeface="DejaVu Sans"/>
              <a:cs typeface="Calibri" panose="020F0502020204030204" charset="0"/>
            </a:endParaRPr>
          </a:p>
        </p:txBody>
      </p:sp>
      <p:sp>
        <p:nvSpPr>
          <p:cNvPr id="14" name="Rectangle 13"/>
          <p:cNvSpPr>
            <a:spLocks noGrp="1"/>
          </p:cNvSpPr>
          <p:nvPr/>
        </p:nvSpPr>
        <p:spPr>
          <a:xfrm>
            <a:off x="5810250" y="1714500"/>
            <a:ext cx="5524500" cy="781050"/>
          </a:xfrm>
          <a:prstGeom prst="rect">
            <a:avLst/>
          </a:prstGeom>
          <a:noFill/>
          <a:ln w="0">
            <a:noFill/>
          </a:ln>
        </p:spPr>
        <p:txBody>
          <a:bodyPr/>
          <a:lstStyle>
            <a:defPPr>
              <a:defRPr sz="2025" b="1">
                <a:solidFill>
                  <a:srgbClr val="FFFFFF"/>
                </a:solidFill>
                <a:latin typeface="DejaVu Sans"/>
                <a:ea typeface="DejaVu Sans"/>
                <a:cs typeface="DejaVu Sans"/>
              </a:defRPr>
            </a:defPPr>
          </a:lstStyle>
          <a:p>
            <a:pPr>
              <a:defRPr sz="2025" b="1">
                <a:solidFill>
                  <a:srgbClr val="FFFFFF"/>
                </a:solidFill>
                <a:latin typeface="DejaVu Sans"/>
                <a:ea typeface="DejaVu Sans"/>
                <a:cs typeface="DejaVu Sans"/>
              </a:defRPr>
            </a:pPr>
            <a:r>
              <a:rPr sz="2025" b="1">
                <a:solidFill>
                  <a:srgbClr val="FFFFFF"/>
                </a:solidFill>
                <a:latin typeface="Calibri" panose="020F0502020204030204" charset="0"/>
                <a:ea typeface="DejaVu Sans"/>
                <a:cs typeface="Calibri" panose="020F0502020204030204" charset="0"/>
              </a:rPr>
              <a:t>01  Vấn đề và giải pháp đề xuất</a:t>
            </a:r>
            <a:endParaRPr sz="2025" b="1">
              <a:solidFill>
                <a:srgbClr val="FFFFFF"/>
              </a:solidFill>
              <a:latin typeface="Calibri" panose="020F0502020204030204" charset="0"/>
              <a:ea typeface="DejaVu Sans"/>
              <a:cs typeface="Calibri" panose="020F0502020204030204" charset="0"/>
            </a:endParaRPr>
          </a:p>
        </p:txBody>
      </p:sp>
      <p:sp>
        <p:nvSpPr>
          <p:cNvPr id="15" name="Rectangle 14"/>
          <p:cNvSpPr>
            <a:spLocks noGrp="1"/>
          </p:cNvSpPr>
          <p:nvPr/>
        </p:nvSpPr>
        <p:spPr>
          <a:xfrm>
            <a:off x="5810250" y="2647950"/>
            <a:ext cx="5524500" cy="781050"/>
          </a:xfrm>
          <a:prstGeom prst="rect">
            <a:avLst/>
          </a:prstGeom>
          <a:noFill/>
          <a:ln w="0">
            <a:noFill/>
          </a:ln>
        </p:spPr>
        <p:txBody>
          <a:bodyPr/>
          <a:lstStyle>
            <a:defPPr>
              <a:defRPr sz="2025" b="1">
                <a:solidFill>
                  <a:srgbClr val="FFFFFF"/>
                </a:solidFill>
                <a:latin typeface="DejaVu Sans"/>
                <a:ea typeface="DejaVu Sans"/>
                <a:cs typeface="DejaVu Sans"/>
              </a:defRPr>
            </a:defPPr>
          </a:lstStyle>
          <a:p>
            <a:pPr>
              <a:defRPr sz="2025" b="1">
                <a:solidFill>
                  <a:srgbClr val="FFFFFF"/>
                </a:solidFill>
                <a:latin typeface="DejaVu Sans"/>
                <a:ea typeface="DejaVu Sans"/>
                <a:cs typeface="DejaVu Sans"/>
              </a:defRPr>
            </a:pPr>
            <a:r>
              <a:rPr sz="2025" b="1">
                <a:solidFill>
                  <a:srgbClr val="FFFFFF"/>
                </a:solidFill>
                <a:latin typeface="Calibri" panose="020F0502020204030204" charset="0"/>
                <a:ea typeface="DejaVu Sans"/>
                <a:cs typeface="Calibri" panose="020F0502020204030204" charset="0"/>
              </a:rPr>
              <a:t>02  Cách hệ thống tìm thực đơn</a:t>
            </a:r>
            <a:endParaRPr sz="2025" b="1">
              <a:solidFill>
                <a:srgbClr val="FFFFFF"/>
              </a:solidFill>
              <a:latin typeface="Calibri" panose="020F0502020204030204" charset="0"/>
              <a:ea typeface="DejaVu Sans"/>
              <a:cs typeface="Calibri" panose="020F0502020204030204" charset="0"/>
            </a:endParaRPr>
          </a:p>
        </p:txBody>
      </p:sp>
      <p:sp>
        <p:nvSpPr>
          <p:cNvPr id="16" name="Rectangle 15"/>
          <p:cNvSpPr>
            <a:spLocks noGrp="1"/>
          </p:cNvSpPr>
          <p:nvPr/>
        </p:nvSpPr>
        <p:spPr>
          <a:xfrm>
            <a:off x="5810250" y="3581400"/>
            <a:ext cx="5524500" cy="781050"/>
          </a:xfrm>
          <a:prstGeom prst="rect">
            <a:avLst/>
          </a:prstGeom>
          <a:noFill/>
          <a:ln w="0">
            <a:noFill/>
          </a:ln>
        </p:spPr>
        <p:txBody>
          <a:bodyPr/>
          <a:lstStyle>
            <a:defPPr>
              <a:defRPr sz="2025" b="1">
                <a:solidFill>
                  <a:srgbClr val="FFFFFF"/>
                </a:solidFill>
                <a:latin typeface="DejaVu Sans"/>
                <a:ea typeface="DejaVu Sans"/>
                <a:cs typeface="DejaVu Sans"/>
              </a:defRPr>
            </a:defPPr>
          </a:lstStyle>
          <a:p>
            <a:pPr>
              <a:defRPr sz="2025" b="1">
                <a:solidFill>
                  <a:srgbClr val="FFFFFF"/>
                </a:solidFill>
                <a:latin typeface="DejaVu Sans"/>
                <a:ea typeface="DejaVu Sans"/>
                <a:cs typeface="DejaVu Sans"/>
              </a:defRPr>
            </a:pPr>
            <a:r>
              <a:rPr sz="2025" b="1">
                <a:solidFill>
                  <a:srgbClr val="FFFFFF"/>
                </a:solidFill>
                <a:latin typeface="Calibri" panose="020F0502020204030204" charset="0"/>
                <a:ea typeface="DejaVu Sans"/>
                <a:cs typeface="Calibri" panose="020F0502020204030204" charset="0"/>
              </a:rPr>
              <a:t>03  Minh họa ứng dụng thực tế</a:t>
            </a:r>
            <a:endParaRPr sz="2025" b="1">
              <a:solidFill>
                <a:srgbClr val="FFFFFF"/>
              </a:solidFill>
              <a:latin typeface="Calibri" panose="020F0502020204030204" charset="0"/>
              <a:ea typeface="DejaVu Sans"/>
              <a:cs typeface="Calibri" panose="020F0502020204030204" charset="0"/>
            </a:endParaRPr>
          </a:p>
        </p:txBody>
      </p:sp>
      <p:sp>
        <p:nvSpPr>
          <p:cNvPr id="17" name="Rectangle 16"/>
          <p:cNvSpPr>
            <a:spLocks noGrp="1"/>
          </p:cNvSpPr>
          <p:nvPr/>
        </p:nvSpPr>
        <p:spPr>
          <a:xfrm>
            <a:off x="5810250" y="4514850"/>
            <a:ext cx="5524500" cy="781050"/>
          </a:xfrm>
          <a:prstGeom prst="rect">
            <a:avLst/>
          </a:prstGeom>
          <a:noFill/>
          <a:ln w="0">
            <a:noFill/>
          </a:ln>
        </p:spPr>
        <p:txBody>
          <a:bodyPr/>
          <a:lstStyle>
            <a:defPPr>
              <a:defRPr sz="2025" b="1">
                <a:solidFill>
                  <a:srgbClr val="FFFFFF"/>
                </a:solidFill>
                <a:latin typeface="DejaVu Sans"/>
                <a:ea typeface="DejaVu Sans"/>
                <a:cs typeface="DejaVu Sans"/>
              </a:defRPr>
            </a:defPPr>
          </a:lstStyle>
          <a:p>
            <a:pPr>
              <a:defRPr sz="2025" b="1">
                <a:solidFill>
                  <a:srgbClr val="FFFFFF"/>
                </a:solidFill>
                <a:latin typeface="DejaVu Sans"/>
                <a:ea typeface="DejaVu Sans"/>
                <a:cs typeface="DejaVu Sans"/>
              </a:defRPr>
            </a:pPr>
            <a:r>
              <a:rPr sz="2025" b="1">
                <a:solidFill>
                  <a:srgbClr val="FFFFFF"/>
                </a:solidFill>
                <a:latin typeface="Calibri" panose="020F0502020204030204" charset="0"/>
                <a:ea typeface="DejaVu Sans"/>
                <a:cs typeface="Calibri" panose="020F0502020204030204" charset="0"/>
              </a:rPr>
              <a:t>04  Kết quả và hướng cải thiện</a:t>
            </a:r>
            <a:endParaRPr sz="2025" b="1">
              <a:solidFill>
                <a:srgbClr val="FFFFFF"/>
              </a:solidFill>
              <a:latin typeface="Calibri" panose="020F0502020204030204" charset="0"/>
              <a:ea typeface="DejaVu Sans"/>
              <a:cs typeface="Calibri" panose="020F0502020204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7" name="Panel nội dung"/>
          <p:cNvSpPr>
            <a:spLocks noGrp="1"/>
          </p:cNvSpPr>
          <p:nvPr/>
        </p:nvSpPr>
        <p:spPr>
          <a:xfrm>
            <a:off x="457200" y="1476375"/>
            <a:ext cx="6410325" cy="4695825"/>
          </a:xfrm>
          <a:prstGeom prst="roundRect">
            <a:avLst>
              <a:gd name="adj" fmla="val 3651"/>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Rectangle 1"/>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Calibri" panose="020F0502020204030204" charset="0"/>
                <a:ea typeface="DejaVu Sans"/>
                <a:cs typeface="Calibri" panose="020F0502020204030204" charset="0"/>
              </a:rPr>
              <a:t>Bài toán lựa chọn thực đơn</a:t>
            </a:r>
            <a:endParaRPr sz="3150" b="1">
              <a:solidFill>
                <a:srgbClr val="FFFFFF"/>
              </a:solidFill>
              <a:latin typeface="Calibri" panose="020F0502020204030204" charset="0"/>
              <a:ea typeface="DejaVu Sans"/>
              <a:cs typeface="Calibri" panose="020F0502020204030204" charset="0"/>
            </a:endParaRPr>
          </a:p>
        </p:txBody>
      </p:sp>
      <p:sp>
        <p:nvSpPr>
          <p:cNvPr id="3" name="Rectangle 2"/>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DejaVu Sans"/>
              <a:ea typeface="DejaVu Sans"/>
              <a:cs typeface="DejaVu Sans"/>
            </a:endParaRPr>
          </a:p>
        </p:txBody>
      </p:sp>
      <p:pic>
        <p:nvPicPr>
          <p:cNvPr id="4" name="Picture 3"/>
          <p:cNvPicPr>
            <a:picLocks noChangeAspect="1"/>
          </p:cNvPicPr>
          <p:nvPr/>
        </p:nvPicPr>
        <p:blipFill>
          <a:blip r:embed="rId1"/>
          <a:srcRect t="7208" b="7208"/>
          <a:stretch>
            <a:fillRect/>
          </a:stretch>
        </p:blipFill>
        <p:spPr>
          <a:xfrm>
            <a:off x="7210425" y="1476375"/>
            <a:ext cx="4391025" cy="4695825"/>
          </a:xfrm>
          <a:prstGeom prst="rect">
            <a:avLst/>
          </a:prstGeom>
        </p:spPr>
      </p:pic>
      <p:sp>
        <p:nvSpPr>
          <p:cNvPr id="5" name="Rectangle 4"/>
          <p:cNvSpPr>
            <a:spLocks noGrp="1"/>
          </p:cNvSpPr>
          <p:nvPr/>
        </p:nvSpPr>
        <p:spPr>
          <a:xfrm>
            <a:off x="723900" y="1752600"/>
            <a:ext cx="5895975" cy="1190625"/>
          </a:xfrm>
          <a:prstGeom prst="rect">
            <a:avLst/>
          </a:prstGeom>
          <a:noFill/>
          <a:ln w="0">
            <a:noFill/>
          </a:ln>
        </p:spPr>
        <p:txBody>
          <a:bodyPr/>
          <a:lstStyle>
            <a:defPPr>
              <a:defRPr sz="3000" b="1">
                <a:solidFill>
                  <a:srgbClr val="FFFFFF"/>
                </a:solidFill>
                <a:latin typeface="DejaVu Sans"/>
                <a:ea typeface="DejaVu Sans"/>
                <a:cs typeface="DejaVu Sans"/>
              </a:defRPr>
            </a:defPPr>
          </a:lstStyle>
          <a:p>
            <a:pPr>
              <a:defRPr sz="3000" b="1">
                <a:solidFill>
                  <a:srgbClr val="FFFFFF"/>
                </a:solidFill>
                <a:latin typeface="DejaVu Sans"/>
                <a:ea typeface="DejaVu Sans"/>
                <a:cs typeface="DejaVu Sans"/>
              </a:defRPr>
            </a:pPr>
            <a:r>
              <a:rPr sz="2800" b="1">
                <a:solidFill>
                  <a:srgbClr val="FFFFFF"/>
                </a:solidFill>
                <a:latin typeface="Calibri" panose="020F0502020204030204" charset="0"/>
                <a:ea typeface="DejaVu Sans"/>
                <a:cs typeface="Calibri" panose="020F0502020204030204" charset="0"/>
              </a:rPr>
              <a:t>Mỗi người có một</a:t>
            </a:r>
            <a:endParaRPr sz="2800" b="1">
              <a:solidFill>
                <a:srgbClr val="FFFFFF"/>
              </a:solidFill>
              <a:latin typeface="Calibri" panose="020F0502020204030204" charset="0"/>
              <a:ea typeface="DejaVu Sans"/>
              <a:cs typeface="Calibri" panose="020F0502020204030204" charset="0"/>
            </a:endParaRPr>
          </a:p>
          <a:p>
            <a:pPr>
              <a:defRPr sz="3000" b="1">
                <a:solidFill>
                  <a:srgbClr val="FFFFFF"/>
                </a:solidFill>
                <a:latin typeface="DejaVu Sans"/>
                <a:ea typeface="DejaVu Sans"/>
                <a:cs typeface="DejaVu Sans"/>
              </a:defRPr>
            </a:pPr>
            <a:r>
              <a:rPr sz="2800" b="1">
                <a:solidFill>
                  <a:srgbClr val="FFFFFF"/>
                </a:solidFill>
                <a:latin typeface="Calibri" panose="020F0502020204030204" charset="0"/>
                <a:ea typeface="DejaVu Sans"/>
                <a:cs typeface="Calibri" panose="020F0502020204030204" charset="0"/>
              </a:rPr>
              <a:t>nhu cầu khác nhau</a:t>
            </a:r>
            <a:endParaRPr sz="2800" b="1">
              <a:solidFill>
                <a:srgbClr val="FFFFFF"/>
              </a:solidFill>
              <a:latin typeface="Calibri" panose="020F0502020204030204" charset="0"/>
              <a:ea typeface="DejaVu Sans"/>
              <a:cs typeface="Calibri" panose="020F0502020204030204" charset="0"/>
            </a:endParaRPr>
          </a:p>
        </p:txBody>
      </p:sp>
      <p:sp>
        <p:nvSpPr>
          <p:cNvPr id="6" name="Rectangle 5"/>
          <p:cNvSpPr>
            <a:spLocks noGrp="1"/>
          </p:cNvSpPr>
          <p:nvPr/>
        </p:nvSpPr>
        <p:spPr>
          <a:xfrm>
            <a:off x="723900" y="3305175"/>
            <a:ext cx="5810250" cy="2686050"/>
          </a:xfrm>
          <a:prstGeom prst="rect">
            <a:avLst/>
          </a:prstGeom>
          <a:noFill/>
          <a:ln w="0">
            <a:noFill/>
          </a:ln>
        </p:spPr>
        <p:txBody>
          <a:bodyPr/>
          <a:lstStyle>
            <a:defPPr>
              <a:defRPr sz="1950" b="0">
                <a:solidFill>
                  <a:srgbClr val="E6EFEA"/>
                </a:solidFill>
                <a:latin typeface="DejaVu Sans"/>
                <a:ea typeface="DejaVu Sans"/>
                <a:cs typeface="DejaVu Sans"/>
              </a:defRPr>
            </a:defPPr>
          </a:lstStyle>
          <a:p>
            <a:pPr algn="just">
              <a:defRPr sz="1950" b="0">
                <a:solidFill>
                  <a:srgbClr val="E6EFEA"/>
                </a:solidFill>
                <a:latin typeface="DejaVu Sans"/>
                <a:ea typeface="DejaVu Sans"/>
                <a:cs typeface="DejaVu Sans"/>
              </a:defRPr>
            </a:pPr>
            <a:r>
              <a:rPr sz="1950" b="0" dirty="0" err="1">
                <a:solidFill>
                  <a:srgbClr val="E6EFEA"/>
                </a:solidFill>
                <a:latin typeface="Calibri" panose="020F0502020204030204" charset="0"/>
                <a:ea typeface="DejaVu Sans"/>
                <a:cs typeface="Calibri" panose="020F0502020204030204" charset="0"/>
              </a:rPr>
              <a:t>Người</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tập</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thể</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hình</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cần</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khẩu</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phần</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phù</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hợp</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với</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thể</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trạng</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và</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mục</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tiêu</a:t>
            </a:r>
            <a:r>
              <a:rPr sz="1950" b="0" dirty="0">
                <a:solidFill>
                  <a:srgbClr val="E6EFEA"/>
                </a:solidFill>
                <a:latin typeface="Calibri" panose="020F0502020204030204" charset="0"/>
                <a:ea typeface="DejaVu Sans"/>
                <a:cs typeface="Calibri" panose="020F0502020204030204" charset="0"/>
              </a:rPr>
              <a:t>. Tuy </a:t>
            </a:r>
            <a:r>
              <a:rPr sz="1950" b="0" dirty="0" err="1">
                <a:solidFill>
                  <a:srgbClr val="E6EFEA"/>
                </a:solidFill>
                <a:latin typeface="Calibri" panose="020F0502020204030204" charset="0"/>
                <a:ea typeface="DejaVu Sans"/>
                <a:cs typeface="Calibri" panose="020F0502020204030204" charset="0"/>
              </a:rPr>
              <a:t>nhiên</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tự</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tra</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cứu</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dinh</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dưỡng</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và</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kết</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hợp</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món</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ăn</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mất</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nhiều</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thời</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gian</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Nhóm</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xây</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dựng</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hệ</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thống</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tính</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nhu</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cầu</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cá</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nhân</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gợi</a:t>
            </a:r>
            <a:r>
              <a:rPr sz="1950" b="0" dirty="0">
                <a:solidFill>
                  <a:srgbClr val="E6EFEA"/>
                </a:solidFill>
                <a:latin typeface="Calibri" panose="020F0502020204030204" charset="0"/>
                <a:ea typeface="DejaVu Sans"/>
                <a:cs typeface="Calibri" panose="020F0502020204030204" charset="0"/>
              </a:rPr>
              <a:t> ý </a:t>
            </a:r>
            <a:r>
              <a:rPr sz="1950" b="0" dirty="0" err="1">
                <a:solidFill>
                  <a:srgbClr val="E6EFEA"/>
                </a:solidFill>
                <a:latin typeface="Calibri" panose="020F0502020204030204" charset="0"/>
                <a:ea typeface="DejaVu Sans"/>
                <a:cs typeface="Calibri" panose="020F0502020204030204" charset="0"/>
              </a:rPr>
              <a:t>nhiều</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thực</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đơn</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và</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giúp</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người</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dùng</a:t>
            </a:r>
            <a:r>
              <a:rPr sz="1950" b="0" dirty="0">
                <a:solidFill>
                  <a:srgbClr val="E6EFEA"/>
                </a:solidFill>
                <a:latin typeface="Calibri" panose="020F0502020204030204" charset="0"/>
                <a:ea typeface="DejaVu Sans"/>
                <a:cs typeface="Calibri" panose="020F0502020204030204" charset="0"/>
              </a:rPr>
              <a:t> so </a:t>
            </a:r>
            <a:r>
              <a:rPr sz="1950" b="0" dirty="0" err="1">
                <a:solidFill>
                  <a:srgbClr val="E6EFEA"/>
                </a:solidFill>
                <a:latin typeface="Calibri" panose="020F0502020204030204" charset="0"/>
                <a:ea typeface="DejaVu Sans"/>
                <a:cs typeface="Calibri" panose="020F0502020204030204" charset="0"/>
              </a:rPr>
              <a:t>sánh</a:t>
            </a:r>
            <a:r>
              <a:rPr sz="1950" b="0" dirty="0">
                <a:solidFill>
                  <a:srgbClr val="E6EFEA"/>
                </a:solidFill>
                <a:latin typeface="Calibri" panose="020F0502020204030204" charset="0"/>
                <a:ea typeface="DejaVu Sans"/>
                <a:cs typeface="Calibri" panose="020F0502020204030204" charset="0"/>
              </a:rPr>
              <a:t> Calories, Protein, Carb, Fat </a:t>
            </a:r>
            <a:r>
              <a:rPr sz="1950" b="0" dirty="0" err="1">
                <a:solidFill>
                  <a:srgbClr val="E6EFEA"/>
                </a:solidFill>
                <a:latin typeface="Calibri" panose="020F0502020204030204" charset="0"/>
                <a:ea typeface="DejaVu Sans"/>
                <a:cs typeface="Calibri" panose="020F0502020204030204" charset="0"/>
              </a:rPr>
              <a:t>trước</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khi</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lựa</a:t>
            </a:r>
            <a:r>
              <a:rPr sz="1950" b="0" dirty="0">
                <a:solidFill>
                  <a:srgbClr val="E6EFEA"/>
                </a:solidFill>
                <a:latin typeface="Calibri" panose="020F0502020204030204" charset="0"/>
                <a:ea typeface="DejaVu Sans"/>
                <a:cs typeface="Calibri" panose="020F0502020204030204" charset="0"/>
              </a:rPr>
              <a:t> </a:t>
            </a:r>
            <a:r>
              <a:rPr sz="1950" b="0" dirty="0" err="1">
                <a:solidFill>
                  <a:srgbClr val="E6EFEA"/>
                </a:solidFill>
                <a:latin typeface="Calibri" panose="020F0502020204030204" charset="0"/>
                <a:ea typeface="DejaVu Sans"/>
                <a:cs typeface="Calibri" panose="020F0502020204030204" charset="0"/>
              </a:rPr>
              <a:t>chọn</a:t>
            </a:r>
            <a:r>
              <a:rPr sz="1950" b="0" dirty="0">
                <a:solidFill>
                  <a:srgbClr val="E6EFEA"/>
                </a:solidFill>
                <a:latin typeface="Calibri" panose="020F0502020204030204" charset="0"/>
                <a:ea typeface="DejaVu Sans"/>
                <a:cs typeface="Calibri" panose="020F0502020204030204" charset="0"/>
              </a:rPr>
              <a:t>.</a:t>
            </a:r>
            <a:endParaRPr sz="1950" b="0" dirty="0">
              <a:solidFill>
                <a:srgbClr val="E6EFEA"/>
              </a:solidFill>
              <a:latin typeface="Calibri" panose="020F0502020204030204" charset="0"/>
              <a:ea typeface="DejaVu Sans"/>
              <a:cs typeface="Calibri" panose="020F0502020204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16" name="Panel nội dung"/>
          <p:cNvSpPr>
            <a:spLocks noGrp="1"/>
          </p:cNvSpPr>
          <p:nvPr/>
        </p:nvSpPr>
        <p:spPr>
          <a:xfrm>
            <a:off x="457200" y="1733550"/>
            <a:ext cx="3562350" cy="3990975"/>
          </a:xfrm>
          <a:prstGeom prst="roundRect">
            <a:avLst>
              <a:gd name="adj" fmla="val 4813"/>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Panel nội dung"/>
          <p:cNvSpPr>
            <a:spLocks noGrp="1"/>
          </p:cNvSpPr>
          <p:nvPr/>
        </p:nvSpPr>
        <p:spPr>
          <a:xfrm>
            <a:off x="4305300" y="1733550"/>
            <a:ext cx="3562350" cy="3990975"/>
          </a:xfrm>
          <a:prstGeom prst="roundRect">
            <a:avLst>
              <a:gd name="adj" fmla="val 4813"/>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3" name="Panel nội dung"/>
          <p:cNvSpPr>
            <a:spLocks noGrp="1"/>
          </p:cNvSpPr>
          <p:nvPr/>
        </p:nvSpPr>
        <p:spPr>
          <a:xfrm>
            <a:off x="8153400" y="1733550"/>
            <a:ext cx="3562350" cy="3990975"/>
          </a:xfrm>
          <a:prstGeom prst="roundRect">
            <a:avLst>
              <a:gd name="adj" fmla="val 4813"/>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4" name="Rectangle 3"/>
          <p:cNvSpPr>
            <a:spLocks noGrp="1"/>
          </p:cNvSpPr>
          <p:nvPr/>
        </p:nvSpPr>
        <p:spPr>
          <a:xfrm>
            <a:off x="609600" y="457200"/>
            <a:ext cx="10953750" cy="857250"/>
          </a:xfrm>
          <a:prstGeom prst="rect">
            <a:avLst/>
          </a:prstGeom>
          <a:noFill/>
          <a:ln w="0">
            <a:noFill/>
          </a:ln>
        </p:spPr>
        <p:txBody>
          <a:bodyPr/>
          <a:lstStyle>
            <a:defPPr>
              <a:defRPr sz="3675" b="1">
                <a:solidFill>
                  <a:srgbClr val="FFFFFF"/>
                </a:solidFill>
                <a:latin typeface="DejaVu Sans"/>
                <a:ea typeface="DejaVu Sans"/>
                <a:cs typeface="DejaVu Sans"/>
              </a:defRPr>
            </a:defPPr>
          </a:lstStyle>
          <a:p>
            <a:pPr>
              <a:defRPr sz="3675" b="1">
                <a:solidFill>
                  <a:srgbClr val="FFFFFF"/>
                </a:solidFill>
                <a:latin typeface="DejaVu Sans"/>
                <a:ea typeface="DejaVu Sans"/>
                <a:cs typeface="DejaVu Sans"/>
              </a:defRPr>
            </a:pPr>
            <a:r>
              <a:rPr sz="3675" b="1">
                <a:solidFill>
                  <a:srgbClr val="FFFFFF"/>
                </a:solidFill>
                <a:latin typeface="Calibri" panose="020F0502020204030204" charset="0"/>
                <a:ea typeface="DejaVu Sans"/>
                <a:cs typeface="Calibri" panose="020F0502020204030204" charset="0"/>
              </a:rPr>
              <a:t>Giải pháp hỗ trợ lựa chọn thực đơn</a:t>
            </a:r>
            <a:endParaRPr sz="3675" b="1">
              <a:solidFill>
                <a:srgbClr val="FFFFFF"/>
              </a:solidFill>
              <a:latin typeface="Calibri" panose="020F0502020204030204" charset="0"/>
              <a:ea typeface="DejaVu Sans"/>
              <a:cs typeface="Calibri" panose="020F0502020204030204" charset="0"/>
            </a:endParaRPr>
          </a:p>
        </p:txBody>
      </p:sp>
      <p:sp>
        <p:nvSpPr>
          <p:cNvPr id="5" name="Rectangle 4"/>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DejaVu Sans"/>
              <a:ea typeface="DejaVu Sans"/>
              <a:cs typeface="DejaVu Sans"/>
            </a:endParaRPr>
          </a:p>
        </p:txBody>
      </p:sp>
      <p:sp>
        <p:nvSpPr>
          <p:cNvPr id="6" name="Rectangle 5"/>
          <p:cNvSpPr>
            <a:spLocks noGrp="1"/>
          </p:cNvSpPr>
          <p:nvPr/>
        </p:nvSpPr>
        <p:spPr>
          <a:xfrm>
            <a:off x="666750" y="1981200"/>
            <a:ext cx="3238500" cy="952500"/>
          </a:xfrm>
          <a:prstGeom prst="rect">
            <a:avLst/>
          </a:prstGeom>
          <a:noFill/>
          <a:ln w="0">
            <a:noFill/>
          </a:ln>
        </p:spPr>
        <p:txBody>
          <a:bodyPr/>
          <a:lstStyle>
            <a:defPPr>
              <a:defRPr sz="5550" b="1">
                <a:solidFill>
                  <a:srgbClr val="75C7A3"/>
                </a:solidFill>
                <a:latin typeface="DejaVu Sans"/>
                <a:ea typeface="DejaVu Sans"/>
                <a:cs typeface="DejaVu Sans"/>
              </a:defRPr>
            </a:defPPr>
          </a:lstStyle>
          <a:p>
            <a:pPr>
              <a:defRPr sz="5550" b="1">
                <a:solidFill>
                  <a:srgbClr val="75C7A3"/>
                </a:solidFill>
                <a:latin typeface="DejaVu Sans"/>
                <a:ea typeface="DejaVu Sans"/>
                <a:cs typeface="DejaVu Sans"/>
              </a:defRPr>
            </a:pPr>
            <a:r>
              <a:rPr sz="5550" b="1">
                <a:solidFill>
                  <a:srgbClr val="75C7A3"/>
                </a:solidFill>
                <a:latin typeface="Calibri" panose="020F0502020204030204" charset="0"/>
                <a:ea typeface="DejaVu Sans"/>
                <a:cs typeface="Calibri" panose="020F0502020204030204" charset="0"/>
              </a:rPr>
              <a:t>01</a:t>
            </a:r>
            <a:endParaRPr sz="5550" b="1">
              <a:solidFill>
                <a:srgbClr val="75C7A3"/>
              </a:solidFill>
              <a:latin typeface="Calibri" panose="020F0502020204030204" charset="0"/>
              <a:ea typeface="DejaVu Sans"/>
              <a:cs typeface="Calibri" panose="020F0502020204030204" charset="0"/>
            </a:endParaRPr>
          </a:p>
        </p:txBody>
      </p:sp>
      <p:sp>
        <p:nvSpPr>
          <p:cNvPr id="7" name="Rectangle 6"/>
          <p:cNvSpPr>
            <a:spLocks noGrp="1"/>
          </p:cNvSpPr>
          <p:nvPr/>
        </p:nvSpPr>
        <p:spPr>
          <a:xfrm>
            <a:off x="666750" y="3362325"/>
            <a:ext cx="3238500" cy="571500"/>
          </a:xfrm>
          <a:prstGeom prst="rect">
            <a:avLst/>
          </a:prstGeom>
          <a:noFill/>
          <a:ln w="0">
            <a:noFill/>
          </a:ln>
        </p:spPr>
        <p:txBody>
          <a:bodyPr/>
          <a:lstStyle>
            <a:defPPr>
              <a:defRPr sz="2550" b="1">
                <a:solidFill>
                  <a:srgbClr val="FFFFFF"/>
                </a:solidFill>
                <a:latin typeface="DejaVu Sans"/>
                <a:ea typeface="DejaVu Sans"/>
                <a:cs typeface="DejaVu Sans"/>
              </a:defRPr>
            </a:defPPr>
          </a:lstStyle>
          <a:p>
            <a:pPr>
              <a:defRPr sz="2550" b="1">
                <a:solidFill>
                  <a:srgbClr val="FFFFFF"/>
                </a:solidFill>
                <a:latin typeface="DejaVu Sans"/>
                <a:ea typeface="DejaVu Sans"/>
                <a:cs typeface="DejaVu Sans"/>
              </a:defRPr>
            </a:pPr>
            <a:r>
              <a:rPr sz="2550" b="1">
                <a:solidFill>
                  <a:srgbClr val="FFFFFF"/>
                </a:solidFill>
                <a:latin typeface="Calibri" panose="020F0502020204030204" charset="0"/>
                <a:ea typeface="DejaVu Sans"/>
                <a:cs typeface="Calibri" panose="020F0502020204030204" charset="0"/>
              </a:rPr>
              <a:t>Tính nhu cầu</a:t>
            </a:r>
            <a:endParaRPr sz="2550" b="1">
              <a:solidFill>
                <a:srgbClr val="FFFFFF"/>
              </a:solidFill>
              <a:latin typeface="Calibri" panose="020F0502020204030204" charset="0"/>
              <a:ea typeface="DejaVu Sans"/>
              <a:cs typeface="Calibri" panose="020F0502020204030204" charset="0"/>
            </a:endParaRPr>
          </a:p>
        </p:txBody>
      </p:sp>
      <p:sp>
        <p:nvSpPr>
          <p:cNvPr id="8" name="Rectangle 7"/>
          <p:cNvSpPr>
            <a:spLocks noGrp="1"/>
          </p:cNvSpPr>
          <p:nvPr/>
        </p:nvSpPr>
        <p:spPr>
          <a:xfrm>
            <a:off x="666750" y="4143375"/>
            <a:ext cx="3143250" cy="1428750"/>
          </a:xfrm>
          <a:prstGeom prst="rect">
            <a:avLst/>
          </a:prstGeom>
          <a:noFill/>
          <a:ln w="0">
            <a:noFill/>
          </a:ln>
        </p:spPr>
        <p:txBody>
          <a:bodyPr/>
          <a:lstStyle>
            <a:defPPr>
              <a:defRPr sz="1875" b="0">
                <a:solidFill>
                  <a:srgbClr val="D5E4DC"/>
                </a:solidFill>
                <a:latin typeface="DejaVu Sans"/>
                <a:ea typeface="DejaVu Sans"/>
                <a:cs typeface="DejaVu Sans"/>
              </a:defRPr>
            </a:defPPr>
          </a:lstStyle>
          <a:p>
            <a:pPr algn="just">
              <a:defRPr sz="1875" b="0">
                <a:solidFill>
                  <a:srgbClr val="D5E4DC"/>
                </a:solidFill>
                <a:latin typeface="DejaVu Sans"/>
                <a:ea typeface="DejaVu Sans"/>
                <a:cs typeface="DejaVu Sans"/>
              </a:defRPr>
            </a:pPr>
            <a:r>
              <a:rPr sz="1875" b="0" dirty="0" err="1">
                <a:solidFill>
                  <a:srgbClr val="D5E4DC"/>
                </a:solidFill>
                <a:latin typeface="Calibri" panose="020F0502020204030204" charset="0"/>
                <a:ea typeface="DejaVu Sans"/>
                <a:cs typeface="Calibri" panose="020F0502020204030204" charset="0"/>
              </a:rPr>
              <a:t>Xác</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định</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mục</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tiêu</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dinh</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dưỡng</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từ</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thể</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trạng</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mức</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vận</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động</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và</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mục</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tiêu</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tập</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luyện</a:t>
            </a:r>
            <a:r>
              <a:rPr sz="1875" b="0" dirty="0">
                <a:solidFill>
                  <a:srgbClr val="D5E4DC"/>
                </a:solidFill>
                <a:latin typeface="Calibri" panose="020F0502020204030204" charset="0"/>
                <a:ea typeface="DejaVu Sans"/>
                <a:cs typeface="Calibri" panose="020F0502020204030204" charset="0"/>
              </a:rPr>
              <a:t>.</a:t>
            </a:r>
            <a:endParaRPr sz="1875" b="0" dirty="0">
              <a:solidFill>
                <a:srgbClr val="D5E4DC"/>
              </a:solidFill>
              <a:latin typeface="Calibri" panose="020F0502020204030204" charset="0"/>
              <a:ea typeface="DejaVu Sans"/>
              <a:cs typeface="Calibri" panose="020F0502020204030204" charset="0"/>
            </a:endParaRPr>
          </a:p>
        </p:txBody>
      </p:sp>
      <p:sp>
        <p:nvSpPr>
          <p:cNvPr id="9" name="Rectangle 8"/>
          <p:cNvSpPr>
            <a:spLocks noGrp="1"/>
          </p:cNvSpPr>
          <p:nvPr/>
        </p:nvSpPr>
        <p:spPr>
          <a:xfrm>
            <a:off x="4514850" y="1981200"/>
            <a:ext cx="3238500" cy="952500"/>
          </a:xfrm>
          <a:prstGeom prst="rect">
            <a:avLst/>
          </a:prstGeom>
          <a:noFill/>
          <a:ln w="0">
            <a:noFill/>
          </a:ln>
        </p:spPr>
        <p:txBody>
          <a:bodyPr/>
          <a:lstStyle>
            <a:defPPr>
              <a:defRPr sz="5550" b="1">
                <a:solidFill>
                  <a:srgbClr val="75C7A3"/>
                </a:solidFill>
                <a:latin typeface="DejaVu Sans"/>
                <a:ea typeface="DejaVu Sans"/>
                <a:cs typeface="DejaVu Sans"/>
              </a:defRPr>
            </a:defPPr>
          </a:lstStyle>
          <a:p>
            <a:pPr>
              <a:defRPr sz="5550" b="1">
                <a:solidFill>
                  <a:srgbClr val="75C7A3"/>
                </a:solidFill>
                <a:latin typeface="DejaVu Sans"/>
                <a:ea typeface="DejaVu Sans"/>
                <a:cs typeface="DejaVu Sans"/>
              </a:defRPr>
            </a:pPr>
            <a:r>
              <a:rPr sz="5550" b="1">
                <a:solidFill>
                  <a:srgbClr val="75C7A3"/>
                </a:solidFill>
                <a:latin typeface="Calibri" panose="020F0502020204030204" charset="0"/>
                <a:ea typeface="DejaVu Sans"/>
                <a:cs typeface="Calibri" panose="020F0502020204030204" charset="0"/>
              </a:rPr>
              <a:t>02</a:t>
            </a:r>
            <a:endParaRPr sz="5550" b="1">
              <a:solidFill>
                <a:srgbClr val="75C7A3"/>
              </a:solidFill>
              <a:latin typeface="Calibri" panose="020F0502020204030204" charset="0"/>
              <a:ea typeface="DejaVu Sans"/>
              <a:cs typeface="Calibri" panose="020F0502020204030204" charset="0"/>
            </a:endParaRPr>
          </a:p>
        </p:txBody>
      </p:sp>
      <p:sp>
        <p:nvSpPr>
          <p:cNvPr id="10" name="Rectangle 9"/>
          <p:cNvSpPr>
            <a:spLocks noGrp="1"/>
          </p:cNvSpPr>
          <p:nvPr/>
        </p:nvSpPr>
        <p:spPr>
          <a:xfrm>
            <a:off x="4514850" y="3362325"/>
            <a:ext cx="3238500" cy="571500"/>
          </a:xfrm>
          <a:prstGeom prst="rect">
            <a:avLst/>
          </a:prstGeom>
          <a:noFill/>
          <a:ln w="0">
            <a:noFill/>
          </a:ln>
        </p:spPr>
        <p:txBody>
          <a:bodyPr/>
          <a:lstStyle>
            <a:defPPr>
              <a:defRPr sz="2550" b="1">
                <a:solidFill>
                  <a:srgbClr val="FFFFFF"/>
                </a:solidFill>
                <a:latin typeface="DejaVu Sans"/>
                <a:ea typeface="DejaVu Sans"/>
                <a:cs typeface="DejaVu Sans"/>
              </a:defRPr>
            </a:defPPr>
          </a:lstStyle>
          <a:p>
            <a:pPr>
              <a:defRPr sz="2550" b="1">
                <a:solidFill>
                  <a:srgbClr val="FFFFFF"/>
                </a:solidFill>
                <a:latin typeface="DejaVu Sans"/>
                <a:ea typeface="DejaVu Sans"/>
                <a:cs typeface="DejaVu Sans"/>
              </a:defRPr>
            </a:pPr>
            <a:r>
              <a:rPr sz="2550" b="1">
                <a:solidFill>
                  <a:srgbClr val="FFFFFF"/>
                </a:solidFill>
                <a:latin typeface="Calibri" panose="020F0502020204030204" charset="0"/>
                <a:ea typeface="DejaVu Sans"/>
                <a:cs typeface="Calibri" panose="020F0502020204030204" charset="0"/>
              </a:rPr>
              <a:t>Gợi ý thực đơn</a:t>
            </a:r>
            <a:endParaRPr sz="2550" b="1">
              <a:solidFill>
                <a:srgbClr val="FFFFFF"/>
              </a:solidFill>
              <a:latin typeface="Calibri" panose="020F0502020204030204" charset="0"/>
              <a:ea typeface="DejaVu Sans"/>
              <a:cs typeface="Calibri" panose="020F0502020204030204" charset="0"/>
            </a:endParaRPr>
          </a:p>
        </p:txBody>
      </p:sp>
      <p:sp>
        <p:nvSpPr>
          <p:cNvPr id="11" name="Rectangle 10"/>
          <p:cNvSpPr>
            <a:spLocks noGrp="1"/>
          </p:cNvSpPr>
          <p:nvPr/>
        </p:nvSpPr>
        <p:spPr>
          <a:xfrm>
            <a:off x="4514850" y="4143375"/>
            <a:ext cx="3113405" cy="1428750"/>
          </a:xfrm>
          <a:prstGeom prst="rect">
            <a:avLst/>
          </a:prstGeom>
          <a:noFill/>
          <a:ln w="0">
            <a:noFill/>
          </a:ln>
        </p:spPr>
        <p:txBody>
          <a:bodyPr/>
          <a:lstStyle>
            <a:defPPr>
              <a:defRPr sz="1875" b="0">
                <a:solidFill>
                  <a:srgbClr val="D5E4DC"/>
                </a:solidFill>
                <a:latin typeface="DejaVu Sans"/>
                <a:ea typeface="DejaVu Sans"/>
                <a:cs typeface="DejaVu Sans"/>
              </a:defRPr>
            </a:defPPr>
          </a:lstStyle>
          <a:p>
            <a:pPr algn="just">
              <a:defRPr sz="1875" b="0">
                <a:solidFill>
                  <a:srgbClr val="D5E4DC"/>
                </a:solidFill>
                <a:latin typeface="DejaVu Sans"/>
                <a:ea typeface="DejaVu Sans"/>
                <a:cs typeface="DejaVu Sans"/>
              </a:defRPr>
            </a:pPr>
            <a:r>
              <a:rPr sz="1875" b="0" dirty="0" err="1">
                <a:solidFill>
                  <a:srgbClr val="D5E4DC"/>
                </a:solidFill>
                <a:latin typeface="Calibri" panose="020F0502020204030204" charset="0"/>
                <a:ea typeface="DejaVu Sans"/>
                <a:cs typeface="Calibri" panose="020F0502020204030204" charset="0"/>
              </a:rPr>
              <a:t>Dùng</a:t>
            </a:r>
            <a:r>
              <a:rPr sz="1875" b="0" dirty="0">
                <a:solidFill>
                  <a:srgbClr val="D5E4DC"/>
                </a:solidFill>
                <a:latin typeface="Calibri" panose="020F0502020204030204" charset="0"/>
                <a:ea typeface="DejaVu Sans"/>
                <a:cs typeface="Calibri" panose="020F0502020204030204" charset="0"/>
              </a:rPr>
              <a:t> KNN</a:t>
            </a:r>
            <a:r>
              <a:rPr lang="en-US" sz="1875" b="0" dirty="0">
                <a:solidFill>
                  <a:srgbClr val="D5E4DC"/>
                </a:solidFill>
                <a:latin typeface="Calibri" panose="020F0502020204030204" charset="0"/>
                <a:ea typeface="DejaVu Sans"/>
                <a:cs typeface="Calibri" panose="020F0502020204030204" charset="0"/>
              </a:rPr>
              <a:t> để</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tìm</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các</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phương</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án</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có</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dinh</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dưỡng</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gần</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nhu</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cầu</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sau</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khi</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lọc</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thực</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phẩm</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cần</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tránh</a:t>
            </a:r>
            <a:r>
              <a:rPr sz="1875" b="0" dirty="0">
                <a:solidFill>
                  <a:srgbClr val="D5E4DC"/>
                </a:solidFill>
                <a:latin typeface="Calibri" panose="020F0502020204030204" charset="0"/>
                <a:ea typeface="DejaVu Sans"/>
                <a:cs typeface="Calibri" panose="020F0502020204030204" charset="0"/>
              </a:rPr>
              <a:t>.</a:t>
            </a:r>
            <a:endParaRPr sz="1875" b="0" dirty="0">
              <a:solidFill>
                <a:srgbClr val="D5E4DC"/>
              </a:solidFill>
              <a:latin typeface="Calibri" panose="020F0502020204030204" charset="0"/>
              <a:ea typeface="DejaVu Sans"/>
              <a:cs typeface="Calibri" panose="020F0502020204030204" charset="0"/>
            </a:endParaRPr>
          </a:p>
        </p:txBody>
      </p:sp>
      <p:sp>
        <p:nvSpPr>
          <p:cNvPr id="12" name="Rectangle 11"/>
          <p:cNvSpPr>
            <a:spLocks noGrp="1"/>
          </p:cNvSpPr>
          <p:nvPr/>
        </p:nvSpPr>
        <p:spPr>
          <a:xfrm>
            <a:off x="8362950" y="1981200"/>
            <a:ext cx="3238500" cy="952500"/>
          </a:xfrm>
          <a:prstGeom prst="rect">
            <a:avLst/>
          </a:prstGeom>
          <a:noFill/>
          <a:ln w="0">
            <a:noFill/>
          </a:ln>
        </p:spPr>
        <p:txBody>
          <a:bodyPr/>
          <a:lstStyle>
            <a:defPPr>
              <a:defRPr sz="5550" b="1">
                <a:solidFill>
                  <a:srgbClr val="75C7A3"/>
                </a:solidFill>
                <a:latin typeface="DejaVu Sans"/>
                <a:ea typeface="DejaVu Sans"/>
                <a:cs typeface="DejaVu Sans"/>
              </a:defRPr>
            </a:defPPr>
          </a:lstStyle>
          <a:p>
            <a:pPr>
              <a:defRPr sz="5550" b="1">
                <a:solidFill>
                  <a:srgbClr val="75C7A3"/>
                </a:solidFill>
                <a:latin typeface="DejaVu Sans"/>
                <a:ea typeface="DejaVu Sans"/>
                <a:cs typeface="DejaVu Sans"/>
              </a:defRPr>
            </a:pPr>
            <a:r>
              <a:rPr sz="5550" b="1">
                <a:solidFill>
                  <a:srgbClr val="75C7A3"/>
                </a:solidFill>
                <a:latin typeface="Calibri" panose="020F0502020204030204" charset="0"/>
                <a:ea typeface="DejaVu Sans"/>
                <a:cs typeface="Calibri" panose="020F0502020204030204" charset="0"/>
              </a:rPr>
              <a:t>03</a:t>
            </a:r>
            <a:endParaRPr sz="5550" b="1">
              <a:solidFill>
                <a:srgbClr val="75C7A3"/>
              </a:solidFill>
              <a:latin typeface="Calibri" panose="020F0502020204030204" charset="0"/>
              <a:ea typeface="DejaVu Sans"/>
              <a:cs typeface="Calibri" panose="020F0502020204030204" charset="0"/>
            </a:endParaRPr>
          </a:p>
        </p:txBody>
      </p:sp>
      <p:sp>
        <p:nvSpPr>
          <p:cNvPr id="13" name="Rectangle 12"/>
          <p:cNvSpPr>
            <a:spLocks noGrp="1"/>
          </p:cNvSpPr>
          <p:nvPr/>
        </p:nvSpPr>
        <p:spPr>
          <a:xfrm>
            <a:off x="8362950" y="3362325"/>
            <a:ext cx="3238500" cy="571500"/>
          </a:xfrm>
          <a:prstGeom prst="rect">
            <a:avLst/>
          </a:prstGeom>
          <a:noFill/>
          <a:ln w="0">
            <a:noFill/>
          </a:ln>
        </p:spPr>
        <p:txBody>
          <a:bodyPr/>
          <a:lstStyle>
            <a:defPPr>
              <a:defRPr sz="2550" b="1">
                <a:solidFill>
                  <a:srgbClr val="FFFFFF"/>
                </a:solidFill>
                <a:latin typeface="DejaVu Sans"/>
                <a:ea typeface="DejaVu Sans"/>
                <a:cs typeface="DejaVu Sans"/>
              </a:defRPr>
            </a:defPPr>
          </a:lstStyle>
          <a:p>
            <a:pPr>
              <a:defRPr sz="2550" b="1">
                <a:solidFill>
                  <a:srgbClr val="FFFFFF"/>
                </a:solidFill>
                <a:latin typeface="DejaVu Sans"/>
                <a:ea typeface="DejaVu Sans"/>
                <a:cs typeface="DejaVu Sans"/>
              </a:defRPr>
            </a:pPr>
            <a:r>
              <a:rPr sz="2550" b="1">
                <a:solidFill>
                  <a:srgbClr val="FFFFFF"/>
                </a:solidFill>
                <a:latin typeface="Calibri" panose="020F0502020204030204" charset="0"/>
                <a:ea typeface="DejaVu Sans"/>
                <a:cs typeface="Calibri" panose="020F0502020204030204" charset="0"/>
              </a:rPr>
              <a:t>Hỗ trợ lựa chọn</a:t>
            </a:r>
            <a:endParaRPr sz="2550" b="1">
              <a:solidFill>
                <a:srgbClr val="FFFFFF"/>
              </a:solidFill>
              <a:latin typeface="Calibri" panose="020F0502020204030204" charset="0"/>
              <a:ea typeface="DejaVu Sans"/>
              <a:cs typeface="Calibri" panose="020F0502020204030204" charset="0"/>
            </a:endParaRPr>
          </a:p>
        </p:txBody>
      </p:sp>
      <p:sp>
        <p:nvSpPr>
          <p:cNvPr id="14" name="Rectangle 13"/>
          <p:cNvSpPr>
            <a:spLocks noGrp="1"/>
          </p:cNvSpPr>
          <p:nvPr/>
        </p:nvSpPr>
        <p:spPr>
          <a:xfrm>
            <a:off x="8362950" y="4143375"/>
            <a:ext cx="3123565" cy="1428750"/>
          </a:xfrm>
          <a:prstGeom prst="rect">
            <a:avLst/>
          </a:prstGeom>
          <a:noFill/>
          <a:ln w="0">
            <a:noFill/>
          </a:ln>
        </p:spPr>
        <p:txBody>
          <a:bodyPr/>
          <a:lstStyle>
            <a:defPPr>
              <a:defRPr sz="1875" b="0">
                <a:solidFill>
                  <a:srgbClr val="D5E4DC"/>
                </a:solidFill>
                <a:latin typeface="DejaVu Sans"/>
                <a:ea typeface="DejaVu Sans"/>
                <a:cs typeface="DejaVu Sans"/>
              </a:defRPr>
            </a:defPPr>
          </a:lstStyle>
          <a:p>
            <a:pPr algn="just">
              <a:defRPr sz="1875" b="0">
                <a:solidFill>
                  <a:srgbClr val="D5E4DC"/>
                </a:solidFill>
                <a:latin typeface="DejaVu Sans"/>
                <a:ea typeface="DejaVu Sans"/>
                <a:cs typeface="DejaVu Sans"/>
              </a:defRPr>
            </a:pPr>
            <a:r>
              <a:rPr sz="1875" b="0" dirty="0">
                <a:solidFill>
                  <a:srgbClr val="D5E4DC"/>
                </a:solidFill>
                <a:latin typeface="Calibri" panose="020F0502020204030204" charset="0"/>
                <a:ea typeface="DejaVu Sans"/>
                <a:cs typeface="Calibri" panose="020F0502020204030204" charset="0"/>
              </a:rPr>
              <a:t>Cho </a:t>
            </a:r>
            <a:r>
              <a:rPr sz="1875" b="0" dirty="0" err="1">
                <a:solidFill>
                  <a:srgbClr val="D5E4DC"/>
                </a:solidFill>
                <a:latin typeface="Calibri" panose="020F0502020204030204" charset="0"/>
                <a:ea typeface="DejaVu Sans"/>
                <a:cs typeface="Calibri" panose="020F0502020204030204" charset="0"/>
              </a:rPr>
              <a:t>người</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dùng</a:t>
            </a:r>
            <a:r>
              <a:rPr sz="1875" b="0" dirty="0">
                <a:solidFill>
                  <a:srgbClr val="D5E4DC"/>
                </a:solidFill>
                <a:latin typeface="Calibri" panose="020F0502020204030204" charset="0"/>
                <a:ea typeface="DejaVu Sans"/>
                <a:cs typeface="Calibri" panose="020F0502020204030204" charset="0"/>
              </a:rPr>
              <a:t> so </a:t>
            </a:r>
            <a:r>
              <a:rPr sz="1875" b="0" dirty="0" err="1">
                <a:solidFill>
                  <a:srgbClr val="D5E4DC"/>
                </a:solidFill>
                <a:latin typeface="Calibri" panose="020F0502020204030204" charset="0"/>
                <a:ea typeface="DejaVu Sans"/>
                <a:cs typeface="Calibri" panose="020F0502020204030204" charset="0"/>
              </a:rPr>
              <a:t>sánh</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chọn</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từng</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bữa</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và</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xem</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tổng</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dinh</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dưỡng</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trong</a:t>
            </a:r>
            <a:r>
              <a:rPr sz="1875" b="0" dirty="0">
                <a:solidFill>
                  <a:srgbClr val="D5E4DC"/>
                </a:solidFill>
                <a:latin typeface="Calibri" panose="020F0502020204030204" charset="0"/>
                <a:ea typeface="DejaVu Sans"/>
                <a:cs typeface="Calibri" panose="020F0502020204030204" charset="0"/>
              </a:rPr>
              <a:t> </a:t>
            </a:r>
            <a:r>
              <a:rPr sz="1875" b="0" dirty="0" err="1">
                <a:solidFill>
                  <a:srgbClr val="D5E4DC"/>
                </a:solidFill>
                <a:latin typeface="Calibri" panose="020F0502020204030204" charset="0"/>
                <a:ea typeface="DejaVu Sans"/>
                <a:cs typeface="Calibri" panose="020F0502020204030204" charset="0"/>
              </a:rPr>
              <a:t>ngày</a:t>
            </a:r>
            <a:r>
              <a:rPr sz="1875" b="0" dirty="0">
                <a:solidFill>
                  <a:srgbClr val="D5E4DC"/>
                </a:solidFill>
                <a:latin typeface="Calibri" panose="020F0502020204030204" charset="0"/>
                <a:ea typeface="DejaVu Sans"/>
                <a:cs typeface="Calibri" panose="020F0502020204030204" charset="0"/>
              </a:rPr>
              <a:t>.</a:t>
            </a:r>
            <a:endParaRPr sz="1875" b="0" dirty="0">
              <a:solidFill>
                <a:srgbClr val="D5E4DC"/>
              </a:solidFill>
              <a:latin typeface="Calibri" panose="020F0502020204030204" charset="0"/>
              <a:ea typeface="DejaVu Sans"/>
              <a:cs typeface="Calibri" panose="020F050202020403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6" name="Panel nội dung"/>
          <p:cNvSpPr>
            <a:spLocks noGrp="1"/>
          </p:cNvSpPr>
          <p:nvPr/>
        </p:nvSpPr>
        <p:spPr>
          <a:xfrm>
            <a:off x="457200" y="1400175"/>
            <a:ext cx="11249025" cy="5143500"/>
          </a:xfrm>
          <a:prstGeom prst="roundRect">
            <a:avLst>
              <a:gd name="adj" fmla="val 3333"/>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Rectangle 1"/>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Calibri" panose="020F0502020204030204" charset="0"/>
                <a:ea typeface="DejaVu Sans"/>
                <a:cs typeface="Calibri" panose="020F0502020204030204" charset="0"/>
              </a:rPr>
              <a:t>Luồng xử lý của hệ thống</a:t>
            </a:r>
            <a:endParaRPr sz="3150" b="1">
              <a:solidFill>
                <a:srgbClr val="FFFFFF"/>
              </a:solidFill>
              <a:latin typeface="Calibri" panose="020F0502020204030204" charset="0"/>
              <a:ea typeface="DejaVu Sans"/>
              <a:cs typeface="Calibri" panose="020F0502020204030204" charset="0"/>
            </a:endParaRPr>
          </a:p>
        </p:txBody>
      </p:sp>
      <p:sp>
        <p:nvSpPr>
          <p:cNvPr id="3" name="Rectangle 2"/>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Calibri" panose="020F0502020204030204" charset="0"/>
              <a:ea typeface="DejaVu Sans"/>
              <a:cs typeface="Calibri" panose="020F0502020204030204" charset="0"/>
            </a:endParaRPr>
          </a:p>
        </p:txBody>
      </p:sp>
      <p:pic>
        <p:nvPicPr>
          <p:cNvPr id="4" name="Picture 3"/>
          <p:cNvPicPr>
            <a:picLocks noChangeAspect="1"/>
          </p:cNvPicPr>
          <p:nvPr/>
        </p:nvPicPr>
        <p:blipFill>
          <a:blip r:embed="rId1"/>
          <a:stretch>
            <a:fillRect/>
          </a:stretch>
        </p:blipFill>
        <p:spPr>
          <a:xfrm>
            <a:off x="2506094" y="1619250"/>
            <a:ext cx="7084562" cy="4000500"/>
          </a:xfrm>
          <a:prstGeom prst="rect">
            <a:avLst/>
          </a:prstGeom>
        </p:spPr>
      </p:pic>
      <p:sp>
        <p:nvSpPr>
          <p:cNvPr id="5" name="Rectangle 4"/>
          <p:cNvSpPr>
            <a:spLocks noGrp="1"/>
          </p:cNvSpPr>
          <p:nvPr/>
        </p:nvSpPr>
        <p:spPr>
          <a:xfrm>
            <a:off x="685800" y="5715000"/>
            <a:ext cx="10668000" cy="628650"/>
          </a:xfrm>
          <a:prstGeom prst="rect">
            <a:avLst/>
          </a:prstGeom>
          <a:noFill/>
          <a:ln w="0">
            <a:noFill/>
          </a:ln>
        </p:spPr>
        <p:txBody>
          <a:bodyPr/>
          <a:lstStyle>
            <a:defPPr>
              <a:defRPr sz="1800" b="0">
                <a:solidFill>
                  <a:srgbClr val="B4CDC1"/>
                </a:solidFill>
                <a:latin typeface="DejaVu Sans"/>
                <a:ea typeface="DejaVu Sans"/>
                <a:cs typeface="DejaVu Sans"/>
              </a:defRPr>
            </a:defPPr>
          </a:lstStyle>
          <a:p>
            <a:pPr>
              <a:defRPr sz="1800" b="0">
                <a:solidFill>
                  <a:srgbClr val="B4CDC1"/>
                </a:solidFill>
                <a:latin typeface="DejaVu Sans"/>
                <a:ea typeface="DejaVu Sans"/>
                <a:cs typeface="DejaVu Sans"/>
              </a:defRPr>
            </a:pPr>
            <a:endParaRPr sz="1800" b="0" dirty="0">
              <a:solidFill>
                <a:srgbClr val="B4CDC1"/>
              </a:solidFill>
              <a:latin typeface="Calibri" panose="020F0502020204030204" charset="0"/>
              <a:ea typeface="DejaVu Sans"/>
              <a:cs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8" name="Panel nội dung"/>
          <p:cNvSpPr>
            <a:spLocks noGrp="1"/>
          </p:cNvSpPr>
          <p:nvPr/>
        </p:nvSpPr>
        <p:spPr>
          <a:xfrm>
            <a:off x="457200" y="1485900"/>
            <a:ext cx="5238750" cy="4276725"/>
          </a:xfrm>
          <a:prstGeom prst="roundRect">
            <a:avLst>
              <a:gd name="adj" fmla="val 4009"/>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p>
        </p:txBody>
      </p:sp>
      <p:sp>
        <p:nvSpPr>
          <p:cNvPr id="2" name="Rectangle 1"/>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DejaVu Sans"/>
                <a:ea typeface="DejaVu Sans"/>
                <a:cs typeface="DejaVu Sans"/>
              </a:rPr>
              <a:t>Dữ liệu nguyên liệu</a:t>
            </a:r>
            <a:endParaRPr sz="3150" b="1">
              <a:solidFill>
                <a:srgbClr val="FFFFFF"/>
              </a:solidFill>
              <a:latin typeface="DejaVu Sans"/>
              <a:ea typeface="DejaVu Sans"/>
              <a:cs typeface="DejaVu Sans"/>
            </a:endParaRPr>
          </a:p>
        </p:txBody>
      </p:sp>
      <p:sp>
        <p:nvSpPr>
          <p:cNvPr id="3" name="Rectangle 2"/>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DejaVu Sans"/>
              <a:ea typeface="DejaVu Sans"/>
              <a:cs typeface="DejaVu Sans"/>
            </a:endParaRPr>
          </a:p>
        </p:txBody>
      </p:sp>
      <p:pic>
        <p:nvPicPr>
          <p:cNvPr id="4" name="Picture 3"/>
          <p:cNvPicPr>
            <a:picLocks noChangeAspect="1"/>
          </p:cNvPicPr>
          <p:nvPr/>
        </p:nvPicPr>
        <p:blipFill>
          <a:blip r:embed="rId1"/>
          <a:srcRect l="4370" r="4370"/>
          <a:stretch>
            <a:fillRect/>
          </a:stretch>
        </p:blipFill>
        <p:spPr>
          <a:xfrm>
            <a:off x="5762625" y="1485900"/>
            <a:ext cx="5724525" cy="4276725"/>
          </a:xfrm>
          <a:prstGeom prst="rect">
            <a:avLst/>
          </a:prstGeom>
        </p:spPr>
      </p:pic>
      <p:sp>
        <p:nvSpPr>
          <p:cNvPr id="5" name="Rectangle 4"/>
          <p:cNvSpPr>
            <a:spLocks noGrp="1"/>
          </p:cNvSpPr>
          <p:nvPr/>
        </p:nvSpPr>
        <p:spPr>
          <a:xfrm>
            <a:off x="704850" y="1762125"/>
            <a:ext cx="4810125" cy="638175"/>
          </a:xfrm>
          <a:prstGeom prst="rect">
            <a:avLst/>
          </a:prstGeom>
          <a:noFill/>
          <a:ln w="0">
            <a:noFill/>
          </a:ln>
        </p:spPr>
        <p:txBody>
          <a:bodyPr/>
          <a:lstStyle>
            <a:defPPr>
              <a:defRPr sz="2625" b="1">
                <a:solidFill>
                  <a:srgbClr val="FFFFFF"/>
                </a:solidFill>
                <a:latin typeface="DejaVu Sans"/>
                <a:ea typeface="DejaVu Sans"/>
                <a:cs typeface="DejaVu Sans"/>
              </a:defRPr>
            </a:defPPr>
          </a:lstStyle>
          <a:p>
            <a:pPr>
              <a:defRPr sz="2625" b="1">
                <a:solidFill>
                  <a:srgbClr val="FFFFFF"/>
                </a:solidFill>
                <a:latin typeface="DejaVu Sans"/>
                <a:ea typeface="DejaVu Sans"/>
                <a:cs typeface="DejaVu Sans"/>
              </a:defRPr>
            </a:pPr>
            <a:r>
              <a:rPr sz="2625" b="1">
                <a:solidFill>
                  <a:srgbClr val="FFFFFF"/>
                </a:solidFill>
                <a:latin typeface="DejaVu Sans"/>
                <a:ea typeface="DejaVu Sans"/>
                <a:cs typeface="DejaVu Sans"/>
              </a:rPr>
              <a:t>Nhập tay và kiểm tra</a:t>
            </a:r>
            <a:endParaRPr sz="2625" b="1">
              <a:solidFill>
                <a:srgbClr val="FFFFFF"/>
              </a:solidFill>
              <a:latin typeface="DejaVu Sans"/>
              <a:ea typeface="DejaVu Sans"/>
              <a:cs typeface="DejaVu Sans"/>
            </a:endParaRPr>
          </a:p>
        </p:txBody>
      </p:sp>
      <p:sp>
        <p:nvSpPr>
          <p:cNvPr id="6" name="Rectangle 5"/>
          <p:cNvSpPr>
            <a:spLocks noGrp="1"/>
          </p:cNvSpPr>
          <p:nvPr/>
        </p:nvSpPr>
        <p:spPr>
          <a:xfrm>
            <a:off x="704850" y="2705100"/>
            <a:ext cx="4781550" cy="2809875"/>
          </a:xfrm>
          <a:prstGeom prst="rect">
            <a:avLst/>
          </a:prstGeom>
          <a:noFill/>
          <a:ln w="0">
            <a:noFill/>
          </a:ln>
        </p:spPr>
        <p:txBody>
          <a:bodyPr/>
          <a:lstStyle>
            <a:defPPr>
              <a:defRPr sz="1950" b="0">
                <a:solidFill>
                  <a:srgbClr val="E6EFEA"/>
                </a:solidFill>
                <a:latin typeface="DejaVu Sans"/>
                <a:ea typeface="DejaVu Sans"/>
                <a:cs typeface="DejaVu Sans"/>
              </a:defRPr>
            </a:defPPr>
          </a:lstStyle>
          <a:p>
            <a:pPr algn="just">
              <a:defRPr sz="1950" b="0">
                <a:solidFill>
                  <a:srgbClr val="E6EFEA"/>
                </a:solidFill>
                <a:latin typeface="DejaVu Sans"/>
                <a:ea typeface="DejaVu Sans"/>
                <a:cs typeface="DejaVu Sans"/>
              </a:defRPr>
            </a:pPr>
            <a:r>
              <a:rPr sz="1950" b="0">
                <a:solidFill>
                  <a:srgbClr val="E6EFEA"/>
                </a:solidFill>
                <a:latin typeface="DejaVu Sans"/>
                <a:ea typeface="DejaVu Sans"/>
                <a:cs typeface="DejaVu Sans"/>
              </a:rPr>
              <a:t>Dữ liệu lấy từ Bộ Nông nghiệp Việt Nam và nhập thủ công. Nhóm rà soát tên thực phẩm, đơn vị và giá trị dinh dưỡng để sửa lỗi nhập. Bốn chỉ số Calories, Protein, Carb và Fat thống nhất trên 100 g, làm cơ sở quy đổi khẩu phần và tính dinh dưỡng thực đơn.</a:t>
            </a:r>
            <a:endParaRPr sz="1950" b="0">
              <a:solidFill>
                <a:srgbClr val="E6EFEA"/>
              </a:solidFill>
              <a:latin typeface="DejaVu Sans"/>
              <a:ea typeface="DejaVu Sans"/>
              <a:cs typeface="DejaVu Sans"/>
            </a:endParaRPr>
          </a:p>
        </p:txBody>
      </p:sp>
      <p:sp>
        <p:nvSpPr>
          <p:cNvPr id="7" name="Rectangle 6"/>
          <p:cNvSpPr>
            <a:spLocks noGrp="1"/>
          </p:cNvSpPr>
          <p:nvPr/>
        </p:nvSpPr>
        <p:spPr>
          <a:xfrm>
            <a:off x="666750" y="5924550"/>
            <a:ext cx="10477500" cy="400050"/>
          </a:xfrm>
          <a:prstGeom prst="rect">
            <a:avLst/>
          </a:prstGeom>
          <a:noFill/>
          <a:ln w="0">
            <a:noFill/>
          </a:ln>
        </p:spPr>
        <p:txBody>
          <a:bodyPr/>
          <a:lstStyle>
            <a:defPPr>
              <a:defRPr sz="1725" b="0">
                <a:solidFill>
                  <a:srgbClr val="B4CDC1"/>
                </a:solidFill>
                <a:latin typeface="DejaVu Sans"/>
                <a:ea typeface="DejaVu Sans"/>
                <a:cs typeface="DejaVu Sans"/>
              </a:defRPr>
            </a:defPPr>
          </a:lstStyle>
          <a:p>
            <a:pPr>
              <a:defRPr sz="1725" b="0">
                <a:solidFill>
                  <a:srgbClr val="B4CDC1"/>
                </a:solidFill>
                <a:latin typeface="DejaVu Sans"/>
                <a:ea typeface="DejaVu Sans"/>
                <a:cs typeface="DejaVu Sans"/>
              </a:defRPr>
            </a:pPr>
            <a:endParaRPr sz="1725" b="0" dirty="0">
              <a:solidFill>
                <a:srgbClr val="B4CDC1"/>
              </a:solidFill>
              <a:latin typeface="DejaVu Sans"/>
              <a:ea typeface="DejaVu Sans"/>
              <a:cs typeface="DejaVu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11" name="Panel nội dung"/>
          <p:cNvSpPr>
            <a:spLocks noGrp="1"/>
          </p:cNvSpPr>
          <p:nvPr/>
        </p:nvSpPr>
        <p:spPr>
          <a:xfrm>
            <a:off x="457200" y="1400175"/>
            <a:ext cx="11249025" cy="5143500"/>
          </a:xfrm>
          <a:prstGeom prst="roundRect">
            <a:avLst>
              <a:gd name="adj" fmla="val 3333"/>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Rectangle 1"/>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Calibri" panose="020F0502020204030204" charset="0"/>
                <a:ea typeface="DejaVu Sans"/>
                <a:cs typeface="Calibri" panose="020F0502020204030204" charset="0"/>
              </a:rPr>
              <a:t>Sinh dữ liệu thực đơn</a:t>
            </a:r>
            <a:endParaRPr sz="3150" b="1">
              <a:solidFill>
                <a:srgbClr val="FFFFFF"/>
              </a:solidFill>
              <a:latin typeface="Calibri" panose="020F0502020204030204" charset="0"/>
              <a:ea typeface="DejaVu Sans"/>
              <a:cs typeface="Calibri" panose="020F0502020204030204" charset="0"/>
            </a:endParaRPr>
          </a:p>
        </p:txBody>
      </p:sp>
      <p:sp>
        <p:nvSpPr>
          <p:cNvPr id="3" name="Rectangle 2"/>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Calibri" panose="020F0502020204030204" charset="0"/>
              <a:ea typeface="DejaVu Sans"/>
              <a:cs typeface="Calibri" panose="020F0502020204030204" charset="0"/>
            </a:endParaRPr>
          </a:p>
        </p:txBody>
      </p:sp>
      <p:sp>
        <p:nvSpPr>
          <p:cNvPr id="4" name="Rectangle 3"/>
          <p:cNvSpPr>
            <a:spLocks noGrp="1"/>
          </p:cNvSpPr>
          <p:nvPr/>
        </p:nvSpPr>
        <p:spPr>
          <a:xfrm>
            <a:off x="685800" y="1819275"/>
            <a:ext cx="5715000" cy="1257300"/>
          </a:xfrm>
          <a:prstGeom prst="rect">
            <a:avLst/>
          </a:prstGeom>
          <a:noFill/>
          <a:ln w="0">
            <a:noFill/>
          </a:ln>
        </p:spPr>
        <p:txBody>
          <a:bodyPr/>
          <a:lstStyle>
            <a:defPPr>
              <a:defRPr sz="7575" b="1">
                <a:solidFill>
                  <a:srgbClr val="FFFFFF"/>
                </a:solidFill>
                <a:latin typeface="DejaVu Sans"/>
                <a:ea typeface="DejaVu Sans"/>
                <a:cs typeface="DejaVu Sans"/>
              </a:defRPr>
            </a:defPPr>
          </a:lstStyle>
          <a:p>
            <a:pPr>
              <a:defRPr sz="7575" b="1">
                <a:solidFill>
                  <a:srgbClr val="FFFFFF"/>
                </a:solidFill>
                <a:latin typeface="DejaVu Sans"/>
                <a:ea typeface="DejaVu Sans"/>
                <a:cs typeface="DejaVu Sans"/>
              </a:defRPr>
            </a:pPr>
            <a:r>
              <a:rPr sz="7575" b="1">
                <a:solidFill>
                  <a:srgbClr val="FFFFFF"/>
                </a:solidFill>
                <a:latin typeface="Calibri" panose="020F0502020204030204" charset="0"/>
                <a:ea typeface="DejaVu Sans"/>
                <a:cs typeface="Calibri" panose="020F0502020204030204" charset="0"/>
              </a:rPr>
              <a:t>20.000</a:t>
            </a:r>
            <a:endParaRPr sz="7575" b="1">
              <a:solidFill>
                <a:srgbClr val="FFFFFF"/>
              </a:solidFill>
              <a:latin typeface="Calibri" panose="020F0502020204030204" charset="0"/>
              <a:ea typeface="DejaVu Sans"/>
              <a:cs typeface="Calibri" panose="020F0502020204030204" charset="0"/>
            </a:endParaRPr>
          </a:p>
        </p:txBody>
      </p:sp>
      <p:sp>
        <p:nvSpPr>
          <p:cNvPr id="5" name="Rectangle 4"/>
          <p:cNvSpPr>
            <a:spLocks noGrp="1"/>
          </p:cNvSpPr>
          <p:nvPr/>
        </p:nvSpPr>
        <p:spPr>
          <a:xfrm>
            <a:off x="742950" y="3209925"/>
            <a:ext cx="5476875" cy="590550"/>
          </a:xfrm>
          <a:prstGeom prst="rect">
            <a:avLst/>
          </a:prstGeom>
          <a:noFill/>
          <a:ln w="0">
            <a:noFill/>
          </a:ln>
        </p:spPr>
        <p:txBody>
          <a:bodyPr/>
          <a:lstStyle>
            <a:defPPr>
              <a:defRPr sz="2325" b="0">
                <a:solidFill>
                  <a:srgbClr val="79D0A8"/>
                </a:solidFill>
                <a:latin typeface="DejaVu Sans"/>
                <a:ea typeface="DejaVu Sans"/>
                <a:cs typeface="DejaVu Sans"/>
              </a:defRPr>
            </a:defPPr>
          </a:lstStyle>
          <a:p>
            <a:pPr>
              <a:defRPr sz="2325" b="0">
                <a:solidFill>
                  <a:srgbClr val="79D0A8"/>
                </a:solidFill>
                <a:latin typeface="DejaVu Sans"/>
                <a:ea typeface="DejaVu Sans"/>
                <a:cs typeface="DejaVu Sans"/>
              </a:defRPr>
            </a:pPr>
            <a:r>
              <a:rPr sz="2325" b="0">
                <a:solidFill>
                  <a:srgbClr val="79D0A8"/>
                </a:solidFill>
                <a:latin typeface="Calibri" panose="020F0502020204030204" charset="0"/>
                <a:ea typeface="DejaVu Sans"/>
                <a:cs typeface="Calibri" panose="020F0502020204030204" charset="0"/>
              </a:rPr>
              <a:t>lượt sinh tổ hợp thực đơn</a:t>
            </a:r>
            <a:endParaRPr sz="2325" b="0">
              <a:solidFill>
                <a:srgbClr val="79D0A8"/>
              </a:solidFill>
              <a:latin typeface="Calibri" panose="020F0502020204030204" charset="0"/>
              <a:ea typeface="DejaVu Sans"/>
              <a:cs typeface="Calibri" panose="020F0502020204030204" charset="0"/>
            </a:endParaRPr>
          </a:p>
        </p:txBody>
      </p:sp>
      <p:pic>
        <p:nvPicPr>
          <p:cNvPr id="6" name="Picture 5"/>
          <p:cNvPicPr>
            <a:picLocks noChangeAspect="1"/>
          </p:cNvPicPr>
          <p:nvPr/>
        </p:nvPicPr>
        <p:blipFill>
          <a:blip r:embed="rId1"/>
          <a:srcRect t="5062" b="5062"/>
          <a:stretch>
            <a:fillRect/>
          </a:stretch>
        </p:blipFill>
        <p:spPr>
          <a:xfrm>
            <a:off x="6838950" y="1657350"/>
            <a:ext cx="4610100" cy="2762250"/>
          </a:xfrm>
          <a:prstGeom prst="rect">
            <a:avLst/>
          </a:prstGeom>
        </p:spPr>
      </p:pic>
      <p:sp>
        <p:nvSpPr>
          <p:cNvPr id="7" name="Rectangle 6"/>
          <p:cNvSpPr>
            <a:spLocks noGrp="1"/>
          </p:cNvSpPr>
          <p:nvPr/>
        </p:nvSpPr>
        <p:spPr>
          <a:xfrm>
            <a:off x="7699375" y="4591050"/>
            <a:ext cx="2889250" cy="447675"/>
          </a:xfrm>
          <a:prstGeom prst="rect">
            <a:avLst/>
          </a:prstGeom>
          <a:noFill/>
          <a:ln w="0">
            <a:noFill/>
          </a:ln>
        </p:spPr>
        <p:txBody>
          <a:bodyPr/>
          <a:lstStyle>
            <a:defPPr>
              <a:defRPr sz="1950" b="1">
                <a:solidFill>
                  <a:srgbClr val="FFFFFF"/>
                </a:solidFill>
                <a:latin typeface="DejaVu Sans"/>
                <a:ea typeface="DejaVu Sans"/>
                <a:cs typeface="DejaVu Sans"/>
              </a:defRPr>
            </a:defPPr>
          </a:lstStyle>
          <a:p>
            <a:pPr>
              <a:defRPr sz="1950" b="1">
                <a:solidFill>
                  <a:srgbClr val="FFFFFF"/>
                </a:solidFill>
                <a:latin typeface="DejaVu Sans"/>
                <a:ea typeface="DejaVu Sans"/>
                <a:cs typeface="DejaVu Sans"/>
              </a:defRPr>
            </a:pPr>
            <a:r>
              <a:rPr sz="1950" b="1">
                <a:solidFill>
                  <a:srgbClr val="FFFFFF"/>
                </a:solidFill>
                <a:latin typeface="Calibri" panose="020F0502020204030204" charset="0"/>
                <a:ea typeface="DejaVu Sans"/>
                <a:cs typeface="Calibri" panose="020F0502020204030204" charset="0"/>
              </a:rPr>
              <a:t>Tinh bột   +   Đạm   +   Rau</a:t>
            </a:r>
            <a:endParaRPr sz="1950" b="1">
              <a:solidFill>
                <a:srgbClr val="FFFFFF"/>
              </a:solidFill>
              <a:latin typeface="Calibri" panose="020F0502020204030204" charset="0"/>
              <a:ea typeface="DejaVu Sans"/>
              <a:cs typeface="Calibri" panose="020F0502020204030204" charset="0"/>
            </a:endParaRPr>
          </a:p>
        </p:txBody>
      </p:sp>
      <p:sp>
        <p:nvSpPr>
          <p:cNvPr id="8" name="Rectangle 7"/>
          <p:cNvSpPr>
            <a:spLocks noGrp="1"/>
          </p:cNvSpPr>
          <p:nvPr/>
        </p:nvSpPr>
        <p:spPr>
          <a:xfrm>
            <a:off x="742950" y="4038600"/>
            <a:ext cx="5352415" cy="1047750"/>
          </a:xfrm>
          <a:prstGeom prst="rect">
            <a:avLst/>
          </a:prstGeom>
          <a:noFill/>
          <a:ln w="0">
            <a:noFill/>
          </a:ln>
        </p:spPr>
        <p:txBody>
          <a:bodyPr/>
          <a:lstStyle>
            <a:defPPr>
              <a:defRPr sz="1875" b="0">
                <a:solidFill>
                  <a:srgbClr val="E6EFEA"/>
                </a:solidFill>
                <a:latin typeface="DejaVu Sans"/>
                <a:ea typeface="DejaVu Sans"/>
                <a:cs typeface="DejaVu Sans"/>
              </a:defRPr>
            </a:defPPr>
          </a:lstStyle>
          <a:p>
            <a:pPr algn="just">
              <a:defRPr sz="1875" b="0">
                <a:solidFill>
                  <a:srgbClr val="E6EFEA"/>
                </a:solidFill>
                <a:latin typeface="DejaVu Sans"/>
                <a:ea typeface="DejaVu Sans"/>
                <a:cs typeface="DejaVu Sans"/>
              </a:defRPr>
            </a:pPr>
            <a:r>
              <a:rPr sz="1875" b="0">
                <a:solidFill>
                  <a:srgbClr val="E6EFEA"/>
                </a:solidFill>
                <a:latin typeface="Calibri" panose="020F0502020204030204" charset="0"/>
                <a:ea typeface="DejaVu Sans"/>
                <a:cs typeface="Calibri" panose="020F0502020204030204" charset="0"/>
              </a:rPr>
              <a:t>Mỗi tổ hợp kết hợp một nguyên liệu tinh bột, một nguyên liệu đạm và một nguyên liệu rau với định lượng khác nhau.</a:t>
            </a:r>
            <a:endParaRPr sz="1875" b="0">
              <a:solidFill>
                <a:srgbClr val="E6EFEA"/>
              </a:solidFill>
              <a:latin typeface="Calibri" panose="020F0502020204030204" charset="0"/>
              <a:ea typeface="DejaVu Sans"/>
              <a:cs typeface="Calibri" panose="020F0502020204030204" charset="0"/>
            </a:endParaRPr>
          </a:p>
        </p:txBody>
      </p:sp>
      <p:sp>
        <p:nvSpPr>
          <p:cNvPr id="9" name="Rectangle 8"/>
          <p:cNvSpPr>
            <a:spLocks noGrp="1"/>
          </p:cNvSpPr>
          <p:nvPr/>
        </p:nvSpPr>
        <p:spPr>
          <a:xfrm>
            <a:off x="742950" y="5381625"/>
            <a:ext cx="10668000" cy="457200"/>
          </a:xfrm>
          <a:prstGeom prst="rect">
            <a:avLst/>
          </a:prstGeom>
          <a:noFill/>
          <a:ln w="0">
            <a:noFill/>
          </a:ln>
        </p:spPr>
        <p:txBody>
          <a:bodyPr/>
          <a:lstStyle>
            <a:defPPr>
              <a:defRPr sz="2025" b="0">
                <a:solidFill>
                  <a:srgbClr val="E6EFEA"/>
                </a:solidFill>
                <a:latin typeface="DejaVu Sans"/>
                <a:ea typeface="DejaVu Sans"/>
                <a:cs typeface="DejaVu Sans"/>
              </a:defRPr>
            </a:defPPr>
          </a:lstStyle>
          <a:p>
            <a:pPr>
              <a:defRPr sz="2025" b="0">
                <a:solidFill>
                  <a:srgbClr val="E6EFEA"/>
                </a:solidFill>
                <a:latin typeface="DejaVu Sans"/>
                <a:ea typeface="DejaVu Sans"/>
                <a:cs typeface="DejaVu Sans"/>
              </a:defRPr>
            </a:pPr>
            <a:r>
              <a:rPr sz="2025" b="0">
                <a:solidFill>
                  <a:srgbClr val="E6EFEA"/>
                </a:solidFill>
                <a:latin typeface="Calibri" panose="020F0502020204030204" charset="0"/>
                <a:ea typeface="DejaVu Sans"/>
                <a:cs typeface="Calibri" panose="020F0502020204030204" charset="0"/>
              </a:rPr>
              <a:t>Khẩu phần: tinh bột và rau 100–250 g, đạm 150–300 g</a:t>
            </a:r>
            <a:endParaRPr sz="2025" b="0">
              <a:solidFill>
                <a:srgbClr val="E6EFEA"/>
              </a:solidFill>
              <a:latin typeface="Calibri" panose="020F0502020204030204" charset="0"/>
              <a:ea typeface="DejaVu Sans"/>
              <a:cs typeface="Calibri" panose="020F0502020204030204" charset="0"/>
            </a:endParaRPr>
          </a:p>
        </p:txBody>
      </p:sp>
      <p:sp>
        <p:nvSpPr>
          <p:cNvPr id="10" name="Rectangle 9"/>
          <p:cNvSpPr>
            <a:spLocks noGrp="1"/>
          </p:cNvSpPr>
          <p:nvPr/>
        </p:nvSpPr>
        <p:spPr>
          <a:xfrm>
            <a:off x="742950" y="5924550"/>
            <a:ext cx="10287000" cy="647700"/>
          </a:xfrm>
          <a:prstGeom prst="rect">
            <a:avLst/>
          </a:prstGeom>
          <a:noFill/>
          <a:ln w="0">
            <a:noFill/>
          </a:ln>
        </p:spPr>
        <p:txBody>
          <a:bodyPr/>
          <a:lstStyle>
            <a:defPPr>
              <a:defRPr sz="1725" b="0">
                <a:solidFill>
                  <a:srgbClr val="B4CDC1"/>
                </a:solidFill>
                <a:latin typeface="DejaVu Sans"/>
                <a:ea typeface="DejaVu Sans"/>
                <a:cs typeface="DejaVu Sans"/>
              </a:defRPr>
            </a:defPPr>
          </a:lstStyle>
          <a:p>
            <a:pPr>
              <a:defRPr sz="1725" b="0">
                <a:solidFill>
                  <a:srgbClr val="B4CDC1"/>
                </a:solidFill>
                <a:latin typeface="DejaVu Sans"/>
                <a:ea typeface="DejaVu Sans"/>
                <a:cs typeface="DejaVu Sans"/>
              </a:defRPr>
            </a:pPr>
            <a:r>
              <a:rPr sz="1725" b="0">
                <a:solidFill>
                  <a:srgbClr val="B4CDC1"/>
                </a:solidFill>
                <a:latin typeface="Calibri" panose="020F0502020204030204" charset="0"/>
                <a:ea typeface="DejaVu Sans"/>
                <a:cs typeface="Calibri" panose="020F0502020204030204" charset="0"/>
              </a:rPr>
              <a:t>Tổng mỗi chất = tổng giá trị trên 100 g × khối lượng / 100. Các tổ hợp lưu trong MenuTable để tìm kiếm.</a:t>
            </a:r>
            <a:endParaRPr sz="1725" b="0">
              <a:solidFill>
                <a:srgbClr val="B4CDC1"/>
              </a:solidFill>
              <a:latin typeface="Calibri" panose="020F0502020204030204" charset="0"/>
              <a:ea typeface="DejaVu Sans"/>
              <a:cs typeface="Calibri" panose="020F050202020403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11" name="Panel nội dung"/>
          <p:cNvSpPr>
            <a:spLocks noGrp="1"/>
          </p:cNvSpPr>
          <p:nvPr/>
        </p:nvSpPr>
        <p:spPr>
          <a:xfrm>
            <a:off x="457200" y="1485900"/>
            <a:ext cx="4476750" cy="4191000"/>
          </a:xfrm>
          <a:prstGeom prst="roundRect">
            <a:avLst>
              <a:gd name="adj" fmla="val 4091"/>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Panel nội dung"/>
          <p:cNvSpPr>
            <a:spLocks noGrp="1"/>
          </p:cNvSpPr>
          <p:nvPr/>
        </p:nvSpPr>
        <p:spPr>
          <a:xfrm>
            <a:off x="5143500" y="1485900"/>
            <a:ext cx="6486525" cy="4914900"/>
          </a:xfrm>
          <a:prstGeom prst="roundRect">
            <a:avLst>
              <a:gd name="adj" fmla="val 3488"/>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3" name="Rectangle 2"/>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Calibri" panose="020F0502020204030204" charset="0"/>
                <a:ea typeface="DejaVu Sans"/>
                <a:cs typeface="Calibri" panose="020F0502020204030204" charset="0"/>
              </a:rPr>
              <a:t>Cách so sánh nhu cầu với thực đơn</a:t>
            </a:r>
            <a:endParaRPr sz="3150" b="1">
              <a:solidFill>
                <a:srgbClr val="FFFFFF"/>
              </a:solidFill>
              <a:latin typeface="Calibri" panose="020F0502020204030204" charset="0"/>
              <a:ea typeface="DejaVu Sans"/>
              <a:cs typeface="Calibri" panose="020F0502020204030204" charset="0"/>
            </a:endParaRPr>
          </a:p>
        </p:txBody>
      </p:sp>
      <p:sp>
        <p:nvSpPr>
          <p:cNvPr id="4" name="Rectangle 3"/>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Calibri" panose="020F0502020204030204" charset="0"/>
              <a:ea typeface="DejaVu Sans"/>
              <a:cs typeface="Calibri" panose="020F0502020204030204" charset="0"/>
            </a:endParaRPr>
          </a:p>
        </p:txBody>
      </p:sp>
      <p:sp>
        <p:nvSpPr>
          <p:cNvPr id="5" name="Rectangle 4"/>
          <p:cNvSpPr>
            <a:spLocks noGrp="1"/>
          </p:cNvSpPr>
          <p:nvPr/>
        </p:nvSpPr>
        <p:spPr>
          <a:xfrm>
            <a:off x="695325" y="2476500"/>
            <a:ext cx="1476375" cy="2000250"/>
          </a:xfrm>
          <a:prstGeom prst="rect">
            <a:avLst/>
          </a:prstGeom>
          <a:noFill/>
          <a:ln w="0">
            <a:noFill/>
          </a:ln>
        </p:spPr>
        <p:txBody>
          <a:bodyPr/>
          <a:lstStyle>
            <a:defPPr>
              <a:defRPr sz="11700" b="1">
                <a:solidFill>
                  <a:srgbClr val="79D0A8"/>
                </a:solidFill>
                <a:latin typeface="DejaVu Sans"/>
                <a:ea typeface="DejaVu Sans"/>
                <a:cs typeface="DejaVu Sans"/>
              </a:defRPr>
            </a:defPPr>
          </a:lstStyle>
          <a:p>
            <a:pPr>
              <a:defRPr sz="11700" b="1">
                <a:solidFill>
                  <a:srgbClr val="79D0A8"/>
                </a:solidFill>
                <a:latin typeface="DejaVu Sans"/>
                <a:ea typeface="DejaVu Sans"/>
                <a:cs typeface="DejaVu Sans"/>
              </a:defRPr>
            </a:pPr>
            <a:r>
              <a:rPr sz="11700" b="1">
                <a:solidFill>
                  <a:srgbClr val="79D0A8"/>
                </a:solidFill>
                <a:latin typeface="Calibri" panose="020F0502020204030204" charset="0"/>
                <a:ea typeface="DejaVu Sans"/>
                <a:cs typeface="Calibri" panose="020F0502020204030204" charset="0"/>
              </a:rPr>
              <a:t>4</a:t>
            </a:r>
            <a:endParaRPr sz="11700" b="1">
              <a:solidFill>
                <a:srgbClr val="79D0A8"/>
              </a:solidFill>
              <a:latin typeface="Calibri" panose="020F0502020204030204" charset="0"/>
              <a:ea typeface="DejaVu Sans"/>
              <a:cs typeface="Calibri" panose="020F0502020204030204" charset="0"/>
            </a:endParaRPr>
          </a:p>
        </p:txBody>
      </p:sp>
      <p:sp>
        <p:nvSpPr>
          <p:cNvPr id="6" name="Rectangle 5"/>
          <p:cNvSpPr>
            <a:spLocks noGrp="1"/>
          </p:cNvSpPr>
          <p:nvPr/>
        </p:nvSpPr>
        <p:spPr>
          <a:xfrm>
            <a:off x="2152650" y="3181350"/>
            <a:ext cx="2609850" cy="762000"/>
          </a:xfrm>
          <a:prstGeom prst="rect">
            <a:avLst/>
          </a:prstGeom>
          <a:noFill/>
          <a:ln w="0">
            <a:noFill/>
          </a:ln>
        </p:spPr>
        <p:txBody>
          <a:bodyPr/>
          <a:lstStyle>
            <a:defPPr>
              <a:defRPr sz="2400" b="1">
                <a:solidFill>
                  <a:srgbClr val="FFFFFF"/>
                </a:solidFill>
                <a:latin typeface="DejaVu Sans"/>
                <a:ea typeface="DejaVu Sans"/>
                <a:cs typeface="DejaVu Sans"/>
              </a:defRPr>
            </a:defPPr>
          </a:lstStyle>
          <a:p>
            <a:pPr>
              <a:defRPr sz="2400" b="1">
                <a:solidFill>
                  <a:srgbClr val="FFFFFF"/>
                </a:solidFill>
                <a:latin typeface="DejaVu Sans"/>
                <a:ea typeface="DejaVu Sans"/>
                <a:cs typeface="DejaVu Sans"/>
              </a:defRPr>
            </a:pPr>
            <a:r>
              <a:rPr sz="2400" b="1">
                <a:solidFill>
                  <a:srgbClr val="FFFFFF"/>
                </a:solidFill>
                <a:latin typeface="Calibri" panose="020F0502020204030204" charset="0"/>
                <a:ea typeface="DejaVu Sans"/>
                <a:cs typeface="Calibri" panose="020F0502020204030204" charset="0"/>
              </a:rPr>
              <a:t>ĐẶC TRƯNG</a:t>
            </a:r>
            <a:endParaRPr sz="2400" b="1">
              <a:solidFill>
                <a:srgbClr val="FFFFFF"/>
              </a:solidFill>
              <a:latin typeface="Calibri" panose="020F0502020204030204" charset="0"/>
              <a:ea typeface="DejaVu Sans"/>
              <a:cs typeface="Calibri" panose="020F0502020204030204" charset="0"/>
            </a:endParaRPr>
          </a:p>
        </p:txBody>
      </p:sp>
      <p:sp>
        <p:nvSpPr>
          <p:cNvPr id="7" name="Rectangle 6"/>
          <p:cNvSpPr>
            <a:spLocks noGrp="1"/>
          </p:cNvSpPr>
          <p:nvPr/>
        </p:nvSpPr>
        <p:spPr>
          <a:xfrm>
            <a:off x="5334000" y="1828800"/>
            <a:ext cx="6134100" cy="647700"/>
          </a:xfrm>
          <a:prstGeom prst="rect">
            <a:avLst/>
          </a:prstGeom>
          <a:noFill/>
          <a:ln w="0">
            <a:noFill/>
          </a:ln>
        </p:spPr>
        <p:txBody>
          <a:bodyPr/>
          <a:lstStyle>
            <a:defPPr>
              <a:defRPr sz="2400" b="1">
                <a:solidFill>
                  <a:srgbClr val="FFFFFF"/>
                </a:solidFill>
                <a:latin typeface="DejaVu Sans"/>
                <a:ea typeface="DejaVu Sans"/>
                <a:cs typeface="DejaVu Sans"/>
              </a:defRPr>
            </a:defPPr>
          </a:lstStyle>
          <a:p>
            <a:pPr>
              <a:defRPr sz="2400" b="1">
                <a:solidFill>
                  <a:srgbClr val="FFFFFF"/>
                </a:solidFill>
                <a:latin typeface="DejaVu Sans"/>
                <a:ea typeface="DejaVu Sans"/>
                <a:cs typeface="DejaVu Sans"/>
              </a:defRPr>
            </a:pPr>
            <a:r>
              <a:rPr sz="2400" b="1">
                <a:solidFill>
                  <a:srgbClr val="FFFFFF"/>
                </a:solidFill>
                <a:latin typeface="Calibri" panose="020F0502020204030204" charset="0"/>
                <a:ea typeface="DejaVu Sans"/>
                <a:cs typeface="Calibri" panose="020F0502020204030204" charset="0"/>
              </a:rPr>
              <a:t>Calories   Protein   Carb   Fat</a:t>
            </a:r>
            <a:endParaRPr sz="2400" b="1">
              <a:solidFill>
                <a:srgbClr val="FFFFFF"/>
              </a:solidFill>
              <a:latin typeface="Calibri" panose="020F0502020204030204" charset="0"/>
              <a:ea typeface="DejaVu Sans"/>
              <a:cs typeface="Calibri" panose="020F0502020204030204" charset="0"/>
            </a:endParaRPr>
          </a:p>
        </p:txBody>
      </p:sp>
      <p:sp>
        <p:nvSpPr>
          <p:cNvPr id="8" name="Rectangle 7"/>
          <p:cNvSpPr>
            <a:spLocks noGrp="1"/>
          </p:cNvSpPr>
          <p:nvPr/>
        </p:nvSpPr>
        <p:spPr>
          <a:xfrm>
            <a:off x="5334000" y="3295650"/>
            <a:ext cx="6096000" cy="762000"/>
          </a:xfrm>
          <a:prstGeom prst="rect">
            <a:avLst/>
          </a:prstGeom>
          <a:noFill/>
          <a:ln w="0">
            <a:noFill/>
          </a:ln>
        </p:spPr>
        <p:txBody>
          <a:bodyPr/>
          <a:lstStyle>
            <a:defPPr>
              <a:defRPr sz="3150" b="1">
                <a:solidFill>
                  <a:srgbClr val="79D0A8"/>
                </a:solidFill>
                <a:latin typeface="DejaVu Sans"/>
                <a:ea typeface="DejaVu Sans"/>
                <a:cs typeface="DejaVu Sans"/>
              </a:defRPr>
            </a:defPPr>
          </a:lstStyle>
          <a:p>
            <a:pPr>
              <a:defRPr sz="3150" b="1">
                <a:solidFill>
                  <a:srgbClr val="79D0A8"/>
                </a:solidFill>
                <a:latin typeface="DejaVu Sans"/>
                <a:ea typeface="DejaVu Sans"/>
                <a:cs typeface="DejaVu Sans"/>
              </a:defRPr>
            </a:pPr>
            <a:r>
              <a:rPr sz="3150" b="1">
                <a:solidFill>
                  <a:srgbClr val="79D0A8"/>
                </a:solidFill>
                <a:latin typeface="Calibri" panose="020F0502020204030204" charset="0"/>
                <a:ea typeface="DejaVu Sans"/>
                <a:cs typeface="Calibri" panose="020F0502020204030204" charset="0"/>
              </a:rPr>
              <a:t>zⱼ = (xⱼ − μⱼ) / σⱼ</a:t>
            </a:r>
            <a:endParaRPr sz="3150" b="1">
              <a:solidFill>
                <a:srgbClr val="79D0A8"/>
              </a:solidFill>
              <a:latin typeface="Calibri" panose="020F0502020204030204" charset="0"/>
              <a:ea typeface="DejaVu Sans"/>
              <a:cs typeface="Calibri" panose="020F0502020204030204" charset="0"/>
            </a:endParaRPr>
          </a:p>
        </p:txBody>
      </p:sp>
      <p:sp>
        <p:nvSpPr>
          <p:cNvPr id="9" name="Rectangle 8"/>
          <p:cNvSpPr>
            <a:spLocks noGrp="1"/>
          </p:cNvSpPr>
          <p:nvPr/>
        </p:nvSpPr>
        <p:spPr>
          <a:xfrm>
            <a:off x="5334000" y="4476750"/>
            <a:ext cx="6096000" cy="1323975"/>
          </a:xfrm>
          <a:prstGeom prst="rect">
            <a:avLst/>
          </a:prstGeom>
          <a:noFill/>
          <a:ln w="0">
            <a:noFill/>
          </a:ln>
        </p:spPr>
        <p:txBody>
          <a:bodyPr/>
          <a:lstStyle>
            <a:defPPr>
              <a:defRPr sz="1950" b="0">
                <a:solidFill>
                  <a:srgbClr val="E6EFEA"/>
                </a:solidFill>
                <a:latin typeface="DejaVu Sans"/>
                <a:ea typeface="DejaVu Sans"/>
                <a:cs typeface="DejaVu Sans"/>
              </a:defRPr>
            </a:defPPr>
          </a:lstStyle>
          <a:p>
            <a:pPr>
              <a:defRPr sz="1950" b="0">
                <a:solidFill>
                  <a:srgbClr val="E6EFEA"/>
                </a:solidFill>
                <a:latin typeface="DejaVu Sans"/>
                <a:ea typeface="DejaVu Sans"/>
                <a:cs typeface="DejaVu Sans"/>
              </a:defRPr>
            </a:pPr>
            <a:r>
              <a:rPr sz="1950" b="0">
                <a:solidFill>
                  <a:srgbClr val="E6EFEA"/>
                </a:solidFill>
                <a:latin typeface="Calibri" panose="020F0502020204030204" charset="0"/>
                <a:ea typeface="DejaVu Sans"/>
                <a:cs typeface="Calibri" panose="020F0502020204030204" charset="0"/>
              </a:rPr>
              <a:t>Calories có giá trị lớn hơn các chất đa lượng. Nhóm chuẩn hóa cả nhu cầu và thực đơn bằng cùng StandardScaler để so sánh bốn chỉ số trên thang đo tương đương.</a:t>
            </a:r>
            <a:endParaRPr sz="1950" b="0">
              <a:solidFill>
                <a:srgbClr val="E6EFEA"/>
              </a:solidFill>
              <a:latin typeface="Calibri" panose="020F0502020204030204" charset="0"/>
              <a:ea typeface="DejaVu Sans"/>
              <a:cs typeface="Calibri" panose="020F0502020204030204" charset="0"/>
            </a:endParaRPr>
          </a:p>
        </p:txBody>
      </p:sp>
      <p:sp>
        <p:nvSpPr>
          <p:cNvPr id="10" name="Rectangle 9"/>
          <p:cNvSpPr>
            <a:spLocks noGrp="1"/>
          </p:cNvSpPr>
          <p:nvPr/>
        </p:nvSpPr>
        <p:spPr>
          <a:xfrm>
            <a:off x="5334000" y="5924550"/>
            <a:ext cx="6096000" cy="400050"/>
          </a:xfrm>
          <a:prstGeom prst="rect">
            <a:avLst/>
          </a:prstGeom>
          <a:noFill/>
          <a:ln w="0">
            <a:noFill/>
          </a:ln>
        </p:spPr>
        <p:txBody>
          <a:bodyPr/>
          <a:lstStyle>
            <a:defPPr>
              <a:defRPr sz="1650" b="0">
                <a:solidFill>
                  <a:srgbClr val="B4CDC1"/>
                </a:solidFill>
                <a:latin typeface="DejaVu Sans"/>
                <a:ea typeface="DejaVu Sans"/>
                <a:cs typeface="DejaVu Sans"/>
              </a:defRPr>
            </a:defPPr>
          </a:lstStyle>
          <a:p>
            <a:pPr>
              <a:defRPr sz="1650" b="0">
                <a:solidFill>
                  <a:srgbClr val="B4CDC1"/>
                </a:solidFill>
                <a:latin typeface="DejaVu Sans"/>
                <a:ea typeface="DejaVu Sans"/>
                <a:cs typeface="DejaVu Sans"/>
              </a:defRPr>
            </a:pPr>
            <a:r>
              <a:rPr sz="1650" b="0">
                <a:solidFill>
                  <a:srgbClr val="B4CDC1"/>
                </a:solidFill>
                <a:latin typeface="Calibri" panose="020F0502020204030204" charset="0"/>
                <a:ea typeface="DejaVu Sans"/>
                <a:cs typeface="Calibri" panose="020F0502020204030204" charset="0"/>
              </a:rPr>
              <a:t>μⱼ: trung bình     σⱼ: độ lệch chuẩn</a:t>
            </a:r>
            <a:endParaRPr sz="1650" b="0">
              <a:solidFill>
                <a:srgbClr val="B4CDC1"/>
              </a:solidFill>
              <a:latin typeface="Calibri" panose="020F0502020204030204" charset="0"/>
              <a:ea typeface="DejaVu Sans"/>
              <a:cs typeface="Calibri" panose="020F050202020403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9" name="Panel nội dung"/>
          <p:cNvSpPr>
            <a:spLocks noGrp="1"/>
          </p:cNvSpPr>
          <p:nvPr/>
        </p:nvSpPr>
        <p:spPr>
          <a:xfrm>
            <a:off x="457200" y="1400175"/>
            <a:ext cx="11249025" cy="5143500"/>
          </a:xfrm>
          <a:prstGeom prst="roundRect">
            <a:avLst>
              <a:gd name="adj" fmla="val 3333"/>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Rectangle 1"/>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Calibri" panose="020F0502020204030204" charset="0"/>
                <a:ea typeface="DejaVu Sans"/>
                <a:cs typeface="Calibri" panose="020F0502020204030204" charset="0"/>
              </a:rPr>
              <a:t>Từ thể trạng đến mục tiêu dinh dưỡng</a:t>
            </a:r>
            <a:endParaRPr sz="3150" b="1">
              <a:solidFill>
                <a:srgbClr val="FFFFFF"/>
              </a:solidFill>
              <a:latin typeface="Calibri" panose="020F0502020204030204" charset="0"/>
              <a:ea typeface="DejaVu Sans"/>
              <a:cs typeface="Calibri" panose="020F0502020204030204" charset="0"/>
            </a:endParaRPr>
          </a:p>
        </p:txBody>
      </p:sp>
      <p:sp>
        <p:nvSpPr>
          <p:cNvPr id="3" name="Rectangle 2"/>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Calibri" panose="020F0502020204030204" charset="0"/>
              <a:ea typeface="DejaVu Sans"/>
              <a:cs typeface="Calibri" panose="020F0502020204030204" charset="0"/>
            </a:endParaRPr>
          </a:p>
        </p:txBody>
      </p:sp>
      <p:sp>
        <p:nvSpPr>
          <p:cNvPr id="4" name="Rectangle 3"/>
          <p:cNvSpPr>
            <a:spLocks noGrp="1"/>
          </p:cNvSpPr>
          <p:nvPr/>
        </p:nvSpPr>
        <p:spPr>
          <a:xfrm>
            <a:off x="742950" y="1685925"/>
            <a:ext cx="10382250" cy="504825"/>
          </a:xfrm>
          <a:prstGeom prst="rect">
            <a:avLst/>
          </a:prstGeom>
          <a:noFill/>
          <a:ln w="0">
            <a:noFill/>
          </a:ln>
        </p:spPr>
        <p:txBody>
          <a:bodyPr/>
          <a:lstStyle>
            <a:defPPr>
              <a:defRPr sz="2475" b="1">
                <a:solidFill>
                  <a:srgbClr val="79D0A8"/>
                </a:solidFill>
                <a:latin typeface="DejaVu Sans"/>
                <a:ea typeface="DejaVu Sans"/>
                <a:cs typeface="DejaVu Sans"/>
              </a:defRPr>
            </a:defPPr>
          </a:lstStyle>
          <a:p>
            <a:pPr>
              <a:defRPr sz="2475" b="1">
                <a:solidFill>
                  <a:srgbClr val="79D0A8"/>
                </a:solidFill>
                <a:latin typeface="DejaVu Sans"/>
                <a:ea typeface="DejaVu Sans"/>
                <a:cs typeface="DejaVu Sans"/>
              </a:defRPr>
            </a:pPr>
            <a:r>
              <a:rPr sz="2475" b="1">
                <a:solidFill>
                  <a:srgbClr val="79D0A8"/>
                </a:solidFill>
                <a:latin typeface="Calibri" panose="020F0502020204030204" charset="0"/>
                <a:ea typeface="DejaVu Sans"/>
                <a:cs typeface="Calibri" panose="020F0502020204030204" charset="0"/>
              </a:rPr>
              <a:t>Thông tin cá nhân</a:t>
            </a:r>
            <a:endParaRPr sz="2475" b="1">
              <a:solidFill>
                <a:srgbClr val="79D0A8"/>
              </a:solidFill>
              <a:latin typeface="Calibri" panose="020F0502020204030204" charset="0"/>
              <a:ea typeface="DejaVu Sans"/>
              <a:cs typeface="Calibri" panose="020F0502020204030204" charset="0"/>
            </a:endParaRPr>
          </a:p>
        </p:txBody>
      </p:sp>
      <p:sp>
        <p:nvSpPr>
          <p:cNvPr id="5" name="Rectangle 4"/>
          <p:cNvSpPr>
            <a:spLocks noGrp="1"/>
          </p:cNvSpPr>
          <p:nvPr/>
        </p:nvSpPr>
        <p:spPr>
          <a:xfrm>
            <a:off x="742950" y="2400300"/>
            <a:ext cx="10118090" cy="895350"/>
          </a:xfrm>
          <a:prstGeom prst="rect">
            <a:avLst/>
          </a:prstGeom>
          <a:noFill/>
          <a:ln w="0">
            <a:noFill/>
          </a:ln>
        </p:spPr>
        <p:txBody>
          <a:bodyPr/>
          <a:lstStyle>
            <a:defPPr>
              <a:defRPr sz="2175" b="0">
                <a:solidFill>
                  <a:srgbClr val="E6EFEA"/>
                </a:solidFill>
                <a:latin typeface="DejaVu Sans"/>
                <a:ea typeface="DejaVu Sans"/>
                <a:cs typeface="DejaVu Sans"/>
              </a:defRPr>
            </a:defPPr>
          </a:lstStyle>
          <a:p>
            <a:pPr algn="just">
              <a:defRPr sz="2175" b="0">
                <a:solidFill>
                  <a:srgbClr val="E6EFEA"/>
                </a:solidFill>
                <a:latin typeface="DejaVu Sans"/>
                <a:ea typeface="DejaVu Sans"/>
                <a:cs typeface="DejaVu Sans"/>
              </a:defRPr>
            </a:pPr>
            <a:r>
              <a:rPr sz="2175" b="0">
                <a:solidFill>
                  <a:srgbClr val="E6EFEA"/>
                </a:solidFill>
                <a:latin typeface="Calibri" panose="020F0502020204030204" charset="0"/>
                <a:ea typeface="DejaVu Sans"/>
                <a:cs typeface="Calibri" panose="020F0502020204030204" charset="0"/>
              </a:rPr>
              <a:t>Tuổi, giới tính, chiều cao và cân nặng giúp tính mức chuyển hóa cơ bản BMR. Mức vận động giúp ước lượng nhu cầu năng lượng trong ngày.</a:t>
            </a:r>
            <a:endParaRPr sz="2175" b="0">
              <a:solidFill>
                <a:srgbClr val="E6EFEA"/>
              </a:solidFill>
              <a:latin typeface="Calibri" panose="020F0502020204030204" charset="0"/>
              <a:ea typeface="DejaVu Sans"/>
              <a:cs typeface="Calibri" panose="020F0502020204030204" charset="0"/>
            </a:endParaRPr>
          </a:p>
        </p:txBody>
      </p:sp>
      <p:sp>
        <p:nvSpPr>
          <p:cNvPr id="6" name="Rectangle 5"/>
          <p:cNvSpPr>
            <a:spLocks noGrp="1"/>
          </p:cNvSpPr>
          <p:nvPr/>
        </p:nvSpPr>
        <p:spPr>
          <a:xfrm>
            <a:off x="742950" y="3629025"/>
            <a:ext cx="10382250" cy="64770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Calibri" panose="020F0502020204030204" charset="0"/>
                <a:ea typeface="DejaVu Sans"/>
                <a:cs typeface="Calibri" panose="020F0502020204030204" charset="0"/>
              </a:rPr>
              <a:t>TDEE = BMR × hệ số vận động</a:t>
            </a:r>
            <a:endParaRPr sz="3150" b="1">
              <a:solidFill>
                <a:srgbClr val="FFFFFF"/>
              </a:solidFill>
              <a:latin typeface="Calibri" panose="020F0502020204030204" charset="0"/>
              <a:ea typeface="DejaVu Sans"/>
              <a:cs typeface="Calibri" panose="020F0502020204030204" charset="0"/>
            </a:endParaRPr>
          </a:p>
        </p:txBody>
      </p:sp>
      <p:sp>
        <p:nvSpPr>
          <p:cNvPr id="7" name="Rectangle 6"/>
          <p:cNvSpPr>
            <a:spLocks noGrp="1"/>
          </p:cNvSpPr>
          <p:nvPr/>
        </p:nvSpPr>
        <p:spPr>
          <a:xfrm>
            <a:off x="742950" y="4629150"/>
            <a:ext cx="10382250" cy="504825"/>
          </a:xfrm>
          <a:prstGeom prst="rect">
            <a:avLst/>
          </a:prstGeom>
          <a:noFill/>
          <a:ln w="0">
            <a:noFill/>
          </a:ln>
        </p:spPr>
        <p:txBody>
          <a:bodyPr/>
          <a:lstStyle>
            <a:defPPr>
              <a:defRPr sz="2400" b="1">
                <a:solidFill>
                  <a:srgbClr val="79D0A8"/>
                </a:solidFill>
                <a:latin typeface="DejaVu Sans"/>
                <a:ea typeface="DejaVu Sans"/>
                <a:cs typeface="DejaVu Sans"/>
              </a:defRPr>
            </a:defPPr>
          </a:lstStyle>
          <a:p>
            <a:pPr>
              <a:defRPr sz="2400" b="1">
                <a:solidFill>
                  <a:srgbClr val="79D0A8"/>
                </a:solidFill>
                <a:latin typeface="DejaVu Sans"/>
                <a:ea typeface="DejaVu Sans"/>
                <a:cs typeface="DejaVu Sans"/>
              </a:defRPr>
            </a:pPr>
            <a:r>
              <a:rPr sz="2400" b="1">
                <a:solidFill>
                  <a:srgbClr val="79D0A8"/>
                </a:solidFill>
                <a:latin typeface="Calibri" panose="020F0502020204030204" charset="0"/>
                <a:ea typeface="DejaVu Sans"/>
                <a:cs typeface="Calibri" panose="020F0502020204030204" charset="0"/>
              </a:rPr>
              <a:t>Điều chỉnh theo mục tiêu tập luyện</a:t>
            </a:r>
            <a:endParaRPr sz="2400" b="1">
              <a:solidFill>
                <a:srgbClr val="79D0A8"/>
              </a:solidFill>
              <a:latin typeface="Calibri" panose="020F0502020204030204" charset="0"/>
              <a:ea typeface="DejaVu Sans"/>
              <a:cs typeface="Calibri" panose="020F0502020204030204" charset="0"/>
            </a:endParaRPr>
          </a:p>
        </p:txBody>
      </p:sp>
      <p:sp>
        <p:nvSpPr>
          <p:cNvPr id="8" name="Rectangle 7"/>
          <p:cNvSpPr>
            <a:spLocks noGrp="1"/>
          </p:cNvSpPr>
          <p:nvPr/>
        </p:nvSpPr>
        <p:spPr>
          <a:xfrm>
            <a:off x="742950" y="5381625"/>
            <a:ext cx="10117455" cy="914400"/>
          </a:xfrm>
          <a:prstGeom prst="rect">
            <a:avLst/>
          </a:prstGeom>
          <a:noFill/>
          <a:ln w="0">
            <a:noFill/>
          </a:ln>
        </p:spPr>
        <p:txBody>
          <a:bodyPr/>
          <a:lstStyle>
            <a:defPPr>
              <a:defRPr sz="2100" b="0">
                <a:solidFill>
                  <a:srgbClr val="E6EFEA"/>
                </a:solidFill>
                <a:latin typeface="DejaVu Sans"/>
                <a:ea typeface="DejaVu Sans"/>
                <a:cs typeface="DejaVu Sans"/>
              </a:defRPr>
            </a:defPPr>
          </a:lstStyle>
          <a:p>
            <a:pPr algn="just">
              <a:defRPr sz="2100" b="0">
                <a:solidFill>
                  <a:srgbClr val="E6EFEA"/>
                </a:solidFill>
                <a:latin typeface="DejaVu Sans"/>
                <a:ea typeface="DejaVu Sans"/>
                <a:cs typeface="DejaVu Sans"/>
              </a:defRPr>
            </a:pPr>
            <a:r>
              <a:rPr sz="2100" b="0">
                <a:solidFill>
                  <a:srgbClr val="E6EFEA"/>
                </a:solidFill>
                <a:latin typeface="Calibri" panose="020F0502020204030204" charset="0"/>
                <a:ea typeface="DejaVu Sans"/>
                <a:cs typeface="Calibri" panose="020F0502020204030204" charset="0"/>
              </a:rPr>
              <a:t>Hệ thống điều chỉnh năng lượng theo mục tiêu tăng cơ, giảm mỡ hoặc giữ dáng, rồi chuyển sang nhu cầu Protein, Carb và Fat cho mỗi bữa.</a:t>
            </a:r>
            <a:endParaRPr sz="2100" b="0">
              <a:solidFill>
                <a:srgbClr val="E6EFEA"/>
              </a:solidFill>
              <a:latin typeface="Calibri" panose="020F0502020204030204" charset="0"/>
              <a:ea typeface="DejaVu Sans"/>
              <a:cs typeface="Calibri" panose="020F0502020204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7" name="Panel nội dung"/>
          <p:cNvSpPr>
            <a:spLocks noGrp="1"/>
          </p:cNvSpPr>
          <p:nvPr/>
        </p:nvSpPr>
        <p:spPr>
          <a:xfrm>
            <a:off x="457200" y="1400175"/>
            <a:ext cx="11249025" cy="3971925"/>
          </a:xfrm>
          <a:prstGeom prst="roundRect">
            <a:avLst>
              <a:gd name="adj" fmla="val 3333"/>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Rectangle 1"/>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Calibri" panose="020F0502020204030204" charset="0"/>
                <a:ea typeface="DejaVu Sans"/>
                <a:cs typeface="Calibri" panose="020F0502020204030204" charset="0"/>
              </a:rPr>
              <a:t>Mục tiêu dinh dưỡng cho mỗi bữa</a:t>
            </a:r>
            <a:endParaRPr sz="3150" b="1">
              <a:solidFill>
                <a:srgbClr val="FFFFFF"/>
              </a:solidFill>
              <a:latin typeface="Calibri" panose="020F0502020204030204" charset="0"/>
              <a:ea typeface="DejaVu Sans"/>
              <a:cs typeface="Calibri" panose="020F0502020204030204" charset="0"/>
            </a:endParaRPr>
          </a:p>
        </p:txBody>
      </p:sp>
      <p:sp>
        <p:nvSpPr>
          <p:cNvPr id="3" name="Rectangle 2"/>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DejaVu Sans"/>
              <a:ea typeface="DejaVu Sans"/>
              <a:cs typeface="DejaVu Sans"/>
            </a:endParaRPr>
          </a:p>
        </p:txBody>
      </p:sp>
      <p:graphicFrame>
        <p:nvGraphicFramePr>
          <p:cNvPr id="4" name="Table 3"/>
          <p:cNvGraphicFramePr/>
          <p:nvPr/>
        </p:nvGraphicFramePr>
        <p:xfrm>
          <a:off x="666750" y="1685925"/>
          <a:ext cx="10763250" cy="2667000"/>
        </p:xfrm>
        <a:graphic>
          <a:graphicData uri="http://schemas.openxmlformats.org/drawingml/2006/table">
            <a:tbl>
              <a:tblPr/>
              <a:tblGrid>
                <a:gridCol w="3619500"/>
                <a:gridCol w="2381250"/>
                <a:gridCol w="2381250"/>
                <a:gridCol w="2381250"/>
              </a:tblGrid>
              <a:tr h="666750">
                <a:tc>
                  <a:txBody>
                    <a:bodyPr/>
                    <a:lstStyle/>
                    <a:p>
                      <a:r>
                        <a:rPr sz="1800" b="1">
                          <a:solidFill>
                            <a:srgbClr val="FFFFFF"/>
                          </a:solidFill>
                          <a:latin typeface="Calibri" panose="020F0502020204030204" charset="0"/>
                          <a:ea typeface="DejaVu Sans"/>
                          <a:cs typeface="Calibri" panose="020F0502020204030204" charset="0"/>
                        </a:rPr>
                        <a:t>Mục tiêu</a:t>
                      </a:r>
                      <a:endParaRPr sz="1800" b="1">
                        <a:solidFill>
                          <a:srgbClr val="FFFFFF"/>
                        </a:solidFill>
                        <a:latin typeface="Calibri" panose="020F0502020204030204" charset="0"/>
                        <a:ea typeface="DejaVu Sans"/>
                        <a:cs typeface="Calibri" panose="020F0502020204030204" charset="0"/>
                      </a:endParaRPr>
                    </a:p>
                  </a:txBody>
                  <a:tcPr>
                    <a:solidFill>
                      <a:srgbClr val="23604F"/>
                    </a:solidFill>
                  </a:tcPr>
                </a:tc>
                <a:tc>
                  <a:txBody>
                    <a:bodyPr/>
                    <a:lstStyle/>
                    <a:p>
                      <a:r>
                        <a:rPr sz="1800" b="1">
                          <a:solidFill>
                            <a:srgbClr val="FFFFFF"/>
                          </a:solidFill>
                          <a:latin typeface="Calibri" panose="020F0502020204030204" charset="0"/>
                          <a:ea typeface="DejaVu Sans"/>
                          <a:cs typeface="Calibri" panose="020F0502020204030204" charset="0"/>
                        </a:rPr>
                        <a:t>Protein</a:t>
                      </a:r>
                      <a:endParaRPr sz="1800" b="1">
                        <a:solidFill>
                          <a:srgbClr val="FFFFFF"/>
                        </a:solidFill>
                        <a:latin typeface="Calibri" panose="020F0502020204030204" charset="0"/>
                        <a:ea typeface="DejaVu Sans"/>
                        <a:cs typeface="Calibri" panose="020F0502020204030204" charset="0"/>
                      </a:endParaRPr>
                    </a:p>
                  </a:txBody>
                  <a:tcPr>
                    <a:solidFill>
                      <a:srgbClr val="23604F"/>
                    </a:solidFill>
                  </a:tcPr>
                </a:tc>
                <a:tc>
                  <a:txBody>
                    <a:bodyPr/>
                    <a:lstStyle/>
                    <a:p>
                      <a:r>
                        <a:rPr sz="1800" b="1">
                          <a:solidFill>
                            <a:srgbClr val="FFFFFF"/>
                          </a:solidFill>
                          <a:latin typeface="Calibri" panose="020F0502020204030204" charset="0"/>
                          <a:ea typeface="DejaVu Sans"/>
                          <a:cs typeface="Calibri" panose="020F0502020204030204" charset="0"/>
                        </a:rPr>
                        <a:t>Carb</a:t>
                      </a:r>
                      <a:endParaRPr sz="1800" b="1">
                        <a:solidFill>
                          <a:srgbClr val="FFFFFF"/>
                        </a:solidFill>
                        <a:latin typeface="Calibri" panose="020F0502020204030204" charset="0"/>
                        <a:ea typeface="DejaVu Sans"/>
                        <a:cs typeface="Calibri" panose="020F0502020204030204" charset="0"/>
                      </a:endParaRPr>
                    </a:p>
                  </a:txBody>
                  <a:tcPr>
                    <a:solidFill>
                      <a:srgbClr val="23604F"/>
                    </a:solidFill>
                  </a:tcPr>
                </a:tc>
                <a:tc>
                  <a:txBody>
                    <a:bodyPr/>
                    <a:lstStyle/>
                    <a:p>
                      <a:r>
                        <a:rPr sz="1800" b="1">
                          <a:solidFill>
                            <a:srgbClr val="FFFFFF"/>
                          </a:solidFill>
                          <a:latin typeface="Calibri" panose="020F0502020204030204" charset="0"/>
                          <a:ea typeface="DejaVu Sans"/>
                          <a:cs typeface="Calibri" panose="020F0502020204030204" charset="0"/>
                        </a:rPr>
                        <a:t>Fat</a:t>
                      </a:r>
                      <a:endParaRPr sz="1800" b="1">
                        <a:solidFill>
                          <a:srgbClr val="FFFFFF"/>
                        </a:solidFill>
                        <a:latin typeface="Calibri" panose="020F0502020204030204" charset="0"/>
                        <a:ea typeface="DejaVu Sans"/>
                        <a:cs typeface="Calibri" panose="020F0502020204030204" charset="0"/>
                      </a:endParaRPr>
                    </a:p>
                  </a:txBody>
                  <a:tcPr>
                    <a:solidFill>
                      <a:srgbClr val="23604F"/>
                    </a:solidFill>
                  </a:tcPr>
                </a:tc>
              </a:tr>
              <a:tr h="666750">
                <a:tc>
                  <a:txBody>
                    <a:bodyPr/>
                    <a:lstStyle/>
                    <a:p>
                      <a:r>
                        <a:rPr sz="1800" b="0">
                          <a:solidFill>
                            <a:srgbClr val="E6EFEA"/>
                          </a:solidFill>
                          <a:latin typeface="Calibri" panose="020F0502020204030204" charset="0"/>
                          <a:ea typeface="DejaVu Sans"/>
                          <a:cs typeface="Calibri" panose="020F0502020204030204" charset="0"/>
                        </a:rPr>
                        <a:t>Tăng cơ</a:t>
                      </a:r>
                      <a:endParaRPr sz="1800" b="0">
                        <a:solidFill>
                          <a:srgbClr val="E6EFEA"/>
                        </a:solidFill>
                        <a:latin typeface="Calibri" panose="020F0502020204030204" charset="0"/>
                        <a:ea typeface="DejaVu Sans"/>
                        <a:cs typeface="Calibri" panose="020F0502020204030204" charset="0"/>
                      </a:endParaRPr>
                    </a:p>
                  </a:txBody>
                  <a:tcPr>
                    <a:solidFill>
                      <a:srgbClr val="174A3D"/>
                    </a:solidFill>
                  </a:tcPr>
                </a:tc>
                <a:tc>
                  <a:txBody>
                    <a:bodyPr/>
                    <a:lstStyle/>
                    <a:p>
                      <a:r>
                        <a:rPr sz="1800" b="0">
                          <a:solidFill>
                            <a:srgbClr val="E6EFEA"/>
                          </a:solidFill>
                          <a:latin typeface="Calibri" panose="020F0502020204030204" charset="0"/>
                          <a:ea typeface="DejaVu Sans"/>
                          <a:cs typeface="Calibri" panose="020F0502020204030204" charset="0"/>
                        </a:rPr>
                        <a:t>30%</a:t>
                      </a:r>
                      <a:endParaRPr sz="1800" b="0">
                        <a:solidFill>
                          <a:srgbClr val="E6EFEA"/>
                        </a:solidFill>
                        <a:latin typeface="Calibri" panose="020F0502020204030204" charset="0"/>
                        <a:ea typeface="DejaVu Sans"/>
                        <a:cs typeface="Calibri" panose="020F0502020204030204" charset="0"/>
                      </a:endParaRPr>
                    </a:p>
                  </a:txBody>
                  <a:tcPr>
                    <a:solidFill>
                      <a:srgbClr val="174A3D"/>
                    </a:solidFill>
                  </a:tcPr>
                </a:tc>
                <a:tc>
                  <a:txBody>
                    <a:bodyPr/>
                    <a:lstStyle/>
                    <a:p>
                      <a:r>
                        <a:rPr sz="1800" b="0">
                          <a:solidFill>
                            <a:srgbClr val="E6EFEA"/>
                          </a:solidFill>
                          <a:latin typeface="Calibri" panose="020F0502020204030204" charset="0"/>
                          <a:ea typeface="DejaVu Sans"/>
                          <a:cs typeface="Calibri" panose="020F0502020204030204" charset="0"/>
                        </a:rPr>
                        <a:t>50%</a:t>
                      </a:r>
                      <a:endParaRPr sz="1800" b="0">
                        <a:solidFill>
                          <a:srgbClr val="E6EFEA"/>
                        </a:solidFill>
                        <a:latin typeface="Calibri" panose="020F0502020204030204" charset="0"/>
                        <a:ea typeface="DejaVu Sans"/>
                        <a:cs typeface="Calibri" panose="020F0502020204030204" charset="0"/>
                      </a:endParaRPr>
                    </a:p>
                  </a:txBody>
                  <a:tcPr>
                    <a:solidFill>
                      <a:srgbClr val="174A3D"/>
                    </a:solidFill>
                  </a:tcPr>
                </a:tc>
                <a:tc>
                  <a:txBody>
                    <a:bodyPr/>
                    <a:lstStyle/>
                    <a:p>
                      <a:r>
                        <a:rPr sz="1800" b="0">
                          <a:solidFill>
                            <a:srgbClr val="E6EFEA"/>
                          </a:solidFill>
                          <a:latin typeface="Calibri" panose="020F0502020204030204" charset="0"/>
                          <a:ea typeface="DejaVu Sans"/>
                          <a:cs typeface="Calibri" panose="020F0502020204030204" charset="0"/>
                        </a:rPr>
                        <a:t>20%</a:t>
                      </a:r>
                      <a:endParaRPr sz="1800" b="0">
                        <a:solidFill>
                          <a:srgbClr val="E6EFEA"/>
                        </a:solidFill>
                        <a:latin typeface="Calibri" panose="020F0502020204030204" charset="0"/>
                        <a:ea typeface="DejaVu Sans"/>
                        <a:cs typeface="Calibri" panose="020F0502020204030204" charset="0"/>
                      </a:endParaRPr>
                    </a:p>
                  </a:txBody>
                  <a:tcPr>
                    <a:solidFill>
                      <a:srgbClr val="174A3D"/>
                    </a:solidFill>
                  </a:tcPr>
                </a:tc>
              </a:tr>
              <a:tr h="666750">
                <a:tc>
                  <a:txBody>
                    <a:bodyPr/>
                    <a:lstStyle/>
                    <a:p>
                      <a:r>
                        <a:rPr sz="1800" b="0">
                          <a:solidFill>
                            <a:srgbClr val="E6EFEA"/>
                          </a:solidFill>
                          <a:latin typeface="Calibri" panose="020F0502020204030204" charset="0"/>
                          <a:ea typeface="DejaVu Sans"/>
                          <a:cs typeface="Calibri" panose="020F0502020204030204" charset="0"/>
                        </a:rPr>
                        <a:t>Giảm mỡ</a:t>
                      </a:r>
                      <a:endParaRPr sz="1800" b="0">
                        <a:solidFill>
                          <a:srgbClr val="E6EFEA"/>
                        </a:solidFill>
                        <a:latin typeface="Calibri" panose="020F0502020204030204" charset="0"/>
                        <a:ea typeface="DejaVu Sans"/>
                        <a:cs typeface="Calibri" panose="020F0502020204030204" charset="0"/>
                      </a:endParaRPr>
                    </a:p>
                  </a:txBody>
                  <a:tcPr>
                    <a:solidFill>
                      <a:srgbClr val="1C5344"/>
                    </a:solidFill>
                  </a:tcPr>
                </a:tc>
                <a:tc>
                  <a:txBody>
                    <a:bodyPr/>
                    <a:lstStyle/>
                    <a:p>
                      <a:r>
                        <a:rPr sz="1800" b="0">
                          <a:solidFill>
                            <a:srgbClr val="E6EFEA"/>
                          </a:solidFill>
                          <a:latin typeface="Calibri" panose="020F0502020204030204" charset="0"/>
                          <a:ea typeface="DejaVu Sans"/>
                          <a:cs typeface="Calibri" panose="020F0502020204030204" charset="0"/>
                        </a:rPr>
                        <a:t>40%</a:t>
                      </a:r>
                      <a:endParaRPr sz="1800" b="0">
                        <a:solidFill>
                          <a:srgbClr val="E6EFEA"/>
                        </a:solidFill>
                        <a:latin typeface="Calibri" panose="020F0502020204030204" charset="0"/>
                        <a:ea typeface="DejaVu Sans"/>
                        <a:cs typeface="Calibri" panose="020F0502020204030204" charset="0"/>
                      </a:endParaRPr>
                    </a:p>
                  </a:txBody>
                  <a:tcPr>
                    <a:solidFill>
                      <a:srgbClr val="1C5344"/>
                    </a:solidFill>
                  </a:tcPr>
                </a:tc>
                <a:tc>
                  <a:txBody>
                    <a:bodyPr/>
                    <a:lstStyle/>
                    <a:p>
                      <a:r>
                        <a:rPr sz="1800" b="0">
                          <a:solidFill>
                            <a:srgbClr val="E6EFEA"/>
                          </a:solidFill>
                          <a:latin typeface="Calibri" panose="020F0502020204030204" charset="0"/>
                          <a:ea typeface="DejaVu Sans"/>
                          <a:cs typeface="Calibri" panose="020F0502020204030204" charset="0"/>
                        </a:rPr>
                        <a:t>30%</a:t>
                      </a:r>
                      <a:endParaRPr sz="1800" b="0">
                        <a:solidFill>
                          <a:srgbClr val="E6EFEA"/>
                        </a:solidFill>
                        <a:latin typeface="Calibri" panose="020F0502020204030204" charset="0"/>
                        <a:ea typeface="DejaVu Sans"/>
                        <a:cs typeface="Calibri" panose="020F0502020204030204" charset="0"/>
                      </a:endParaRPr>
                    </a:p>
                  </a:txBody>
                  <a:tcPr>
                    <a:solidFill>
                      <a:srgbClr val="1C5344"/>
                    </a:solidFill>
                  </a:tcPr>
                </a:tc>
                <a:tc>
                  <a:txBody>
                    <a:bodyPr/>
                    <a:lstStyle/>
                    <a:p>
                      <a:r>
                        <a:rPr sz="1800" b="0">
                          <a:solidFill>
                            <a:srgbClr val="E6EFEA"/>
                          </a:solidFill>
                          <a:latin typeface="Calibri" panose="020F0502020204030204" charset="0"/>
                          <a:ea typeface="DejaVu Sans"/>
                          <a:cs typeface="Calibri" panose="020F0502020204030204" charset="0"/>
                        </a:rPr>
                        <a:t>30%</a:t>
                      </a:r>
                      <a:endParaRPr sz="1800" b="0">
                        <a:solidFill>
                          <a:srgbClr val="E6EFEA"/>
                        </a:solidFill>
                        <a:latin typeface="Calibri" panose="020F0502020204030204" charset="0"/>
                        <a:ea typeface="DejaVu Sans"/>
                        <a:cs typeface="Calibri" panose="020F0502020204030204" charset="0"/>
                      </a:endParaRPr>
                    </a:p>
                  </a:txBody>
                  <a:tcPr>
                    <a:solidFill>
                      <a:srgbClr val="1C5344"/>
                    </a:solidFill>
                  </a:tcPr>
                </a:tc>
              </a:tr>
              <a:tr h="666750">
                <a:tc>
                  <a:txBody>
                    <a:bodyPr/>
                    <a:lstStyle/>
                    <a:p>
                      <a:r>
                        <a:rPr sz="1800" b="0">
                          <a:solidFill>
                            <a:srgbClr val="E6EFEA"/>
                          </a:solidFill>
                          <a:latin typeface="Calibri" panose="020F0502020204030204" charset="0"/>
                          <a:ea typeface="DejaVu Sans"/>
                          <a:cs typeface="Calibri" panose="020F0502020204030204" charset="0"/>
                        </a:rPr>
                        <a:t>Giữ dáng</a:t>
                      </a:r>
                      <a:endParaRPr sz="1800" b="0">
                        <a:solidFill>
                          <a:srgbClr val="E6EFEA"/>
                        </a:solidFill>
                        <a:latin typeface="Calibri" panose="020F0502020204030204" charset="0"/>
                        <a:ea typeface="DejaVu Sans"/>
                        <a:cs typeface="Calibri" panose="020F0502020204030204" charset="0"/>
                      </a:endParaRPr>
                    </a:p>
                  </a:txBody>
                  <a:tcPr>
                    <a:solidFill>
                      <a:srgbClr val="174A3D"/>
                    </a:solidFill>
                  </a:tcPr>
                </a:tc>
                <a:tc>
                  <a:txBody>
                    <a:bodyPr/>
                    <a:lstStyle/>
                    <a:p>
                      <a:r>
                        <a:rPr sz="1800" b="0">
                          <a:solidFill>
                            <a:srgbClr val="E6EFEA"/>
                          </a:solidFill>
                          <a:latin typeface="Calibri" panose="020F0502020204030204" charset="0"/>
                          <a:ea typeface="DejaVu Sans"/>
                          <a:cs typeface="Calibri" panose="020F0502020204030204" charset="0"/>
                        </a:rPr>
                        <a:t>30%</a:t>
                      </a:r>
                      <a:endParaRPr sz="1800" b="0">
                        <a:solidFill>
                          <a:srgbClr val="E6EFEA"/>
                        </a:solidFill>
                        <a:latin typeface="Calibri" panose="020F0502020204030204" charset="0"/>
                        <a:ea typeface="DejaVu Sans"/>
                        <a:cs typeface="Calibri" panose="020F0502020204030204" charset="0"/>
                      </a:endParaRPr>
                    </a:p>
                  </a:txBody>
                  <a:tcPr>
                    <a:solidFill>
                      <a:srgbClr val="174A3D"/>
                    </a:solidFill>
                  </a:tcPr>
                </a:tc>
                <a:tc>
                  <a:txBody>
                    <a:bodyPr/>
                    <a:lstStyle/>
                    <a:p>
                      <a:r>
                        <a:rPr sz="1800" b="0">
                          <a:solidFill>
                            <a:srgbClr val="E6EFEA"/>
                          </a:solidFill>
                          <a:latin typeface="Calibri" panose="020F0502020204030204" charset="0"/>
                          <a:ea typeface="DejaVu Sans"/>
                          <a:cs typeface="Calibri" panose="020F0502020204030204" charset="0"/>
                        </a:rPr>
                        <a:t>40%</a:t>
                      </a:r>
                      <a:endParaRPr sz="1800" b="0">
                        <a:solidFill>
                          <a:srgbClr val="E6EFEA"/>
                        </a:solidFill>
                        <a:latin typeface="Calibri" panose="020F0502020204030204" charset="0"/>
                        <a:ea typeface="DejaVu Sans"/>
                        <a:cs typeface="Calibri" panose="020F0502020204030204" charset="0"/>
                      </a:endParaRPr>
                    </a:p>
                  </a:txBody>
                  <a:tcPr>
                    <a:solidFill>
                      <a:srgbClr val="174A3D"/>
                    </a:solidFill>
                  </a:tcPr>
                </a:tc>
                <a:tc>
                  <a:txBody>
                    <a:bodyPr/>
                    <a:lstStyle/>
                    <a:p>
                      <a:r>
                        <a:rPr sz="1800" b="0">
                          <a:solidFill>
                            <a:srgbClr val="E6EFEA"/>
                          </a:solidFill>
                          <a:latin typeface="Calibri" panose="020F0502020204030204" charset="0"/>
                          <a:ea typeface="DejaVu Sans"/>
                          <a:cs typeface="Calibri" panose="020F0502020204030204" charset="0"/>
                        </a:rPr>
                        <a:t>30%</a:t>
                      </a:r>
                      <a:endParaRPr sz="1800" b="0">
                        <a:solidFill>
                          <a:srgbClr val="E6EFEA"/>
                        </a:solidFill>
                        <a:latin typeface="Calibri" panose="020F0502020204030204" charset="0"/>
                        <a:ea typeface="DejaVu Sans"/>
                        <a:cs typeface="Calibri" panose="020F0502020204030204" charset="0"/>
                      </a:endParaRPr>
                    </a:p>
                  </a:txBody>
                  <a:tcPr>
                    <a:solidFill>
                      <a:srgbClr val="174A3D"/>
                    </a:solidFill>
                  </a:tcPr>
                </a:tc>
              </a:tr>
            </a:tbl>
          </a:graphicData>
        </a:graphic>
      </p:graphicFrame>
      <p:sp>
        <p:nvSpPr>
          <p:cNvPr id="5" name="Rectangle 4"/>
          <p:cNvSpPr>
            <a:spLocks noGrp="1"/>
          </p:cNvSpPr>
          <p:nvPr/>
        </p:nvSpPr>
        <p:spPr>
          <a:xfrm>
            <a:off x="685800" y="4724400"/>
            <a:ext cx="10668000" cy="523875"/>
          </a:xfrm>
          <a:prstGeom prst="rect">
            <a:avLst/>
          </a:prstGeom>
          <a:noFill/>
          <a:ln w="0">
            <a:noFill/>
          </a:ln>
        </p:spPr>
        <p:txBody>
          <a:bodyPr/>
          <a:lstStyle>
            <a:defPPr>
              <a:defRPr sz="2250" b="1">
                <a:solidFill>
                  <a:srgbClr val="79D0A8"/>
                </a:solidFill>
                <a:latin typeface="DejaVu Sans"/>
                <a:ea typeface="DejaVu Sans"/>
                <a:cs typeface="DejaVu Sans"/>
              </a:defRPr>
            </a:defPPr>
          </a:lstStyle>
          <a:p>
            <a:pPr>
              <a:defRPr sz="2250" b="1">
                <a:solidFill>
                  <a:srgbClr val="79D0A8"/>
                </a:solidFill>
                <a:latin typeface="DejaVu Sans"/>
                <a:ea typeface="DejaVu Sans"/>
                <a:cs typeface="DejaVu Sans"/>
              </a:defRPr>
            </a:pPr>
            <a:r>
              <a:rPr sz="2250" b="1">
                <a:solidFill>
                  <a:srgbClr val="79D0A8"/>
                </a:solidFill>
                <a:latin typeface="Calibri" panose="020F0502020204030204" charset="0"/>
                <a:ea typeface="DejaVu Sans"/>
                <a:cs typeface="Calibri" panose="020F0502020204030204" charset="0"/>
              </a:rPr>
              <a:t>Mục tiêu một bữa = mục tiêu ngày / 3</a:t>
            </a:r>
            <a:endParaRPr sz="2250" b="1">
              <a:solidFill>
                <a:srgbClr val="79D0A8"/>
              </a:solidFill>
              <a:latin typeface="Calibri" panose="020F0502020204030204" charset="0"/>
              <a:ea typeface="DejaVu Sans"/>
              <a:cs typeface="Calibri" panose="020F0502020204030204" charset="0"/>
            </a:endParaRPr>
          </a:p>
        </p:txBody>
      </p:sp>
      <p:sp>
        <p:nvSpPr>
          <p:cNvPr id="6" name="Rectangle 5"/>
          <p:cNvSpPr>
            <a:spLocks noGrp="1"/>
          </p:cNvSpPr>
          <p:nvPr/>
        </p:nvSpPr>
        <p:spPr>
          <a:xfrm>
            <a:off x="685800" y="5372100"/>
            <a:ext cx="10668000" cy="933450"/>
          </a:xfrm>
          <a:prstGeom prst="rect">
            <a:avLst/>
          </a:prstGeom>
          <a:noFill/>
          <a:ln w="0">
            <a:noFill/>
          </a:ln>
        </p:spPr>
        <p:txBody>
          <a:bodyPr/>
          <a:lstStyle>
            <a:defPPr>
              <a:defRPr sz="1875" b="0">
                <a:solidFill>
                  <a:srgbClr val="E6EFEA"/>
                </a:solidFill>
                <a:latin typeface="DejaVu Sans"/>
                <a:ea typeface="DejaVu Sans"/>
                <a:cs typeface="DejaVu Sans"/>
              </a:defRPr>
            </a:defPPr>
          </a:lstStyle>
          <a:p>
            <a:pPr>
              <a:defRPr sz="1875" b="0">
                <a:solidFill>
                  <a:srgbClr val="E6EFEA"/>
                </a:solidFill>
                <a:latin typeface="DejaVu Sans"/>
                <a:ea typeface="DejaVu Sans"/>
                <a:cs typeface="DejaVu Sans"/>
              </a:defRPr>
            </a:pPr>
            <a:endParaRPr sz="1875" b="0" dirty="0">
              <a:solidFill>
                <a:srgbClr val="E6EFEA"/>
              </a:solidFill>
              <a:latin typeface="Calibri" panose="020F0502020204030204" charset="0"/>
              <a:ea typeface="DejaVu Sans"/>
              <a:cs typeface="Calibri" panose="020F050202020403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19" name="Panel nội dung"/>
          <p:cNvSpPr>
            <a:spLocks noGrp="1"/>
          </p:cNvSpPr>
          <p:nvPr/>
        </p:nvSpPr>
        <p:spPr>
          <a:xfrm>
            <a:off x="457200" y="1400175"/>
            <a:ext cx="11249025" cy="5143500"/>
          </a:xfrm>
          <a:prstGeom prst="roundRect">
            <a:avLst>
              <a:gd name="adj" fmla="val 3333"/>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Rectangle 1"/>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Calibri" panose="020F0502020204030204" charset="0"/>
                <a:ea typeface="DejaVu Sans"/>
                <a:cs typeface="Calibri" panose="020F0502020204030204" charset="0"/>
              </a:rPr>
              <a:t>Cách KNN chọn các thực đơn gợi ý</a:t>
            </a:r>
            <a:endParaRPr sz="3150" b="1">
              <a:solidFill>
                <a:srgbClr val="FFFFFF"/>
              </a:solidFill>
              <a:latin typeface="Calibri" panose="020F0502020204030204" charset="0"/>
              <a:ea typeface="DejaVu Sans"/>
              <a:cs typeface="Calibri" panose="020F0502020204030204" charset="0"/>
            </a:endParaRPr>
          </a:p>
        </p:txBody>
      </p:sp>
      <p:sp>
        <p:nvSpPr>
          <p:cNvPr id="3" name="Rectangle 2"/>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Calibri" panose="020F0502020204030204" charset="0"/>
              <a:ea typeface="DejaVu Sans"/>
              <a:cs typeface="Calibri" panose="020F0502020204030204" charset="0"/>
            </a:endParaRPr>
          </a:p>
        </p:txBody>
      </p:sp>
      <p:sp>
        <p:nvSpPr>
          <p:cNvPr id="4" name="Rectangle 3"/>
          <p:cNvSpPr>
            <a:spLocks noGrp="1"/>
          </p:cNvSpPr>
          <p:nvPr/>
        </p:nvSpPr>
        <p:spPr>
          <a:xfrm>
            <a:off x="666750" y="1590675"/>
            <a:ext cx="904875" cy="571500"/>
          </a:xfrm>
          <a:prstGeom prst="rect">
            <a:avLst/>
          </a:prstGeom>
          <a:noFill/>
          <a:ln w="0">
            <a:noFill/>
          </a:ln>
        </p:spPr>
        <p:txBody>
          <a:bodyPr/>
          <a:lstStyle>
            <a:defPPr>
              <a:defRPr sz="2850" b="1">
                <a:solidFill>
                  <a:srgbClr val="79D0A8"/>
                </a:solidFill>
                <a:latin typeface="DejaVu Sans"/>
                <a:ea typeface="DejaVu Sans"/>
                <a:cs typeface="DejaVu Sans"/>
              </a:defRPr>
            </a:defPPr>
          </a:lstStyle>
          <a:p>
            <a:pPr>
              <a:defRPr sz="2850" b="1">
                <a:solidFill>
                  <a:srgbClr val="79D0A8"/>
                </a:solidFill>
                <a:latin typeface="DejaVu Sans"/>
                <a:ea typeface="DejaVu Sans"/>
                <a:cs typeface="DejaVu Sans"/>
              </a:defRPr>
            </a:pPr>
            <a:r>
              <a:rPr sz="2850" b="1">
                <a:solidFill>
                  <a:srgbClr val="79D0A8"/>
                </a:solidFill>
                <a:latin typeface="Calibri" panose="020F0502020204030204" charset="0"/>
                <a:ea typeface="DejaVu Sans"/>
                <a:cs typeface="Calibri" panose="020F0502020204030204" charset="0"/>
              </a:rPr>
              <a:t>01</a:t>
            </a:r>
            <a:endParaRPr sz="2850" b="1">
              <a:solidFill>
                <a:srgbClr val="79D0A8"/>
              </a:solidFill>
              <a:latin typeface="Calibri" panose="020F0502020204030204" charset="0"/>
              <a:ea typeface="DejaVu Sans"/>
              <a:cs typeface="Calibri" panose="020F0502020204030204" charset="0"/>
            </a:endParaRPr>
          </a:p>
        </p:txBody>
      </p:sp>
      <p:sp>
        <p:nvSpPr>
          <p:cNvPr id="5" name="Rectangle 4"/>
          <p:cNvSpPr>
            <a:spLocks noGrp="1"/>
          </p:cNvSpPr>
          <p:nvPr/>
        </p:nvSpPr>
        <p:spPr>
          <a:xfrm>
            <a:off x="1981200" y="1647825"/>
            <a:ext cx="4191000" cy="590550"/>
          </a:xfrm>
          <a:prstGeom prst="rect">
            <a:avLst/>
          </a:prstGeom>
          <a:noFill/>
          <a:ln w="0">
            <a:noFill/>
          </a:ln>
        </p:spPr>
        <p:txBody>
          <a:bodyPr/>
          <a:lstStyle>
            <a:defPPr>
              <a:defRPr sz="2250" b="1">
                <a:solidFill>
                  <a:srgbClr val="FFFFFF"/>
                </a:solidFill>
                <a:latin typeface="DejaVu Sans"/>
                <a:ea typeface="DejaVu Sans"/>
                <a:cs typeface="DejaVu Sans"/>
              </a:defRPr>
            </a:defPPr>
          </a:lstStyle>
          <a:p>
            <a:pPr>
              <a:defRPr sz="2250" b="1">
                <a:solidFill>
                  <a:srgbClr val="FFFFFF"/>
                </a:solidFill>
                <a:latin typeface="DejaVu Sans"/>
                <a:ea typeface="DejaVu Sans"/>
                <a:cs typeface="DejaVu Sans"/>
              </a:defRPr>
            </a:pPr>
            <a:r>
              <a:rPr sz="2250" b="1">
                <a:solidFill>
                  <a:srgbClr val="FFFFFF"/>
                </a:solidFill>
                <a:latin typeface="Calibri" panose="020F0502020204030204" charset="0"/>
                <a:ea typeface="DejaVu Sans"/>
                <a:cs typeface="Calibri" panose="020F0502020204030204" charset="0"/>
              </a:rPr>
              <a:t>Tính nhu cầu</a:t>
            </a:r>
            <a:endParaRPr sz="2250" b="1">
              <a:solidFill>
                <a:srgbClr val="FFFFFF"/>
              </a:solidFill>
              <a:latin typeface="Calibri" panose="020F0502020204030204" charset="0"/>
              <a:ea typeface="DejaVu Sans"/>
              <a:cs typeface="Calibri" panose="020F0502020204030204" charset="0"/>
            </a:endParaRPr>
          </a:p>
        </p:txBody>
      </p:sp>
      <p:sp>
        <p:nvSpPr>
          <p:cNvPr id="6" name="Rectangle 5"/>
          <p:cNvSpPr>
            <a:spLocks noGrp="1"/>
          </p:cNvSpPr>
          <p:nvPr/>
        </p:nvSpPr>
        <p:spPr>
          <a:xfrm>
            <a:off x="6171565" y="1666875"/>
            <a:ext cx="5325110" cy="714375"/>
          </a:xfrm>
          <a:prstGeom prst="rect">
            <a:avLst/>
          </a:prstGeom>
          <a:noFill/>
          <a:ln w="0">
            <a:noFill/>
          </a:ln>
        </p:spPr>
        <p:txBody>
          <a:bodyPr/>
          <a:lstStyle>
            <a:defPPr>
              <a:defRPr sz="1800" b="0">
                <a:solidFill>
                  <a:srgbClr val="E6EFEA"/>
                </a:solidFill>
                <a:latin typeface="DejaVu Sans"/>
                <a:ea typeface="DejaVu Sans"/>
                <a:cs typeface="DejaVu Sans"/>
              </a:defRPr>
            </a:defPPr>
          </a:lstStyle>
          <a:p>
            <a:pPr algn="just">
              <a:defRPr sz="1800" b="0">
                <a:solidFill>
                  <a:srgbClr val="E6EFEA"/>
                </a:solidFill>
                <a:latin typeface="DejaVu Sans"/>
                <a:ea typeface="DejaVu Sans"/>
                <a:cs typeface="DejaVu Sans"/>
              </a:defRPr>
            </a:pPr>
            <a:r>
              <a:rPr sz="1800" b="0" dirty="0" err="1">
                <a:solidFill>
                  <a:srgbClr val="E6EFEA"/>
                </a:solidFill>
                <a:latin typeface="Calibri" panose="020F0502020204030204" charset="0"/>
                <a:ea typeface="DejaVu Sans"/>
                <a:cs typeface="Calibri" panose="020F0502020204030204" charset="0"/>
              </a:rPr>
              <a:t>Tính</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năng</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lượng</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và</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chất</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đa</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lượng</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cần</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cho</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một</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bữa</a:t>
            </a:r>
            <a:endParaRPr sz="1800" b="0" dirty="0">
              <a:solidFill>
                <a:srgbClr val="E6EFEA"/>
              </a:solidFill>
              <a:latin typeface="Calibri" panose="020F0502020204030204" charset="0"/>
              <a:ea typeface="DejaVu Sans"/>
              <a:cs typeface="Calibri" panose="020F0502020204030204" charset="0"/>
            </a:endParaRPr>
          </a:p>
        </p:txBody>
      </p:sp>
      <p:sp>
        <p:nvSpPr>
          <p:cNvPr id="7" name="Rectangle 6"/>
          <p:cNvSpPr>
            <a:spLocks noGrp="1"/>
          </p:cNvSpPr>
          <p:nvPr/>
        </p:nvSpPr>
        <p:spPr>
          <a:xfrm>
            <a:off x="666750" y="2486025"/>
            <a:ext cx="904875" cy="571500"/>
          </a:xfrm>
          <a:prstGeom prst="rect">
            <a:avLst/>
          </a:prstGeom>
          <a:noFill/>
          <a:ln w="0">
            <a:noFill/>
          </a:ln>
        </p:spPr>
        <p:txBody>
          <a:bodyPr/>
          <a:lstStyle>
            <a:defPPr>
              <a:defRPr sz="2850" b="1">
                <a:solidFill>
                  <a:srgbClr val="79D0A8"/>
                </a:solidFill>
                <a:latin typeface="DejaVu Sans"/>
                <a:ea typeface="DejaVu Sans"/>
                <a:cs typeface="DejaVu Sans"/>
              </a:defRPr>
            </a:defPPr>
          </a:lstStyle>
          <a:p>
            <a:pPr>
              <a:defRPr sz="2850" b="1">
                <a:solidFill>
                  <a:srgbClr val="79D0A8"/>
                </a:solidFill>
                <a:latin typeface="DejaVu Sans"/>
                <a:ea typeface="DejaVu Sans"/>
                <a:cs typeface="DejaVu Sans"/>
              </a:defRPr>
            </a:pPr>
            <a:r>
              <a:rPr sz="2850" b="1">
                <a:solidFill>
                  <a:srgbClr val="79D0A8"/>
                </a:solidFill>
                <a:latin typeface="Calibri" panose="020F0502020204030204" charset="0"/>
                <a:ea typeface="DejaVu Sans"/>
                <a:cs typeface="Calibri" panose="020F0502020204030204" charset="0"/>
              </a:rPr>
              <a:t>02</a:t>
            </a:r>
            <a:endParaRPr sz="2850" b="1">
              <a:solidFill>
                <a:srgbClr val="79D0A8"/>
              </a:solidFill>
              <a:latin typeface="Calibri" panose="020F0502020204030204" charset="0"/>
              <a:ea typeface="DejaVu Sans"/>
              <a:cs typeface="Calibri" panose="020F0502020204030204" charset="0"/>
            </a:endParaRPr>
          </a:p>
        </p:txBody>
      </p:sp>
      <p:sp>
        <p:nvSpPr>
          <p:cNvPr id="8" name="Rectangle 7"/>
          <p:cNvSpPr>
            <a:spLocks noGrp="1"/>
          </p:cNvSpPr>
          <p:nvPr/>
        </p:nvSpPr>
        <p:spPr>
          <a:xfrm>
            <a:off x="1981200" y="2543175"/>
            <a:ext cx="4191000" cy="590550"/>
          </a:xfrm>
          <a:prstGeom prst="rect">
            <a:avLst/>
          </a:prstGeom>
          <a:noFill/>
          <a:ln w="0">
            <a:noFill/>
          </a:ln>
        </p:spPr>
        <p:txBody>
          <a:bodyPr/>
          <a:lstStyle>
            <a:defPPr>
              <a:defRPr sz="2250" b="1">
                <a:solidFill>
                  <a:srgbClr val="FFFFFF"/>
                </a:solidFill>
                <a:latin typeface="DejaVu Sans"/>
                <a:ea typeface="DejaVu Sans"/>
                <a:cs typeface="DejaVu Sans"/>
              </a:defRPr>
            </a:defPPr>
          </a:lstStyle>
          <a:p>
            <a:pPr>
              <a:defRPr sz="2250" b="1">
                <a:solidFill>
                  <a:srgbClr val="FFFFFF"/>
                </a:solidFill>
                <a:latin typeface="DejaVu Sans"/>
                <a:ea typeface="DejaVu Sans"/>
                <a:cs typeface="DejaVu Sans"/>
              </a:defRPr>
            </a:pPr>
            <a:r>
              <a:rPr sz="2250" b="1">
                <a:solidFill>
                  <a:srgbClr val="FFFFFF"/>
                </a:solidFill>
                <a:latin typeface="Calibri" panose="020F0502020204030204" charset="0"/>
                <a:ea typeface="DejaVu Sans"/>
                <a:cs typeface="Calibri" panose="020F0502020204030204" charset="0"/>
              </a:rPr>
              <a:t>Lọc ứng viên</a:t>
            </a:r>
            <a:endParaRPr sz="2250" b="1">
              <a:solidFill>
                <a:srgbClr val="FFFFFF"/>
              </a:solidFill>
              <a:latin typeface="Calibri" panose="020F0502020204030204" charset="0"/>
              <a:ea typeface="DejaVu Sans"/>
              <a:cs typeface="Calibri" panose="020F0502020204030204" charset="0"/>
            </a:endParaRPr>
          </a:p>
        </p:txBody>
      </p:sp>
      <p:sp>
        <p:nvSpPr>
          <p:cNvPr id="9" name="Rectangle 8"/>
          <p:cNvSpPr>
            <a:spLocks noGrp="1"/>
          </p:cNvSpPr>
          <p:nvPr/>
        </p:nvSpPr>
        <p:spPr>
          <a:xfrm>
            <a:off x="6171565" y="2562225"/>
            <a:ext cx="5325110" cy="714375"/>
          </a:xfrm>
          <a:prstGeom prst="rect">
            <a:avLst/>
          </a:prstGeom>
          <a:noFill/>
          <a:ln w="0">
            <a:noFill/>
          </a:ln>
        </p:spPr>
        <p:txBody>
          <a:bodyPr/>
          <a:lstStyle>
            <a:defPPr>
              <a:defRPr sz="1800" b="0">
                <a:solidFill>
                  <a:srgbClr val="E6EFEA"/>
                </a:solidFill>
                <a:latin typeface="DejaVu Sans"/>
                <a:ea typeface="DejaVu Sans"/>
                <a:cs typeface="DejaVu Sans"/>
              </a:defRPr>
            </a:defPPr>
          </a:lstStyle>
          <a:p>
            <a:pPr algn="just">
              <a:defRPr sz="1800" b="0">
                <a:solidFill>
                  <a:srgbClr val="E6EFEA"/>
                </a:solidFill>
                <a:latin typeface="DejaVu Sans"/>
                <a:ea typeface="DejaVu Sans"/>
                <a:cs typeface="DejaVu Sans"/>
              </a:defRPr>
            </a:pPr>
            <a:r>
              <a:rPr sz="1800" b="0" dirty="0" err="1">
                <a:solidFill>
                  <a:srgbClr val="E6EFEA"/>
                </a:solidFill>
                <a:latin typeface="Calibri" panose="020F0502020204030204" charset="0"/>
                <a:ea typeface="DejaVu Sans"/>
                <a:cs typeface="Calibri" panose="020F0502020204030204" charset="0"/>
              </a:rPr>
              <a:t>Loại</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thực</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đơn</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chứa</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thực</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phẩm</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người</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dùng</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chọn</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tránh</a:t>
            </a:r>
            <a:endParaRPr sz="1800" b="0" dirty="0">
              <a:solidFill>
                <a:srgbClr val="E6EFEA"/>
              </a:solidFill>
              <a:latin typeface="Calibri" panose="020F0502020204030204" charset="0"/>
              <a:ea typeface="DejaVu Sans"/>
              <a:cs typeface="Calibri" panose="020F0502020204030204" charset="0"/>
            </a:endParaRPr>
          </a:p>
        </p:txBody>
      </p:sp>
      <p:sp>
        <p:nvSpPr>
          <p:cNvPr id="10" name="Rectangle 9"/>
          <p:cNvSpPr>
            <a:spLocks noGrp="1"/>
          </p:cNvSpPr>
          <p:nvPr/>
        </p:nvSpPr>
        <p:spPr>
          <a:xfrm>
            <a:off x="666750" y="3381375"/>
            <a:ext cx="904875" cy="571500"/>
          </a:xfrm>
          <a:prstGeom prst="rect">
            <a:avLst/>
          </a:prstGeom>
          <a:noFill/>
          <a:ln w="0">
            <a:noFill/>
          </a:ln>
        </p:spPr>
        <p:txBody>
          <a:bodyPr/>
          <a:lstStyle>
            <a:defPPr>
              <a:defRPr sz="2850" b="1">
                <a:solidFill>
                  <a:srgbClr val="79D0A8"/>
                </a:solidFill>
                <a:latin typeface="DejaVu Sans"/>
                <a:ea typeface="DejaVu Sans"/>
                <a:cs typeface="DejaVu Sans"/>
              </a:defRPr>
            </a:defPPr>
          </a:lstStyle>
          <a:p>
            <a:pPr>
              <a:defRPr sz="2850" b="1">
                <a:solidFill>
                  <a:srgbClr val="79D0A8"/>
                </a:solidFill>
                <a:latin typeface="DejaVu Sans"/>
                <a:ea typeface="DejaVu Sans"/>
                <a:cs typeface="DejaVu Sans"/>
              </a:defRPr>
            </a:pPr>
            <a:r>
              <a:rPr sz="2850" b="1">
                <a:solidFill>
                  <a:srgbClr val="79D0A8"/>
                </a:solidFill>
                <a:latin typeface="Calibri" panose="020F0502020204030204" charset="0"/>
                <a:ea typeface="DejaVu Sans"/>
                <a:cs typeface="Calibri" panose="020F0502020204030204" charset="0"/>
              </a:rPr>
              <a:t>03</a:t>
            </a:r>
            <a:endParaRPr sz="2850" b="1">
              <a:solidFill>
                <a:srgbClr val="79D0A8"/>
              </a:solidFill>
              <a:latin typeface="Calibri" panose="020F0502020204030204" charset="0"/>
              <a:ea typeface="DejaVu Sans"/>
              <a:cs typeface="Calibri" panose="020F0502020204030204" charset="0"/>
            </a:endParaRPr>
          </a:p>
        </p:txBody>
      </p:sp>
      <p:sp>
        <p:nvSpPr>
          <p:cNvPr id="11" name="Rectangle 10"/>
          <p:cNvSpPr>
            <a:spLocks noGrp="1"/>
          </p:cNvSpPr>
          <p:nvPr/>
        </p:nvSpPr>
        <p:spPr>
          <a:xfrm>
            <a:off x="1981200" y="3438525"/>
            <a:ext cx="4191000" cy="590550"/>
          </a:xfrm>
          <a:prstGeom prst="rect">
            <a:avLst/>
          </a:prstGeom>
          <a:noFill/>
          <a:ln w="0">
            <a:noFill/>
          </a:ln>
        </p:spPr>
        <p:txBody>
          <a:bodyPr/>
          <a:lstStyle>
            <a:defPPr>
              <a:defRPr sz="2250" b="1">
                <a:solidFill>
                  <a:srgbClr val="FFFFFF"/>
                </a:solidFill>
                <a:latin typeface="DejaVu Sans"/>
                <a:ea typeface="DejaVu Sans"/>
                <a:cs typeface="DejaVu Sans"/>
              </a:defRPr>
            </a:defPPr>
          </a:lstStyle>
          <a:p>
            <a:pPr>
              <a:defRPr sz="2250" b="1">
                <a:solidFill>
                  <a:srgbClr val="FFFFFF"/>
                </a:solidFill>
                <a:latin typeface="DejaVu Sans"/>
                <a:ea typeface="DejaVu Sans"/>
                <a:cs typeface="DejaVu Sans"/>
              </a:defRPr>
            </a:pPr>
            <a:r>
              <a:rPr sz="2250" b="1">
                <a:solidFill>
                  <a:srgbClr val="FFFFFF"/>
                </a:solidFill>
                <a:latin typeface="Calibri" panose="020F0502020204030204" charset="0"/>
                <a:ea typeface="DejaVu Sans"/>
                <a:cs typeface="Calibri" panose="020F0502020204030204" charset="0"/>
              </a:rPr>
              <a:t>Chuẩn hóa</a:t>
            </a:r>
            <a:endParaRPr sz="2250" b="1">
              <a:solidFill>
                <a:srgbClr val="FFFFFF"/>
              </a:solidFill>
              <a:latin typeface="Calibri" panose="020F0502020204030204" charset="0"/>
              <a:ea typeface="DejaVu Sans"/>
              <a:cs typeface="Calibri" panose="020F0502020204030204" charset="0"/>
            </a:endParaRPr>
          </a:p>
        </p:txBody>
      </p:sp>
      <p:sp>
        <p:nvSpPr>
          <p:cNvPr id="12" name="Rectangle 11"/>
          <p:cNvSpPr>
            <a:spLocks noGrp="1"/>
          </p:cNvSpPr>
          <p:nvPr/>
        </p:nvSpPr>
        <p:spPr>
          <a:xfrm>
            <a:off x="6172200" y="3457575"/>
            <a:ext cx="5324475" cy="714375"/>
          </a:xfrm>
          <a:prstGeom prst="rect">
            <a:avLst/>
          </a:prstGeom>
          <a:noFill/>
          <a:ln w="0">
            <a:noFill/>
          </a:ln>
        </p:spPr>
        <p:txBody>
          <a:bodyPr/>
          <a:lstStyle>
            <a:defPPr>
              <a:defRPr sz="1800" b="0">
                <a:solidFill>
                  <a:srgbClr val="E6EFEA"/>
                </a:solidFill>
                <a:latin typeface="DejaVu Sans"/>
                <a:ea typeface="DejaVu Sans"/>
                <a:cs typeface="DejaVu Sans"/>
              </a:defRPr>
            </a:defPPr>
          </a:lstStyle>
          <a:p>
            <a:pPr algn="just">
              <a:defRPr sz="1800" b="0">
                <a:solidFill>
                  <a:srgbClr val="E6EFEA"/>
                </a:solidFill>
                <a:latin typeface="DejaVu Sans"/>
                <a:ea typeface="DejaVu Sans"/>
                <a:cs typeface="DejaVu Sans"/>
              </a:defRPr>
            </a:pPr>
            <a:r>
              <a:rPr sz="1800" b="0" dirty="0" err="1">
                <a:solidFill>
                  <a:srgbClr val="E6EFEA"/>
                </a:solidFill>
                <a:latin typeface="Calibri" panose="020F0502020204030204" charset="0"/>
                <a:ea typeface="DejaVu Sans"/>
                <a:cs typeface="Calibri" panose="020F0502020204030204" charset="0"/>
              </a:rPr>
              <a:t>Biến</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đổi</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nhu</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cầu</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và</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ứng</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viên</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bằng</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cùng</a:t>
            </a:r>
            <a:r>
              <a:rPr sz="1800" b="0" dirty="0">
                <a:solidFill>
                  <a:srgbClr val="E6EFEA"/>
                </a:solidFill>
                <a:latin typeface="Calibri" panose="020F0502020204030204" charset="0"/>
                <a:ea typeface="DejaVu Sans"/>
                <a:cs typeface="Calibri" panose="020F0502020204030204" charset="0"/>
              </a:rPr>
              <a:t> scaler</a:t>
            </a:r>
            <a:endParaRPr sz="1800" b="0" dirty="0">
              <a:solidFill>
                <a:srgbClr val="E6EFEA"/>
              </a:solidFill>
              <a:latin typeface="Calibri" panose="020F0502020204030204" charset="0"/>
              <a:ea typeface="DejaVu Sans"/>
              <a:cs typeface="Calibri" panose="020F0502020204030204" charset="0"/>
            </a:endParaRPr>
          </a:p>
        </p:txBody>
      </p:sp>
      <p:sp>
        <p:nvSpPr>
          <p:cNvPr id="13" name="Rectangle 12"/>
          <p:cNvSpPr>
            <a:spLocks noGrp="1"/>
          </p:cNvSpPr>
          <p:nvPr/>
        </p:nvSpPr>
        <p:spPr>
          <a:xfrm>
            <a:off x="666750" y="4276725"/>
            <a:ext cx="904875" cy="571500"/>
          </a:xfrm>
          <a:prstGeom prst="rect">
            <a:avLst/>
          </a:prstGeom>
          <a:noFill/>
          <a:ln w="0">
            <a:noFill/>
          </a:ln>
        </p:spPr>
        <p:txBody>
          <a:bodyPr/>
          <a:lstStyle>
            <a:defPPr>
              <a:defRPr sz="2850" b="1">
                <a:solidFill>
                  <a:srgbClr val="79D0A8"/>
                </a:solidFill>
                <a:latin typeface="DejaVu Sans"/>
                <a:ea typeface="DejaVu Sans"/>
                <a:cs typeface="DejaVu Sans"/>
              </a:defRPr>
            </a:defPPr>
          </a:lstStyle>
          <a:p>
            <a:pPr>
              <a:defRPr sz="2850" b="1">
                <a:solidFill>
                  <a:srgbClr val="79D0A8"/>
                </a:solidFill>
                <a:latin typeface="DejaVu Sans"/>
                <a:ea typeface="DejaVu Sans"/>
                <a:cs typeface="DejaVu Sans"/>
              </a:defRPr>
            </a:pPr>
            <a:r>
              <a:rPr sz="2850" b="1">
                <a:solidFill>
                  <a:srgbClr val="79D0A8"/>
                </a:solidFill>
                <a:latin typeface="Calibri" panose="020F0502020204030204" charset="0"/>
                <a:ea typeface="DejaVu Sans"/>
                <a:cs typeface="Calibri" panose="020F0502020204030204" charset="0"/>
              </a:rPr>
              <a:t>04</a:t>
            </a:r>
            <a:endParaRPr sz="2850" b="1">
              <a:solidFill>
                <a:srgbClr val="79D0A8"/>
              </a:solidFill>
              <a:latin typeface="Calibri" panose="020F0502020204030204" charset="0"/>
              <a:ea typeface="DejaVu Sans"/>
              <a:cs typeface="Calibri" panose="020F0502020204030204" charset="0"/>
            </a:endParaRPr>
          </a:p>
        </p:txBody>
      </p:sp>
      <p:sp>
        <p:nvSpPr>
          <p:cNvPr id="14" name="Rectangle 13"/>
          <p:cNvSpPr>
            <a:spLocks noGrp="1"/>
          </p:cNvSpPr>
          <p:nvPr/>
        </p:nvSpPr>
        <p:spPr>
          <a:xfrm>
            <a:off x="1981200" y="4333875"/>
            <a:ext cx="4191000" cy="590550"/>
          </a:xfrm>
          <a:prstGeom prst="rect">
            <a:avLst/>
          </a:prstGeom>
          <a:noFill/>
          <a:ln w="0">
            <a:noFill/>
          </a:ln>
        </p:spPr>
        <p:txBody>
          <a:bodyPr/>
          <a:lstStyle>
            <a:defPPr>
              <a:defRPr sz="2250" b="1">
                <a:solidFill>
                  <a:srgbClr val="FFFFFF"/>
                </a:solidFill>
                <a:latin typeface="DejaVu Sans"/>
                <a:ea typeface="DejaVu Sans"/>
                <a:cs typeface="DejaVu Sans"/>
              </a:defRPr>
            </a:defPPr>
          </a:lstStyle>
          <a:p>
            <a:pPr>
              <a:defRPr sz="2250" b="1">
                <a:solidFill>
                  <a:srgbClr val="FFFFFF"/>
                </a:solidFill>
                <a:latin typeface="DejaVu Sans"/>
                <a:ea typeface="DejaVu Sans"/>
                <a:cs typeface="DejaVu Sans"/>
              </a:defRPr>
            </a:pPr>
            <a:r>
              <a:rPr sz="2250" b="1">
                <a:solidFill>
                  <a:srgbClr val="FFFFFF"/>
                </a:solidFill>
                <a:latin typeface="Calibri" panose="020F0502020204030204" charset="0"/>
                <a:ea typeface="DejaVu Sans"/>
                <a:cs typeface="Calibri" panose="020F0502020204030204" charset="0"/>
              </a:rPr>
              <a:t>Tìm láng giềng</a:t>
            </a:r>
            <a:endParaRPr sz="2250" b="1">
              <a:solidFill>
                <a:srgbClr val="FFFFFF"/>
              </a:solidFill>
              <a:latin typeface="Calibri" panose="020F0502020204030204" charset="0"/>
              <a:ea typeface="DejaVu Sans"/>
              <a:cs typeface="Calibri" panose="020F0502020204030204" charset="0"/>
            </a:endParaRPr>
          </a:p>
        </p:txBody>
      </p:sp>
      <p:sp>
        <p:nvSpPr>
          <p:cNvPr id="15" name="Rectangle 14"/>
          <p:cNvSpPr>
            <a:spLocks noGrp="1"/>
          </p:cNvSpPr>
          <p:nvPr/>
        </p:nvSpPr>
        <p:spPr>
          <a:xfrm>
            <a:off x="6171565" y="4352925"/>
            <a:ext cx="5325110" cy="714375"/>
          </a:xfrm>
          <a:prstGeom prst="rect">
            <a:avLst/>
          </a:prstGeom>
          <a:noFill/>
          <a:ln w="0">
            <a:noFill/>
          </a:ln>
        </p:spPr>
        <p:txBody>
          <a:bodyPr/>
          <a:lstStyle>
            <a:defPPr>
              <a:defRPr sz="1800" b="0">
                <a:solidFill>
                  <a:srgbClr val="E6EFEA"/>
                </a:solidFill>
                <a:latin typeface="DejaVu Sans"/>
                <a:ea typeface="DejaVu Sans"/>
                <a:cs typeface="DejaVu Sans"/>
              </a:defRPr>
            </a:defPPr>
          </a:lstStyle>
          <a:p>
            <a:pPr algn="just">
              <a:defRPr sz="1800" b="0">
                <a:solidFill>
                  <a:srgbClr val="E6EFEA"/>
                </a:solidFill>
                <a:latin typeface="DejaVu Sans"/>
                <a:ea typeface="DejaVu Sans"/>
                <a:cs typeface="DejaVu Sans"/>
              </a:defRPr>
            </a:pPr>
            <a:r>
              <a:rPr sz="1800" b="0" dirty="0" err="1">
                <a:solidFill>
                  <a:srgbClr val="E6EFEA"/>
                </a:solidFill>
                <a:latin typeface="Calibri" panose="020F0502020204030204" charset="0"/>
                <a:ea typeface="DejaVu Sans"/>
                <a:cs typeface="Calibri" panose="020F0502020204030204" charset="0"/>
              </a:rPr>
              <a:t>Xếp</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hạng</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theo</a:t>
            </a:r>
            <a:r>
              <a:rPr sz="1800" b="0" dirty="0">
                <a:solidFill>
                  <a:srgbClr val="E6EFEA"/>
                </a:solidFill>
                <a:latin typeface="Calibri" panose="020F0502020204030204" charset="0"/>
                <a:ea typeface="DejaVu Sans"/>
                <a:cs typeface="Calibri" panose="020F0502020204030204" charset="0"/>
              </a:rPr>
              <a:t> Euclidean </a:t>
            </a:r>
            <a:r>
              <a:rPr sz="1800" b="0" dirty="0" err="1">
                <a:solidFill>
                  <a:srgbClr val="E6EFEA"/>
                </a:solidFill>
                <a:latin typeface="Calibri" panose="020F0502020204030204" charset="0"/>
                <a:ea typeface="DejaVu Sans"/>
                <a:cs typeface="Calibri" panose="020F0502020204030204" charset="0"/>
              </a:rPr>
              <a:t>và</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lấy</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tối</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đa</a:t>
            </a:r>
            <a:r>
              <a:rPr sz="1800" b="0" dirty="0">
                <a:solidFill>
                  <a:srgbClr val="E6EFEA"/>
                </a:solidFill>
                <a:latin typeface="Calibri" panose="020F0502020204030204" charset="0"/>
                <a:ea typeface="DejaVu Sans"/>
                <a:cs typeface="Calibri" panose="020F0502020204030204" charset="0"/>
              </a:rPr>
              <a:t> 5 </a:t>
            </a:r>
            <a:r>
              <a:rPr sz="1800" b="0" dirty="0" err="1">
                <a:solidFill>
                  <a:srgbClr val="E6EFEA"/>
                </a:solidFill>
                <a:latin typeface="Calibri" panose="020F0502020204030204" charset="0"/>
                <a:ea typeface="DejaVu Sans"/>
                <a:cs typeface="Calibri" panose="020F0502020204030204" charset="0"/>
              </a:rPr>
              <a:t>phương</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án</a:t>
            </a:r>
            <a:endParaRPr sz="1800" b="0" dirty="0">
              <a:solidFill>
                <a:srgbClr val="E6EFEA"/>
              </a:solidFill>
              <a:latin typeface="Calibri" panose="020F0502020204030204" charset="0"/>
              <a:ea typeface="DejaVu Sans"/>
              <a:cs typeface="Calibri" panose="020F0502020204030204" charset="0"/>
            </a:endParaRPr>
          </a:p>
        </p:txBody>
      </p:sp>
      <p:sp>
        <p:nvSpPr>
          <p:cNvPr id="16" name="Rectangle 15"/>
          <p:cNvSpPr>
            <a:spLocks noGrp="1"/>
          </p:cNvSpPr>
          <p:nvPr/>
        </p:nvSpPr>
        <p:spPr>
          <a:xfrm>
            <a:off x="666750" y="5172075"/>
            <a:ext cx="904875" cy="571500"/>
          </a:xfrm>
          <a:prstGeom prst="rect">
            <a:avLst/>
          </a:prstGeom>
          <a:noFill/>
          <a:ln w="0">
            <a:noFill/>
          </a:ln>
        </p:spPr>
        <p:txBody>
          <a:bodyPr/>
          <a:lstStyle>
            <a:defPPr>
              <a:defRPr sz="2850" b="1">
                <a:solidFill>
                  <a:srgbClr val="79D0A8"/>
                </a:solidFill>
                <a:latin typeface="DejaVu Sans"/>
                <a:ea typeface="DejaVu Sans"/>
                <a:cs typeface="DejaVu Sans"/>
              </a:defRPr>
            </a:defPPr>
          </a:lstStyle>
          <a:p>
            <a:pPr>
              <a:defRPr sz="2850" b="1">
                <a:solidFill>
                  <a:srgbClr val="79D0A8"/>
                </a:solidFill>
                <a:latin typeface="DejaVu Sans"/>
                <a:ea typeface="DejaVu Sans"/>
                <a:cs typeface="DejaVu Sans"/>
              </a:defRPr>
            </a:pPr>
            <a:r>
              <a:rPr sz="2850" b="1">
                <a:solidFill>
                  <a:srgbClr val="79D0A8"/>
                </a:solidFill>
                <a:latin typeface="Calibri" panose="020F0502020204030204" charset="0"/>
                <a:ea typeface="DejaVu Sans"/>
                <a:cs typeface="Calibri" panose="020F0502020204030204" charset="0"/>
              </a:rPr>
              <a:t>05</a:t>
            </a:r>
            <a:endParaRPr sz="2850" b="1">
              <a:solidFill>
                <a:srgbClr val="79D0A8"/>
              </a:solidFill>
              <a:latin typeface="Calibri" panose="020F0502020204030204" charset="0"/>
              <a:ea typeface="DejaVu Sans"/>
              <a:cs typeface="Calibri" panose="020F0502020204030204" charset="0"/>
            </a:endParaRPr>
          </a:p>
        </p:txBody>
      </p:sp>
      <p:sp>
        <p:nvSpPr>
          <p:cNvPr id="17" name="Rectangle 16"/>
          <p:cNvSpPr>
            <a:spLocks noGrp="1"/>
          </p:cNvSpPr>
          <p:nvPr/>
        </p:nvSpPr>
        <p:spPr>
          <a:xfrm>
            <a:off x="1981200" y="5229225"/>
            <a:ext cx="4191000" cy="590550"/>
          </a:xfrm>
          <a:prstGeom prst="rect">
            <a:avLst/>
          </a:prstGeom>
          <a:noFill/>
          <a:ln w="0">
            <a:noFill/>
          </a:ln>
        </p:spPr>
        <p:txBody>
          <a:bodyPr/>
          <a:lstStyle>
            <a:defPPr>
              <a:defRPr sz="2250" b="1">
                <a:solidFill>
                  <a:srgbClr val="FFFFFF"/>
                </a:solidFill>
                <a:latin typeface="DejaVu Sans"/>
                <a:ea typeface="DejaVu Sans"/>
                <a:cs typeface="DejaVu Sans"/>
              </a:defRPr>
            </a:defPPr>
          </a:lstStyle>
          <a:p>
            <a:pPr>
              <a:defRPr sz="2250" b="1">
                <a:solidFill>
                  <a:srgbClr val="FFFFFF"/>
                </a:solidFill>
                <a:latin typeface="DejaVu Sans"/>
                <a:ea typeface="DejaVu Sans"/>
                <a:cs typeface="DejaVu Sans"/>
              </a:defRPr>
            </a:pPr>
            <a:r>
              <a:rPr sz="2250" b="1">
                <a:solidFill>
                  <a:srgbClr val="FFFFFF"/>
                </a:solidFill>
                <a:latin typeface="Calibri" panose="020F0502020204030204" charset="0"/>
                <a:ea typeface="DejaVu Sans"/>
                <a:cs typeface="Calibri" panose="020F0502020204030204" charset="0"/>
              </a:rPr>
              <a:t>Hỗ trợ lựa chọn</a:t>
            </a:r>
            <a:endParaRPr sz="2250" b="1">
              <a:solidFill>
                <a:srgbClr val="FFFFFF"/>
              </a:solidFill>
              <a:latin typeface="Calibri" panose="020F0502020204030204" charset="0"/>
              <a:ea typeface="DejaVu Sans"/>
              <a:cs typeface="Calibri" panose="020F0502020204030204" charset="0"/>
            </a:endParaRPr>
          </a:p>
        </p:txBody>
      </p:sp>
      <p:sp>
        <p:nvSpPr>
          <p:cNvPr id="18" name="Rectangle 17"/>
          <p:cNvSpPr>
            <a:spLocks noGrp="1"/>
          </p:cNvSpPr>
          <p:nvPr/>
        </p:nvSpPr>
        <p:spPr>
          <a:xfrm>
            <a:off x="6172200" y="5248275"/>
            <a:ext cx="5324475" cy="714375"/>
          </a:xfrm>
          <a:prstGeom prst="rect">
            <a:avLst/>
          </a:prstGeom>
          <a:noFill/>
          <a:ln w="0">
            <a:noFill/>
          </a:ln>
        </p:spPr>
        <p:txBody>
          <a:bodyPr/>
          <a:lstStyle>
            <a:defPPr>
              <a:defRPr sz="1800" b="0">
                <a:solidFill>
                  <a:srgbClr val="E6EFEA"/>
                </a:solidFill>
                <a:latin typeface="DejaVu Sans"/>
                <a:ea typeface="DejaVu Sans"/>
                <a:cs typeface="DejaVu Sans"/>
              </a:defRPr>
            </a:defPPr>
          </a:lstStyle>
          <a:p>
            <a:pPr algn="just">
              <a:defRPr sz="1800" b="0">
                <a:solidFill>
                  <a:srgbClr val="E6EFEA"/>
                </a:solidFill>
                <a:latin typeface="DejaVu Sans"/>
                <a:ea typeface="DejaVu Sans"/>
                <a:cs typeface="DejaVu Sans"/>
              </a:defRPr>
            </a:pPr>
            <a:r>
              <a:rPr sz="1800" b="0" dirty="0" err="1">
                <a:solidFill>
                  <a:srgbClr val="E6EFEA"/>
                </a:solidFill>
                <a:latin typeface="Calibri" panose="020F0502020204030204" charset="0"/>
                <a:ea typeface="DejaVu Sans"/>
                <a:cs typeface="Calibri" panose="020F0502020204030204" charset="0"/>
              </a:rPr>
              <a:t>Người</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dùng</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xem</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dinh</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dưỡng</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rồi</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phân</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bổ</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vào</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các</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bữa</a:t>
            </a:r>
            <a:endParaRPr sz="1800" b="0" dirty="0">
              <a:solidFill>
                <a:srgbClr val="E6EFEA"/>
              </a:solidFill>
              <a:latin typeface="Calibri" panose="020F0502020204030204" charset="0"/>
              <a:ea typeface="DejaVu Sans"/>
              <a:cs typeface="Calibri" panose="020F0502020204030204" charset="0"/>
            </a:endParaRPr>
          </a:p>
        </p:txBody>
      </p:sp>
      <p:sp>
        <p:nvSpPr>
          <p:cNvPr id="22" name="Rectangle 21"/>
          <p:cNvSpPr/>
          <p:nvPr/>
        </p:nvSpPr>
        <p:spPr>
          <a:xfrm flipH="1">
            <a:off x="5340095" y="1666875"/>
            <a:ext cx="45719" cy="429577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vi-VN">
              <a:latin typeface="Calibri" panose="020F0502020204030204" charset="0"/>
              <a:cs typeface="Calibri" panose="020F050202020403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6" name="Panel nội dung"/>
          <p:cNvSpPr>
            <a:spLocks noGrp="1"/>
          </p:cNvSpPr>
          <p:nvPr/>
        </p:nvSpPr>
        <p:spPr>
          <a:xfrm>
            <a:off x="471487" y="1887283"/>
            <a:ext cx="11249025" cy="4003929"/>
          </a:xfrm>
          <a:prstGeom prst="roundRect">
            <a:avLst>
              <a:gd name="adj" fmla="val 3333"/>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Rectangle 1"/>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lang="en-US" sz="3150" b="1">
                <a:solidFill>
                  <a:srgbClr val="FFFFFF"/>
                </a:solidFill>
                <a:latin typeface="Calibri" panose="020F0502020204030204" charset="0"/>
                <a:ea typeface="DejaVu Sans"/>
                <a:cs typeface="Calibri" panose="020F0502020204030204" charset="0"/>
              </a:rPr>
              <a:t>Các </a:t>
            </a:r>
            <a:r>
              <a:rPr sz="3150" b="1">
                <a:solidFill>
                  <a:srgbClr val="FFFFFF"/>
                </a:solidFill>
                <a:latin typeface="Calibri" panose="020F0502020204030204" charset="0"/>
                <a:ea typeface="DejaVu Sans"/>
                <a:cs typeface="Calibri" panose="020F0502020204030204" charset="0"/>
              </a:rPr>
              <a:t>bước sử dụng ứng dụng</a:t>
            </a:r>
            <a:endParaRPr sz="3150" b="1">
              <a:solidFill>
                <a:srgbClr val="FFFFFF"/>
              </a:solidFill>
              <a:latin typeface="Calibri" panose="020F0502020204030204" charset="0"/>
              <a:ea typeface="DejaVu Sans"/>
              <a:cs typeface="Calibri" panose="020F0502020204030204" charset="0"/>
            </a:endParaRPr>
          </a:p>
        </p:txBody>
      </p:sp>
      <p:sp>
        <p:nvSpPr>
          <p:cNvPr id="3" name="Rectangle 2"/>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Calibri" panose="020F0502020204030204" charset="0"/>
              <a:ea typeface="DejaVu Sans"/>
              <a:cs typeface="Calibri" panose="020F0502020204030204" charset="0"/>
            </a:endParaRPr>
          </a:p>
        </p:txBody>
      </p:sp>
      <p:graphicFrame>
        <p:nvGraphicFramePr>
          <p:cNvPr id="4" name="Table 3"/>
          <p:cNvGraphicFramePr/>
          <p:nvPr/>
        </p:nvGraphicFramePr>
        <p:xfrm>
          <a:off x="704850" y="2231897"/>
          <a:ext cx="10763250" cy="3314700"/>
        </p:xfrm>
        <a:graphic>
          <a:graphicData uri="http://schemas.openxmlformats.org/drawingml/2006/table">
            <a:tbl>
              <a:tblPr/>
              <a:tblGrid>
                <a:gridCol w="2571750"/>
                <a:gridCol w="4481830"/>
                <a:gridCol w="3709670"/>
              </a:tblGrid>
              <a:tr h="828675">
                <a:tc>
                  <a:txBody>
                    <a:bodyPr/>
                    <a:lstStyle/>
                    <a:p>
                      <a:pPr algn="ctr"/>
                      <a:r>
                        <a:rPr sz="1800" b="1">
                          <a:solidFill>
                            <a:srgbClr val="FFFFFF"/>
                          </a:solidFill>
                          <a:latin typeface="Calibri" panose="020F0502020204030204" charset="0"/>
                          <a:ea typeface="DejaVu Sans"/>
                          <a:cs typeface="Calibri" panose="020F0502020204030204" charset="0"/>
                        </a:rPr>
                        <a:t>Bước</a:t>
                      </a:r>
                      <a:endParaRPr sz="1800" b="1">
                        <a:solidFill>
                          <a:srgbClr val="FFFFFF"/>
                        </a:solidFill>
                        <a:latin typeface="Calibri" panose="020F0502020204030204" charset="0"/>
                        <a:ea typeface="DejaVu Sans"/>
                        <a:cs typeface="Calibri" panose="020F0502020204030204" charset="0"/>
                      </a:endParaRPr>
                    </a:p>
                  </a:txBody>
                  <a:tcPr anchor="ctr" anchorCtr="0">
                    <a:solidFill>
                      <a:srgbClr val="23604F"/>
                    </a:solidFill>
                  </a:tcPr>
                </a:tc>
                <a:tc>
                  <a:txBody>
                    <a:bodyPr/>
                    <a:lstStyle/>
                    <a:p>
                      <a:pPr algn="ctr"/>
                      <a:r>
                        <a:rPr sz="1800" b="1" dirty="0">
                          <a:solidFill>
                            <a:srgbClr val="FFFFFF"/>
                          </a:solidFill>
                          <a:latin typeface="Calibri" panose="020F0502020204030204" charset="0"/>
                          <a:ea typeface="DejaVu Sans"/>
                          <a:cs typeface="Calibri" panose="020F0502020204030204" charset="0"/>
                        </a:rPr>
                        <a:t>Thao </a:t>
                      </a:r>
                      <a:r>
                        <a:rPr sz="1800" b="1" dirty="0" err="1">
                          <a:solidFill>
                            <a:srgbClr val="FFFFFF"/>
                          </a:solidFill>
                          <a:latin typeface="Calibri" panose="020F0502020204030204" charset="0"/>
                          <a:ea typeface="DejaVu Sans"/>
                          <a:cs typeface="Calibri" panose="020F0502020204030204" charset="0"/>
                        </a:rPr>
                        <a:t>tác</a:t>
                      </a:r>
                      <a:endParaRPr sz="1800" b="1" dirty="0">
                        <a:solidFill>
                          <a:srgbClr val="FFFFFF"/>
                        </a:solidFill>
                        <a:latin typeface="Calibri" panose="020F0502020204030204" charset="0"/>
                        <a:ea typeface="DejaVu Sans"/>
                        <a:cs typeface="Calibri" panose="020F0502020204030204" charset="0"/>
                      </a:endParaRPr>
                    </a:p>
                  </a:txBody>
                  <a:tcPr anchor="ctr" anchorCtr="0">
                    <a:solidFill>
                      <a:srgbClr val="23604F"/>
                    </a:solidFill>
                  </a:tcPr>
                </a:tc>
                <a:tc>
                  <a:txBody>
                    <a:bodyPr/>
                    <a:lstStyle/>
                    <a:p>
                      <a:pPr algn="ctr"/>
                      <a:r>
                        <a:rPr sz="1800" b="1">
                          <a:solidFill>
                            <a:srgbClr val="FFFFFF"/>
                          </a:solidFill>
                          <a:latin typeface="Calibri" panose="020F0502020204030204" charset="0"/>
                          <a:ea typeface="DejaVu Sans"/>
                          <a:cs typeface="Calibri" panose="020F0502020204030204" charset="0"/>
                        </a:rPr>
                        <a:t>Kết quả nhận được</a:t>
                      </a:r>
                      <a:endParaRPr sz="1800" b="1">
                        <a:solidFill>
                          <a:srgbClr val="FFFFFF"/>
                        </a:solidFill>
                        <a:latin typeface="Calibri" panose="020F0502020204030204" charset="0"/>
                        <a:ea typeface="DejaVu Sans"/>
                        <a:cs typeface="Calibri" panose="020F0502020204030204" charset="0"/>
                      </a:endParaRPr>
                    </a:p>
                  </a:txBody>
                  <a:tcPr anchor="ctr" anchorCtr="0">
                    <a:solidFill>
                      <a:srgbClr val="23604F"/>
                    </a:solidFill>
                  </a:tcPr>
                </a:tc>
              </a:tr>
              <a:tr h="828675">
                <a:tc>
                  <a:txBody>
                    <a:bodyPr/>
                    <a:lstStyle/>
                    <a:p>
                      <a:r>
                        <a:rPr sz="1800" b="0">
                          <a:solidFill>
                            <a:srgbClr val="E6EFEA"/>
                          </a:solidFill>
                          <a:latin typeface="Calibri" panose="020F0502020204030204" charset="0"/>
                          <a:ea typeface="DejaVu Sans"/>
                          <a:cs typeface="Calibri" panose="020F0502020204030204" charset="0"/>
                        </a:rPr>
                        <a:t>1. Nhập nhu cầu</a:t>
                      </a:r>
                      <a:endParaRPr sz="1800" b="0">
                        <a:solidFill>
                          <a:srgbClr val="E6EFEA"/>
                        </a:solidFill>
                        <a:latin typeface="Calibri" panose="020F0502020204030204" charset="0"/>
                        <a:ea typeface="DejaVu Sans"/>
                        <a:cs typeface="Calibri" panose="020F0502020204030204" charset="0"/>
                      </a:endParaRPr>
                    </a:p>
                  </a:txBody>
                  <a:tcPr anchor="ctr" anchorCtr="0">
                    <a:solidFill>
                      <a:srgbClr val="174A3D"/>
                    </a:solidFill>
                  </a:tcPr>
                </a:tc>
                <a:tc>
                  <a:txBody>
                    <a:bodyPr/>
                    <a:lstStyle/>
                    <a:p>
                      <a:r>
                        <a:rPr sz="1800" b="0">
                          <a:solidFill>
                            <a:srgbClr val="E6EFEA"/>
                          </a:solidFill>
                          <a:latin typeface="Calibri" panose="020F0502020204030204" charset="0"/>
                          <a:ea typeface="DejaVu Sans"/>
                          <a:cs typeface="Calibri" panose="020F0502020204030204" charset="0"/>
                        </a:rPr>
                        <a:t>Điền thông tin và chọn thực phẩm cần tránh</a:t>
                      </a:r>
                      <a:endParaRPr sz="1800" b="0">
                        <a:solidFill>
                          <a:srgbClr val="E6EFEA"/>
                        </a:solidFill>
                        <a:latin typeface="Calibri" panose="020F0502020204030204" charset="0"/>
                        <a:ea typeface="DejaVu Sans"/>
                        <a:cs typeface="Calibri" panose="020F0502020204030204" charset="0"/>
                      </a:endParaRPr>
                    </a:p>
                  </a:txBody>
                  <a:tcPr anchor="ctr" anchorCtr="0">
                    <a:solidFill>
                      <a:srgbClr val="174A3D"/>
                    </a:solidFill>
                  </a:tcPr>
                </a:tc>
                <a:tc>
                  <a:txBody>
                    <a:bodyPr/>
                    <a:lstStyle/>
                    <a:p>
                      <a:r>
                        <a:rPr sz="1800" b="0">
                          <a:solidFill>
                            <a:srgbClr val="E6EFEA"/>
                          </a:solidFill>
                          <a:latin typeface="Calibri" panose="020F0502020204030204" charset="0"/>
                          <a:ea typeface="DejaVu Sans"/>
                          <a:cs typeface="Calibri" panose="020F0502020204030204" charset="0"/>
                        </a:rPr>
                        <a:t>Mục tiêu dinh dưỡng cá nhân</a:t>
                      </a:r>
                      <a:endParaRPr sz="1800" b="0">
                        <a:solidFill>
                          <a:srgbClr val="E6EFEA"/>
                        </a:solidFill>
                        <a:latin typeface="Calibri" panose="020F0502020204030204" charset="0"/>
                        <a:ea typeface="DejaVu Sans"/>
                        <a:cs typeface="Calibri" panose="020F0502020204030204" charset="0"/>
                      </a:endParaRPr>
                    </a:p>
                  </a:txBody>
                  <a:tcPr anchor="ctr" anchorCtr="0">
                    <a:solidFill>
                      <a:srgbClr val="174A3D"/>
                    </a:solidFill>
                  </a:tcPr>
                </a:tc>
              </a:tr>
              <a:tr h="828675">
                <a:tc>
                  <a:txBody>
                    <a:bodyPr/>
                    <a:lstStyle/>
                    <a:p>
                      <a:r>
                        <a:rPr sz="1800" b="0">
                          <a:solidFill>
                            <a:srgbClr val="E6EFEA"/>
                          </a:solidFill>
                          <a:latin typeface="Calibri" panose="020F0502020204030204" charset="0"/>
                          <a:ea typeface="DejaVu Sans"/>
                          <a:cs typeface="Calibri" panose="020F0502020204030204" charset="0"/>
                        </a:rPr>
                        <a:t>2. Chọn thực đơn</a:t>
                      </a:r>
                      <a:endParaRPr sz="1800" b="0">
                        <a:solidFill>
                          <a:srgbClr val="E6EFEA"/>
                        </a:solidFill>
                        <a:latin typeface="Calibri" panose="020F0502020204030204" charset="0"/>
                        <a:ea typeface="DejaVu Sans"/>
                        <a:cs typeface="Calibri" panose="020F0502020204030204" charset="0"/>
                      </a:endParaRPr>
                    </a:p>
                  </a:txBody>
                  <a:tcPr anchor="ctr" anchorCtr="0">
                    <a:solidFill>
                      <a:srgbClr val="1C5344"/>
                    </a:solidFill>
                  </a:tcPr>
                </a:tc>
                <a:tc>
                  <a:txBody>
                    <a:bodyPr/>
                    <a:lstStyle/>
                    <a:p>
                      <a:r>
                        <a:rPr sz="1800" b="0">
                          <a:solidFill>
                            <a:srgbClr val="E6EFEA"/>
                          </a:solidFill>
                          <a:latin typeface="Calibri" panose="020F0502020204030204" charset="0"/>
                          <a:ea typeface="DejaVu Sans"/>
                          <a:cs typeface="Calibri" panose="020F0502020204030204" charset="0"/>
                        </a:rPr>
                        <a:t>So sánh các phương án và gán cho từng bữa</a:t>
                      </a:r>
                      <a:endParaRPr sz="1800" b="0">
                        <a:solidFill>
                          <a:srgbClr val="E6EFEA"/>
                        </a:solidFill>
                        <a:latin typeface="Calibri" panose="020F0502020204030204" charset="0"/>
                        <a:ea typeface="DejaVu Sans"/>
                        <a:cs typeface="Calibri" panose="020F0502020204030204" charset="0"/>
                      </a:endParaRPr>
                    </a:p>
                  </a:txBody>
                  <a:tcPr anchor="ctr" anchorCtr="0">
                    <a:solidFill>
                      <a:srgbClr val="1C5344"/>
                    </a:solidFill>
                  </a:tcPr>
                </a:tc>
                <a:tc>
                  <a:txBody>
                    <a:bodyPr/>
                    <a:lstStyle/>
                    <a:p>
                      <a:r>
                        <a:rPr sz="1800" b="0">
                          <a:solidFill>
                            <a:srgbClr val="E6EFEA"/>
                          </a:solidFill>
                          <a:latin typeface="Calibri" panose="020F0502020204030204" charset="0"/>
                          <a:ea typeface="DejaVu Sans"/>
                          <a:cs typeface="Calibri" panose="020F0502020204030204" charset="0"/>
                        </a:rPr>
                        <a:t>Thực đơn sáng, trưa và tối</a:t>
                      </a:r>
                      <a:endParaRPr sz="1800" b="0">
                        <a:solidFill>
                          <a:srgbClr val="E6EFEA"/>
                        </a:solidFill>
                        <a:latin typeface="Calibri" panose="020F0502020204030204" charset="0"/>
                        <a:ea typeface="DejaVu Sans"/>
                        <a:cs typeface="Calibri" panose="020F0502020204030204" charset="0"/>
                      </a:endParaRPr>
                    </a:p>
                  </a:txBody>
                  <a:tcPr anchor="ctr" anchorCtr="0">
                    <a:solidFill>
                      <a:srgbClr val="1C5344"/>
                    </a:solidFill>
                  </a:tcPr>
                </a:tc>
              </a:tr>
              <a:tr h="828675">
                <a:tc>
                  <a:txBody>
                    <a:bodyPr/>
                    <a:lstStyle/>
                    <a:p>
                      <a:r>
                        <a:rPr sz="1800" b="0">
                          <a:solidFill>
                            <a:srgbClr val="E6EFEA"/>
                          </a:solidFill>
                          <a:latin typeface="Calibri" panose="020F0502020204030204" charset="0"/>
                          <a:ea typeface="DejaVu Sans"/>
                          <a:cs typeface="Calibri" panose="020F0502020204030204" charset="0"/>
                        </a:rPr>
                        <a:t>3. Đối chiếu</a:t>
                      </a:r>
                      <a:endParaRPr sz="1800" b="0">
                        <a:solidFill>
                          <a:srgbClr val="E6EFEA"/>
                        </a:solidFill>
                        <a:latin typeface="Calibri" panose="020F0502020204030204" charset="0"/>
                        <a:ea typeface="DejaVu Sans"/>
                        <a:cs typeface="Calibri" panose="020F0502020204030204" charset="0"/>
                      </a:endParaRPr>
                    </a:p>
                  </a:txBody>
                  <a:tcPr anchor="ctr" anchorCtr="0">
                    <a:solidFill>
                      <a:srgbClr val="174A3D"/>
                    </a:solidFill>
                  </a:tcPr>
                </a:tc>
                <a:tc>
                  <a:txBody>
                    <a:bodyPr/>
                    <a:lstStyle/>
                    <a:p>
                      <a:r>
                        <a:rPr sz="1800" b="0">
                          <a:solidFill>
                            <a:srgbClr val="E6EFEA"/>
                          </a:solidFill>
                          <a:latin typeface="Calibri" panose="020F0502020204030204" charset="0"/>
                          <a:ea typeface="DejaVu Sans"/>
                          <a:cs typeface="Calibri" panose="020F0502020204030204" charset="0"/>
                        </a:rPr>
                        <a:t>Xem tổng dinh dưỡng so với mục tiêu ngày</a:t>
                      </a:r>
                      <a:endParaRPr sz="1800" b="0">
                        <a:solidFill>
                          <a:srgbClr val="E6EFEA"/>
                        </a:solidFill>
                        <a:latin typeface="Calibri" panose="020F0502020204030204" charset="0"/>
                        <a:ea typeface="DejaVu Sans"/>
                        <a:cs typeface="Calibri" panose="020F0502020204030204" charset="0"/>
                      </a:endParaRPr>
                    </a:p>
                  </a:txBody>
                  <a:tcPr anchor="ctr" anchorCtr="0">
                    <a:solidFill>
                      <a:srgbClr val="174A3D"/>
                    </a:solidFill>
                  </a:tcPr>
                </a:tc>
                <a:tc>
                  <a:txBody>
                    <a:bodyPr/>
                    <a:lstStyle/>
                    <a:p>
                      <a:r>
                        <a:rPr sz="1800" b="0" dirty="0" err="1">
                          <a:solidFill>
                            <a:srgbClr val="E6EFEA"/>
                          </a:solidFill>
                          <a:latin typeface="Calibri" panose="020F0502020204030204" charset="0"/>
                          <a:ea typeface="DejaVu Sans"/>
                          <a:cs typeface="Calibri" panose="020F0502020204030204" charset="0"/>
                        </a:rPr>
                        <a:t>Cơ</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sở</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để</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điều</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chỉnh</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lựa</a:t>
                      </a:r>
                      <a:r>
                        <a:rPr sz="1800" b="0" dirty="0">
                          <a:solidFill>
                            <a:srgbClr val="E6EFEA"/>
                          </a:solidFill>
                          <a:latin typeface="Calibri" panose="020F0502020204030204" charset="0"/>
                          <a:ea typeface="DejaVu Sans"/>
                          <a:cs typeface="Calibri" panose="020F0502020204030204" charset="0"/>
                        </a:rPr>
                        <a:t> </a:t>
                      </a:r>
                      <a:r>
                        <a:rPr sz="1800" b="0" dirty="0" err="1">
                          <a:solidFill>
                            <a:srgbClr val="E6EFEA"/>
                          </a:solidFill>
                          <a:latin typeface="Calibri" panose="020F0502020204030204" charset="0"/>
                          <a:ea typeface="DejaVu Sans"/>
                          <a:cs typeface="Calibri" panose="020F0502020204030204" charset="0"/>
                        </a:rPr>
                        <a:t>chọn</a:t>
                      </a:r>
                      <a:endParaRPr sz="1800" b="0" dirty="0">
                        <a:solidFill>
                          <a:srgbClr val="E6EFEA"/>
                        </a:solidFill>
                        <a:latin typeface="Calibri" panose="020F0502020204030204" charset="0"/>
                        <a:ea typeface="DejaVu Sans"/>
                        <a:cs typeface="Calibri" panose="020F0502020204030204" charset="0"/>
                      </a:endParaRPr>
                    </a:p>
                  </a:txBody>
                  <a:tcPr anchor="ctr" anchorCtr="0">
                    <a:solidFill>
                      <a:srgbClr val="174A3D"/>
                    </a:solidFill>
                  </a:tcPr>
                </a:tc>
              </a:tr>
            </a:tbl>
          </a:graphicData>
        </a:graphic>
      </p:graphicFrame>
      <p:sp>
        <p:nvSpPr>
          <p:cNvPr id="5" name="Rectangle 4"/>
          <p:cNvSpPr>
            <a:spLocks noGrp="1"/>
          </p:cNvSpPr>
          <p:nvPr/>
        </p:nvSpPr>
        <p:spPr>
          <a:xfrm>
            <a:off x="742950" y="5591175"/>
            <a:ext cx="10287000" cy="600075"/>
          </a:xfrm>
          <a:prstGeom prst="rect">
            <a:avLst/>
          </a:prstGeom>
          <a:noFill/>
          <a:ln w="0">
            <a:noFill/>
          </a:ln>
        </p:spPr>
        <p:txBody>
          <a:bodyPr/>
          <a:lstStyle>
            <a:defPPr>
              <a:defRPr sz="2250" b="1">
                <a:solidFill>
                  <a:srgbClr val="79D0A8"/>
                </a:solidFill>
                <a:latin typeface="DejaVu Sans"/>
                <a:ea typeface="DejaVu Sans"/>
                <a:cs typeface="DejaVu Sans"/>
              </a:defRPr>
            </a:defPPr>
          </a:lstStyle>
          <a:p>
            <a:pPr>
              <a:defRPr sz="2250" b="1">
                <a:solidFill>
                  <a:srgbClr val="79D0A8"/>
                </a:solidFill>
                <a:latin typeface="DejaVu Sans"/>
                <a:ea typeface="DejaVu Sans"/>
                <a:cs typeface="DejaVu Sans"/>
              </a:defRPr>
            </a:pPr>
            <a:endParaRPr sz="2250" b="1" dirty="0">
              <a:solidFill>
                <a:srgbClr val="79D0A8"/>
              </a:solidFill>
              <a:latin typeface="Calibri" panose="020F0502020204030204" charset="0"/>
              <a:ea typeface="DejaVu Sans"/>
              <a:cs typeface="Calibri" panose="020F050202020403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10" name="Panel nội dung"/>
          <p:cNvSpPr>
            <a:spLocks noGrp="1"/>
          </p:cNvSpPr>
          <p:nvPr/>
        </p:nvSpPr>
        <p:spPr>
          <a:xfrm>
            <a:off x="457200" y="1400175"/>
            <a:ext cx="11249025" cy="5143500"/>
          </a:xfrm>
          <a:prstGeom prst="roundRect">
            <a:avLst>
              <a:gd name="adj" fmla="val 3333"/>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Rectangle 1"/>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Calibri" panose="020F0502020204030204" charset="0"/>
                <a:ea typeface="DejaVu Sans"/>
                <a:cs typeface="Calibri" panose="020F0502020204030204" charset="0"/>
              </a:rPr>
              <a:t>Lý do lựa chọn KNN</a:t>
            </a:r>
            <a:endParaRPr sz="3150" b="1">
              <a:solidFill>
                <a:srgbClr val="FFFFFF"/>
              </a:solidFill>
              <a:latin typeface="Calibri" panose="020F0502020204030204" charset="0"/>
              <a:ea typeface="DejaVu Sans"/>
              <a:cs typeface="Calibri" panose="020F0502020204030204" charset="0"/>
            </a:endParaRPr>
          </a:p>
        </p:txBody>
      </p:sp>
      <p:sp>
        <p:nvSpPr>
          <p:cNvPr id="3" name="Rectangle 2"/>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Calibri" panose="020F0502020204030204" charset="0"/>
              <a:ea typeface="DejaVu Sans"/>
              <a:cs typeface="Calibri" panose="020F0502020204030204" charset="0"/>
            </a:endParaRPr>
          </a:p>
        </p:txBody>
      </p:sp>
      <p:sp>
        <p:nvSpPr>
          <p:cNvPr id="4" name="Rectangle 3"/>
          <p:cNvSpPr>
            <a:spLocks noGrp="1"/>
          </p:cNvSpPr>
          <p:nvPr/>
        </p:nvSpPr>
        <p:spPr>
          <a:xfrm>
            <a:off x="742950" y="1685925"/>
            <a:ext cx="10477500" cy="495300"/>
          </a:xfrm>
          <a:prstGeom prst="rect">
            <a:avLst/>
          </a:prstGeom>
          <a:noFill/>
          <a:ln w="0">
            <a:noFill/>
          </a:ln>
        </p:spPr>
        <p:txBody>
          <a:bodyPr/>
          <a:lstStyle>
            <a:defPPr>
              <a:defRPr sz="2400" b="1">
                <a:solidFill>
                  <a:srgbClr val="79D0A8"/>
                </a:solidFill>
                <a:latin typeface="DejaVu Sans"/>
                <a:ea typeface="DejaVu Sans"/>
                <a:cs typeface="DejaVu Sans"/>
              </a:defRPr>
            </a:defPPr>
          </a:lstStyle>
          <a:p>
            <a:pPr>
              <a:defRPr sz="2400" b="1">
                <a:solidFill>
                  <a:srgbClr val="79D0A8"/>
                </a:solidFill>
                <a:latin typeface="DejaVu Sans"/>
                <a:ea typeface="DejaVu Sans"/>
                <a:cs typeface="DejaVu Sans"/>
              </a:defRPr>
            </a:pPr>
            <a:r>
              <a:rPr sz="2400" b="1">
                <a:solidFill>
                  <a:srgbClr val="79D0A8"/>
                </a:solidFill>
                <a:latin typeface="Calibri" panose="020F0502020204030204" charset="0"/>
                <a:ea typeface="DejaVu Sans"/>
                <a:cs typeface="Calibri" panose="020F0502020204030204" charset="0"/>
              </a:rPr>
              <a:t>Phù hợp với bài toán tương đồng</a:t>
            </a:r>
            <a:endParaRPr sz="2400" b="1">
              <a:solidFill>
                <a:srgbClr val="79D0A8"/>
              </a:solidFill>
              <a:latin typeface="Calibri" panose="020F0502020204030204" charset="0"/>
              <a:ea typeface="DejaVu Sans"/>
              <a:cs typeface="Calibri" panose="020F0502020204030204" charset="0"/>
            </a:endParaRPr>
          </a:p>
        </p:txBody>
      </p:sp>
      <p:sp>
        <p:nvSpPr>
          <p:cNvPr id="5" name="Rectangle 4"/>
          <p:cNvSpPr>
            <a:spLocks noGrp="1"/>
          </p:cNvSpPr>
          <p:nvPr/>
        </p:nvSpPr>
        <p:spPr>
          <a:xfrm>
            <a:off x="1200150" y="2328545"/>
            <a:ext cx="8991600" cy="809625"/>
          </a:xfrm>
          <a:prstGeom prst="rect">
            <a:avLst/>
          </a:prstGeom>
          <a:noFill/>
          <a:ln w="0">
            <a:noFill/>
          </a:ln>
        </p:spPr>
        <p:txBody>
          <a:bodyPr/>
          <a:lstStyle>
            <a:defPPr>
              <a:defRPr sz="2025" b="0">
                <a:solidFill>
                  <a:srgbClr val="E6EFEA"/>
                </a:solidFill>
                <a:latin typeface="DejaVu Sans"/>
                <a:ea typeface="DejaVu Sans"/>
                <a:cs typeface="DejaVu Sans"/>
              </a:defRPr>
            </a:defPPr>
          </a:lstStyle>
          <a:p>
            <a:pPr algn="just">
              <a:defRPr sz="2025" b="0">
                <a:solidFill>
                  <a:srgbClr val="E6EFEA"/>
                </a:solidFill>
                <a:latin typeface="DejaVu Sans"/>
                <a:ea typeface="DejaVu Sans"/>
                <a:cs typeface="DejaVu Sans"/>
              </a:defRPr>
            </a:pPr>
            <a:r>
              <a:rPr sz="2025" b="0" dirty="0" err="1">
                <a:solidFill>
                  <a:srgbClr val="E6EFEA"/>
                </a:solidFill>
                <a:latin typeface="Calibri" panose="020F0502020204030204" charset="0"/>
                <a:ea typeface="DejaVu Sans"/>
                <a:cs typeface="Calibri" panose="020F0502020204030204" charset="0"/>
              </a:rPr>
              <a:t>Mỗi</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thực</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đơn</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có</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bốn</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chỉ</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số</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số</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học</a:t>
            </a:r>
            <a:r>
              <a:rPr sz="2025" b="0" dirty="0">
                <a:solidFill>
                  <a:srgbClr val="E6EFEA"/>
                </a:solidFill>
                <a:latin typeface="Calibri" panose="020F0502020204030204" charset="0"/>
                <a:ea typeface="DejaVu Sans"/>
                <a:cs typeface="Calibri" panose="020F0502020204030204" charset="0"/>
              </a:rPr>
              <a:t>. KNN </a:t>
            </a:r>
            <a:r>
              <a:rPr sz="2025" b="0" dirty="0" err="1">
                <a:solidFill>
                  <a:srgbClr val="E6EFEA"/>
                </a:solidFill>
                <a:latin typeface="Calibri" panose="020F0502020204030204" charset="0"/>
                <a:ea typeface="DejaVu Sans"/>
                <a:cs typeface="Calibri" panose="020F0502020204030204" charset="0"/>
              </a:rPr>
              <a:t>tìm</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các</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phương</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án</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gần</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nhất</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với</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nhu</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cầu</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dinh</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dưỡng</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đã</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tính</a:t>
            </a:r>
            <a:r>
              <a:rPr sz="2025" b="0" dirty="0">
                <a:solidFill>
                  <a:srgbClr val="E6EFEA"/>
                </a:solidFill>
                <a:latin typeface="Calibri" panose="020F0502020204030204" charset="0"/>
                <a:ea typeface="DejaVu Sans"/>
                <a:cs typeface="Calibri" panose="020F0502020204030204" charset="0"/>
              </a:rPr>
              <a:t>.</a:t>
            </a:r>
            <a:endParaRPr sz="2025" b="0" dirty="0">
              <a:solidFill>
                <a:srgbClr val="E6EFEA"/>
              </a:solidFill>
              <a:latin typeface="Calibri" panose="020F0502020204030204" charset="0"/>
              <a:ea typeface="DejaVu Sans"/>
              <a:cs typeface="Calibri" panose="020F0502020204030204" charset="0"/>
            </a:endParaRPr>
          </a:p>
        </p:txBody>
      </p:sp>
      <p:sp>
        <p:nvSpPr>
          <p:cNvPr id="6" name="Rectangle 5"/>
          <p:cNvSpPr>
            <a:spLocks noGrp="1"/>
          </p:cNvSpPr>
          <p:nvPr/>
        </p:nvSpPr>
        <p:spPr>
          <a:xfrm>
            <a:off x="742950" y="3190875"/>
            <a:ext cx="10477500" cy="495300"/>
          </a:xfrm>
          <a:prstGeom prst="rect">
            <a:avLst/>
          </a:prstGeom>
          <a:noFill/>
          <a:ln w="0">
            <a:noFill/>
          </a:ln>
        </p:spPr>
        <p:txBody>
          <a:bodyPr/>
          <a:lstStyle>
            <a:defPPr>
              <a:defRPr sz="2400" b="1">
                <a:solidFill>
                  <a:srgbClr val="79D0A8"/>
                </a:solidFill>
                <a:latin typeface="DejaVu Sans"/>
                <a:ea typeface="DejaVu Sans"/>
                <a:cs typeface="DejaVu Sans"/>
              </a:defRPr>
            </a:defPPr>
          </a:lstStyle>
          <a:p>
            <a:pPr>
              <a:defRPr sz="2400" b="1">
                <a:solidFill>
                  <a:srgbClr val="79D0A8"/>
                </a:solidFill>
                <a:latin typeface="DejaVu Sans"/>
                <a:ea typeface="DejaVu Sans"/>
                <a:cs typeface="DejaVu Sans"/>
              </a:defRPr>
            </a:pPr>
            <a:r>
              <a:rPr sz="2400" b="1">
                <a:solidFill>
                  <a:srgbClr val="79D0A8"/>
                </a:solidFill>
                <a:latin typeface="Calibri" panose="020F0502020204030204" charset="0"/>
                <a:ea typeface="DejaVu Sans"/>
                <a:cs typeface="Calibri" panose="020F0502020204030204" charset="0"/>
              </a:rPr>
              <a:t>Dễ triển khai và giải thích</a:t>
            </a:r>
            <a:endParaRPr sz="2400" b="1">
              <a:solidFill>
                <a:srgbClr val="79D0A8"/>
              </a:solidFill>
              <a:latin typeface="Calibri" panose="020F0502020204030204" charset="0"/>
              <a:ea typeface="DejaVu Sans"/>
              <a:cs typeface="Calibri" panose="020F0502020204030204" charset="0"/>
            </a:endParaRPr>
          </a:p>
        </p:txBody>
      </p:sp>
      <p:sp>
        <p:nvSpPr>
          <p:cNvPr id="7" name="Rectangle 6"/>
          <p:cNvSpPr>
            <a:spLocks noGrp="1"/>
          </p:cNvSpPr>
          <p:nvPr/>
        </p:nvSpPr>
        <p:spPr>
          <a:xfrm>
            <a:off x="1200150" y="3781425"/>
            <a:ext cx="8991600" cy="809625"/>
          </a:xfrm>
          <a:prstGeom prst="rect">
            <a:avLst/>
          </a:prstGeom>
          <a:noFill/>
          <a:ln w="0">
            <a:noFill/>
          </a:ln>
        </p:spPr>
        <p:txBody>
          <a:bodyPr/>
          <a:lstStyle>
            <a:defPPr>
              <a:defRPr sz="2025" b="0">
                <a:solidFill>
                  <a:srgbClr val="E6EFEA"/>
                </a:solidFill>
                <a:latin typeface="DejaVu Sans"/>
                <a:ea typeface="DejaVu Sans"/>
                <a:cs typeface="DejaVu Sans"/>
              </a:defRPr>
            </a:defPPr>
          </a:lstStyle>
          <a:p>
            <a:pPr algn="just">
              <a:defRPr sz="2025" b="0">
                <a:solidFill>
                  <a:srgbClr val="E6EFEA"/>
                </a:solidFill>
                <a:latin typeface="DejaVu Sans"/>
                <a:ea typeface="DejaVu Sans"/>
                <a:cs typeface="DejaVu Sans"/>
              </a:defRPr>
            </a:pPr>
            <a:r>
              <a:rPr sz="2025" b="0" dirty="0" err="1">
                <a:solidFill>
                  <a:srgbClr val="E6EFEA"/>
                </a:solidFill>
                <a:latin typeface="Calibri" panose="020F0502020204030204" charset="0"/>
                <a:ea typeface="DejaVu Sans"/>
                <a:cs typeface="Calibri" panose="020F0502020204030204" charset="0"/>
              </a:rPr>
              <a:t>Nhóm</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có</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thể</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giải</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thích</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kết</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quả</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bằng</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khoảng</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cách</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giữa</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nhu</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cầu</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và</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thực</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đơn</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với</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quy</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trình</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chuẩn</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hóa</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rõ</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ràng</a:t>
            </a:r>
            <a:r>
              <a:rPr sz="2025" b="0" dirty="0">
                <a:solidFill>
                  <a:srgbClr val="E6EFEA"/>
                </a:solidFill>
                <a:latin typeface="Calibri" panose="020F0502020204030204" charset="0"/>
                <a:ea typeface="DejaVu Sans"/>
                <a:cs typeface="Calibri" panose="020F0502020204030204" charset="0"/>
              </a:rPr>
              <a:t>.</a:t>
            </a:r>
            <a:endParaRPr sz="2025" b="0" dirty="0">
              <a:solidFill>
                <a:srgbClr val="E6EFEA"/>
              </a:solidFill>
              <a:latin typeface="Calibri" panose="020F0502020204030204" charset="0"/>
              <a:ea typeface="DejaVu Sans"/>
              <a:cs typeface="Calibri" panose="020F0502020204030204" charset="0"/>
            </a:endParaRPr>
          </a:p>
        </p:txBody>
      </p:sp>
      <p:sp>
        <p:nvSpPr>
          <p:cNvPr id="8" name="Rectangle 7"/>
          <p:cNvSpPr>
            <a:spLocks noGrp="1"/>
          </p:cNvSpPr>
          <p:nvPr/>
        </p:nvSpPr>
        <p:spPr>
          <a:xfrm>
            <a:off x="742950" y="4695825"/>
            <a:ext cx="10477500" cy="495300"/>
          </a:xfrm>
          <a:prstGeom prst="rect">
            <a:avLst/>
          </a:prstGeom>
          <a:noFill/>
          <a:ln w="0">
            <a:noFill/>
          </a:ln>
        </p:spPr>
        <p:txBody>
          <a:bodyPr/>
          <a:lstStyle>
            <a:defPPr>
              <a:defRPr sz="2400" b="1">
                <a:solidFill>
                  <a:srgbClr val="79D0A8"/>
                </a:solidFill>
                <a:latin typeface="DejaVu Sans"/>
                <a:ea typeface="DejaVu Sans"/>
                <a:cs typeface="DejaVu Sans"/>
              </a:defRPr>
            </a:defPPr>
          </a:lstStyle>
          <a:p>
            <a:pPr>
              <a:defRPr sz="2400" b="1">
                <a:solidFill>
                  <a:srgbClr val="79D0A8"/>
                </a:solidFill>
                <a:latin typeface="DejaVu Sans"/>
                <a:ea typeface="DejaVu Sans"/>
                <a:cs typeface="DejaVu Sans"/>
              </a:defRPr>
            </a:pPr>
            <a:r>
              <a:rPr sz="2400" b="1">
                <a:solidFill>
                  <a:srgbClr val="79D0A8"/>
                </a:solidFill>
                <a:latin typeface="Calibri" panose="020F0502020204030204" charset="0"/>
                <a:ea typeface="DejaVu Sans"/>
                <a:cs typeface="Calibri" panose="020F0502020204030204" charset="0"/>
              </a:rPr>
              <a:t>Có giới hạn cần cải thiện</a:t>
            </a:r>
            <a:endParaRPr sz="2400" b="1">
              <a:solidFill>
                <a:srgbClr val="79D0A8"/>
              </a:solidFill>
              <a:latin typeface="Calibri" panose="020F0502020204030204" charset="0"/>
              <a:ea typeface="DejaVu Sans"/>
              <a:cs typeface="Calibri" panose="020F0502020204030204" charset="0"/>
            </a:endParaRPr>
          </a:p>
        </p:txBody>
      </p:sp>
      <p:sp>
        <p:nvSpPr>
          <p:cNvPr id="9" name="Rectangle 8"/>
          <p:cNvSpPr>
            <a:spLocks noGrp="1"/>
          </p:cNvSpPr>
          <p:nvPr/>
        </p:nvSpPr>
        <p:spPr>
          <a:xfrm>
            <a:off x="1200150" y="5276850"/>
            <a:ext cx="8991600" cy="809625"/>
          </a:xfrm>
          <a:prstGeom prst="rect">
            <a:avLst/>
          </a:prstGeom>
          <a:noFill/>
          <a:ln w="0">
            <a:noFill/>
          </a:ln>
        </p:spPr>
        <p:txBody>
          <a:bodyPr/>
          <a:lstStyle>
            <a:defPPr>
              <a:defRPr sz="2025" b="0">
                <a:solidFill>
                  <a:srgbClr val="E6EFEA"/>
                </a:solidFill>
                <a:latin typeface="DejaVu Sans"/>
                <a:ea typeface="DejaVu Sans"/>
                <a:cs typeface="DejaVu Sans"/>
              </a:defRPr>
            </a:defPPr>
          </a:lstStyle>
          <a:p>
            <a:pPr algn="just">
              <a:defRPr sz="2025" b="0">
                <a:solidFill>
                  <a:srgbClr val="E6EFEA"/>
                </a:solidFill>
                <a:latin typeface="DejaVu Sans"/>
                <a:ea typeface="DejaVu Sans"/>
                <a:cs typeface="DejaVu Sans"/>
              </a:defRPr>
            </a:pPr>
            <a:r>
              <a:rPr sz="2025" b="0" dirty="0" err="1">
                <a:solidFill>
                  <a:srgbClr val="E6EFEA"/>
                </a:solidFill>
                <a:latin typeface="Calibri" panose="020F0502020204030204" charset="0"/>
                <a:ea typeface="DejaVu Sans"/>
                <a:cs typeface="Calibri" panose="020F0502020204030204" charset="0"/>
              </a:rPr>
              <a:t>Kết</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quả</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phụ</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thuộc</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vào</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chất</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lượng</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dữ</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liệu</a:t>
            </a:r>
            <a:r>
              <a:rPr sz="2025" b="0" dirty="0">
                <a:solidFill>
                  <a:srgbClr val="E6EFEA"/>
                </a:solidFill>
                <a:latin typeface="Calibri" panose="020F0502020204030204" charset="0"/>
                <a:ea typeface="DejaVu Sans"/>
                <a:cs typeface="Calibri" panose="020F0502020204030204" charset="0"/>
              </a:rPr>
              <a:t>. Các </a:t>
            </a:r>
            <a:r>
              <a:rPr sz="2025" b="0" dirty="0" err="1">
                <a:solidFill>
                  <a:srgbClr val="E6EFEA"/>
                </a:solidFill>
                <a:latin typeface="Calibri" panose="020F0502020204030204" charset="0"/>
                <a:ea typeface="DejaVu Sans"/>
                <a:cs typeface="Calibri" panose="020F0502020204030204" charset="0"/>
              </a:rPr>
              <a:t>phương</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án</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gần</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nhau</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có</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thể</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lặp</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nguyên</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liệu</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và</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dữ</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liệu</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lớn</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làm</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tăng</a:t>
            </a:r>
            <a:r>
              <a:rPr sz="2025" b="0" dirty="0">
                <a:solidFill>
                  <a:srgbClr val="E6EFEA"/>
                </a:solidFill>
                <a:latin typeface="Calibri" panose="020F0502020204030204" charset="0"/>
                <a:ea typeface="DejaVu Sans"/>
                <a:cs typeface="Calibri" panose="020F0502020204030204" charset="0"/>
              </a:rPr>
              <a:t> chi </a:t>
            </a:r>
            <a:r>
              <a:rPr sz="2025" b="0" dirty="0" err="1">
                <a:solidFill>
                  <a:srgbClr val="E6EFEA"/>
                </a:solidFill>
                <a:latin typeface="Calibri" panose="020F0502020204030204" charset="0"/>
                <a:ea typeface="DejaVu Sans"/>
                <a:cs typeface="Calibri" panose="020F0502020204030204" charset="0"/>
              </a:rPr>
              <a:t>phí</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tìm</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kiếm</a:t>
            </a:r>
            <a:r>
              <a:rPr sz="2025" b="0" dirty="0">
                <a:solidFill>
                  <a:srgbClr val="E6EFEA"/>
                </a:solidFill>
                <a:latin typeface="Calibri" panose="020F0502020204030204" charset="0"/>
                <a:ea typeface="DejaVu Sans"/>
                <a:cs typeface="Calibri" panose="020F0502020204030204" charset="0"/>
              </a:rPr>
              <a:t>.</a:t>
            </a:r>
            <a:endParaRPr sz="2025" b="0" dirty="0">
              <a:solidFill>
                <a:srgbClr val="E6EFEA"/>
              </a:solidFill>
              <a:latin typeface="Calibri" panose="020F0502020204030204" charset="0"/>
              <a:ea typeface="DejaVu Sans"/>
              <a:cs typeface="Calibri" panose="020F050202020403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8" name="Panel nội dung"/>
          <p:cNvSpPr>
            <a:spLocks noGrp="1"/>
          </p:cNvSpPr>
          <p:nvPr/>
        </p:nvSpPr>
        <p:spPr>
          <a:xfrm>
            <a:off x="457200" y="1438275"/>
            <a:ext cx="4552950" cy="4695825"/>
          </a:xfrm>
          <a:prstGeom prst="roundRect">
            <a:avLst>
              <a:gd name="adj" fmla="val 3766"/>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Rectangle 1"/>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Calibri" panose="020F0502020204030204" charset="0"/>
                <a:ea typeface="DejaVu Sans"/>
                <a:cs typeface="Calibri" panose="020F0502020204030204" charset="0"/>
              </a:rPr>
              <a:t>Bước 1. Nhập thông tin cá nhân</a:t>
            </a:r>
            <a:endParaRPr sz="3150" b="1">
              <a:solidFill>
                <a:srgbClr val="FFFFFF"/>
              </a:solidFill>
              <a:latin typeface="Calibri" panose="020F0502020204030204" charset="0"/>
              <a:ea typeface="DejaVu Sans"/>
              <a:cs typeface="Calibri" panose="020F0502020204030204" charset="0"/>
            </a:endParaRPr>
          </a:p>
        </p:txBody>
      </p:sp>
      <p:sp>
        <p:nvSpPr>
          <p:cNvPr id="3" name="Rectangle 2"/>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Calibri" panose="020F0502020204030204" charset="0"/>
              <a:ea typeface="DejaVu Sans"/>
              <a:cs typeface="Calibri" panose="020F0502020204030204" charset="0"/>
            </a:endParaRPr>
          </a:p>
        </p:txBody>
      </p:sp>
      <p:pic>
        <p:nvPicPr>
          <p:cNvPr id="4" name="Picture 3"/>
          <p:cNvPicPr>
            <a:picLocks noChangeAspect="1"/>
          </p:cNvPicPr>
          <p:nvPr/>
        </p:nvPicPr>
        <p:blipFill>
          <a:blip r:embed="rId1"/>
          <a:stretch>
            <a:fillRect/>
          </a:stretch>
        </p:blipFill>
        <p:spPr>
          <a:xfrm>
            <a:off x="5882509" y="1428750"/>
            <a:ext cx="4998983" cy="4762500"/>
          </a:xfrm>
          <a:prstGeom prst="rect">
            <a:avLst/>
          </a:prstGeom>
        </p:spPr>
      </p:pic>
      <p:sp>
        <p:nvSpPr>
          <p:cNvPr id="5" name="Rectangle 4"/>
          <p:cNvSpPr>
            <a:spLocks noGrp="1"/>
          </p:cNvSpPr>
          <p:nvPr/>
        </p:nvSpPr>
        <p:spPr>
          <a:xfrm>
            <a:off x="704850" y="1685925"/>
            <a:ext cx="4048125" cy="781050"/>
          </a:xfrm>
          <a:prstGeom prst="rect">
            <a:avLst/>
          </a:prstGeom>
          <a:noFill/>
          <a:ln w="0">
            <a:noFill/>
          </a:ln>
        </p:spPr>
        <p:txBody>
          <a:bodyPr/>
          <a:lstStyle>
            <a:defPPr>
              <a:defRPr sz="2400" b="1">
                <a:solidFill>
                  <a:srgbClr val="79D0A8"/>
                </a:solidFill>
                <a:latin typeface="DejaVu Sans"/>
                <a:ea typeface="DejaVu Sans"/>
                <a:cs typeface="DejaVu Sans"/>
              </a:defRPr>
            </a:defPPr>
          </a:lstStyle>
          <a:p>
            <a:pPr>
              <a:defRPr sz="2400" b="1">
                <a:solidFill>
                  <a:srgbClr val="79D0A8"/>
                </a:solidFill>
                <a:latin typeface="DejaVu Sans"/>
                <a:ea typeface="DejaVu Sans"/>
                <a:cs typeface="DejaVu Sans"/>
              </a:defRPr>
            </a:pPr>
            <a:r>
              <a:rPr sz="2400" b="1">
                <a:solidFill>
                  <a:srgbClr val="79D0A8"/>
                </a:solidFill>
                <a:latin typeface="Calibri" panose="020F0502020204030204" charset="0"/>
                <a:ea typeface="DejaVu Sans"/>
                <a:cs typeface="Calibri" panose="020F0502020204030204" charset="0"/>
              </a:rPr>
              <a:t>Xác định đúng nhu cầu</a:t>
            </a:r>
            <a:endParaRPr sz="2400" b="1">
              <a:solidFill>
                <a:srgbClr val="79D0A8"/>
              </a:solidFill>
              <a:latin typeface="Calibri" panose="020F0502020204030204" charset="0"/>
              <a:ea typeface="DejaVu Sans"/>
              <a:cs typeface="Calibri" panose="020F0502020204030204" charset="0"/>
            </a:endParaRPr>
          </a:p>
        </p:txBody>
      </p:sp>
      <p:sp>
        <p:nvSpPr>
          <p:cNvPr id="6" name="Rectangle 5"/>
          <p:cNvSpPr>
            <a:spLocks noGrp="1"/>
          </p:cNvSpPr>
          <p:nvPr/>
        </p:nvSpPr>
        <p:spPr>
          <a:xfrm>
            <a:off x="704850" y="2886075"/>
            <a:ext cx="3971925" cy="1876425"/>
          </a:xfrm>
          <a:prstGeom prst="rect">
            <a:avLst/>
          </a:prstGeom>
          <a:noFill/>
          <a:ln w="0">
            <a:noFill/>
          </a:ln>
        </p:spPr>
        <p:txBody>
          <a:bodyPr/>
          <a:lstStyle>
            <a:defPPr>
              <a:defRPr sz="2025" b="0">
                <a:solidFill>
                  <a:srgbClr val="E6EFEA"/>
                </a:solidFill>
                <a:latin typeface="DejaVu Sans"/>
                <a:ea typeface="DejaVu Sans"/>
                <a:cs typeface="DejaVu Sans"/>
              </a:defRPr>
            </a:defPPr>
          </a:lstStyle>
          <a:p>
            <a:pPr algn="just">
              <a:defRPr sz="2025" b="0">
                <a:solidFill>
                  <a:srgbClr val="E6EFEA"/>
                </a:solidFill>
                <a:latin typeface="DejaVu Sans"/>
                <a:ea typeface="DejaVu Sans"/>
                <a:cs typeface="DejaVu Sans"/>
              </a:defRPr>
            </a:pPr>
            <a:r>
              <a:rPr sz="2025" b="0" dirty="0" err="1">
                <a:solidFill>
                  <a:srgbClr val="E6EFEA"/>
                </a:solidFill>
                <a:latin typeface="Calibri" panose="020F0502020204030204" charset="0"/>
                <a:ea typeface="DejaVu Sans"/>
                <a:cs typeface="Calibri" panose="020F0502020204030204" charset="0"/>
              </a:rPr>
              <a:t>Người</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dùng</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nhập</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tuổi</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giới</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tính</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chiều</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cao</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cân</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nặng</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và</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mức</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vận</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động</a:t>
            </a:r>
            <a:r>
              <a:rPr sz="2025" b="0" dirty="0">
                <a:solidFill>
                  <a:srgbClr val="E6EFEA"/>
                </a:solidFill>
                <a:latin typeface="Calibri" panose="020F0502020204030204" charset="0"/>
                <a:ea typeface="DejaVu Sans"/>
                <a:cs typeface="Calibri" panose="020F0502020204030204" charset="0"/>
              </a:rPr>
              <a:t>. Sau </a:t>
            </a:r>
            <a:r>
              <a:rPr sz="2025" b="0" dirty="0" err="1">
                <a:solidFill>
                  <a:srgbClr val="E6EFEA"/>
                </a:solidFill>
                <a:latin typeface="Calibri" panose="020F0502020204030204" charset="0"/>
                <a:ea typeface="DejaVu Sans"/>
                <a:cs typeface="Calibri" panose="020F0502020204030204" charset="0"/>
              </a:rPr>
              <a:t>đó</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chọn</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mục</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tiêu</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tập</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luyện</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và</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thực</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phẩm</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cần</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tránh</a:t>
            </a:r>
            <a:r>
              <a:rPr sz="2025" b="0" dirty="0">
                <a:solidFill>
                  <a:srgbClr val="E6EFEA"/>
                </a:solidFill>
                <a:latin typeface="Calibri" panose="020F0502020204030204" charset="0"/>
                <a:ea typeface="DejaVu Sans"/>
                <a:cs typeface="Calibri" panose="020F0502020204030204" charset="0"/>
              </a:rPr>
              <a:t>.</a:t>
            </a:r>
            <a:endParaRPr sz="2025" b="0" dirty="0">
              <a:solidFill>
                <a:srgbClr val="E6EFEA"/>
              </a:solidFill>
              <a:latin typeface="Calibri" panose="020F0502020204030204" charset="0"/>
              <a:ea typeface="DejaVu Sans"/>
              <a:cs typeface="Calibri" panose="020F0502020204030204" charset="0"/>
            </a:endParaRPr>
          </a:p>
        </p:txBody>
      </p:sp>
      <p:sp>
        <p:nvSpPr>
          <p:cNvPr id="7" name="Rectangle 6"/>
          <p:cNvSpPr>
            <a:spLocks noGrp="1"/>
          </p:cNvSpPr>
          <p:nvPr/>
        </p:nvSpPr>
        <p:spPr>
          <a:xfrm>
            <a:off x="704850" y="5181600"/>
            <a:ext cx="3971925" cy="742950"/>
          </a:xfrm>
          <a:prstGeom prst="rect">
            <a:avLst/>
          </a:prstGeom>
          <a:noFill/>
          <a:ln w="0">
            <a:noFill/>
          </a:ln>
        </p:spPr>
        <p:txBody>
          <a:bodyPr/>
          <a:lstStyle>
            <a:defPPr>
              <a:defRPr sz="1950" b="1">
                <a:solidFill>
                  <a:srgbClr val="FFFFFF"/>
                </a:solidFill>
                <a:latin typeface="DejaVu Sans"/>
                <a:ea typeface="DejaVu Sans"/>
                <a:cs typeface="DejaVu Sans"/>
              </a:defRPr>
            </a:defPPr>
          </a:lstStyle>
          <a:p>
            <a:pPr>
              <a:defRPr sz="1950" b="1">
                <a:solidFill>
                  <a:srgbClr val="FFFFFF"/>
                </a:solidFill>
                <a:latin typeface="DejaVu Sans"/>
                <a:ea typeface="DejaVu Sans"/>
                <a:cs typeface="DejaVu Sans"/>
              </a:defRPr>
            </a:pPr>
            <a:r>
              <a:rPr sz="1950" b="1">
                <a:solidFill>
                  <a:srgbClr val="FFFFFF"/>
                </a:solidFill>
                <a:latin typeface="Calibri" panose="020F0502020204030204" charset="0"/>
                <a:ea typeface="DejaVu Sans"/>
                <a:cs typeface="Calibri" panose="020F0502020204030204" charset="0"/>
              </a:rPr>
              <a:t>Nhấn Gợi ý thực đơn để hệ thống xử lý yêu cầu.</a:t>
            </a:r>
            <a:endParaRPr sz="1950" b="1">
              <a:solidFill>
                <a:srgbClr val="FFFFFF"/>
              </a:solidFill>
              <a:latin typeface="Calibri" panose="020F0502020204030204" charset="0"/>
              <a:ea typeface="DejaVu Sans"/>
              <a:cs typeface="Calibri" panose="020F050202020403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7" name="Panel nội dung"/>
          <p:cNvSpPr>
            <a:spLocks noGrp="1"/>
          </p:cNvSpPr>
          <p:nvPr/>
        </p:nvSpPr>
        <p:spPr>
          <a:xfrm>
            <a:off x="438150" y="1371600"/>
            <a:ext cx="3543300" cy="4810125"/>
          </a:xfrm>
          <a:prstGeom prst="roundRect">
            <a:avLst>
              <a:gd name="adj" fmla="val 4839"/>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Rectangle 1"/>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Calibri" panose="020F0502020204030204" charset="0"/>
                <a:ea typeface="DejaVu Sans"/>
                <a:cs typeface="Calibri" panose="020F0502020204030204" charset="0"/>
              </a:rPr>
              <a:t>Bước 2. So sánh và chọn thực đơn</a:t>
            </a:r>
            <a:endParaRPr sz="3150" b="1">
              <a:solidFill>
                <a:srgbClr val="FFFFFF"/>
              </a:solidFill>
              <a:latin typeface="Calibri" panose="020F0502020204030204" charset="0"/>
              <a:ea typeface="DejaVu Sans"/>
              <a:cs typeface="Calibri" panose="020F0502020204030204" charset="0"/>
            </a:endParaRPr>
          </a:p>
        </p:txBody>
      </p:sp>
      <p:sp>
        <p:nvSpPr>
          <p:cNvPr id="3" name="Rectangle 2"/>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Calibri" panose="020F0502020204030204" charset="0"/>
              <a:ea typeface="DejaVu Sans"/>
              <a:cs typeface="Calibri" panose="020F0502020204030204" charset="0"/>
            </a:endParaRPr>
          </a:p>
        </p:txBody>
      </p:sp>
      <p:pic>
        <p:nvPicPr>
          <p:cNvPr id="4" name="Picture 3"/>
          <p:cNvPicPr>
            <a:picLocks noChangeAspect="1"/>
          </p:cNvPicPr>
          <p:nvPr/>
        </p:nvPicPr>
        <p:blipFill>
          <a:blip r:embed="rId1"/>
          <a:stretch>
            <a:fillRect/>
          </a:stretch>
        </p:blipFill>
        <p:spPr>
          <a:xfrm>
            <a:off x="4464273" y="1590675"/>
            <a:ext cx="6835328" cy="4476750"/>
          </a:xfrm>
          <a:prstGeom prst="rect">
            <a:avLst/>
          </a:prstGeom>
        </p:spPr>
      </p:pic>
      <p:sp>
        <p:nvSpPr>
          <p:cNvPr id="5" name="Rectangle 4"/>
          <p:cNvSpPr>
            <a:spLocks noGrp="1"/>
          </p:cNvSpPr>
          <p:nvPr/>
        </p:nvSpPr>
        <p:spPr>
          <a:xfrm>
            <a:off x="666750" y="1628775"/>
            <a:ext cx="3105150" cy="914400"/>
          </a:xfrm>
          <a:prstGeom prst="rect">
            <a:avLst/>
          </a:prstGeom>
          <a:noFill/>
          <a:ln w="0">
            <a:noFill/>
          </a:ln>
        </p:spPr>
        <p:txBody>
          <a:bodyPr/>
          <a:lstStyle>
            <a:defPPr>
              <a:defRPr sz="2250" b="1">
                <a:solidFill>
                  <a:srgbClr val="79D0A8"/>
                </a:solidFill>
                <a:latin typeface="DejaVu Sans"/>
                <a:ea typeface="DejaVu Sans"/>
                <a:cs typeface="DejaVu Sans"/>
              </a:defRPr>
            </a:defPPr>
          </a:lstStyle>
          <a:p>
            <a:pPr>
              <a:defRPr sz="2250" b="1">
                <a:solidFill>
                  <a:srgbClr val="79D0A8"/>
                </a:solidFill>
                <a:latin typeface="DejaVu Sans"/>
                <a:ea typeface="DejaVu Sans"/>
                <a:cs typeface="DejaVu Sans"/>
              </a:defRPr>
            </a:pPr>
            <a:r>
              <a:rPr sz="2250" b="1">
                <a:solidFill>
                  <a:srgbClr val="79D0A8"/>
                </a:solidFill>
                <a:latin typeface="Calibri" panose="020F0502020204030204" charset="0"/>
                <a:ea typeface="DejaVu Sans"/>
                <a:cs typeface="Calibri" panose="020F0502020204030204" charset="0"/>
              </a:rPr>
              <a:t>Nhiều phương án</a:t>
            </a:r>
            <a:endParaRPr sz="2250" b="1">
              <a:solidFill>
                <a:srgbClr val="79D0A8"/>
              </a:solidFill>
              <a:latin typeface="Calibri" panose="020F0502020204030204" charset="0"/>
              <a:ea typeface="DejaVu Sans"/>
              <a:cs typeface="Calibri" panose="020F0502020204030204" charset="0"/>
            </a:endParaRPr>
          </a:p>
          <a:p>
            <a:pPr>
              <a:defRPr sz="2250" b="1">
                <a:solidFill>
                  <a:srgbClr val="79D0A8"/>
                </a:solidFill>
                <a:latin typeface="DejaVu Sans"/>
                <a:ea typeface="DejaVu Sans"/>
                <a:cs typeface="DejaVu Sans"/>
              </a:defRPr>
            </a:pPr>
            <a:r>
              <a:rPr sz="2250" b="1">
                <a:solidFill>
                  <a:srgbClr val="79D0A8"/>
                </a:solidFill>
                <a:latin typeface="Calibri" panose="020F0502020204030204" charset="0"/>
                <a:ea typeface="DejaVu Sans"/>
                <a:cs typeface="Calibri" panose="020F0502020204030204" charset="0"/>
              </a:rPr>
              <a:t>để lựa chọn</a:t>
            </a:r>
            <a:endParaRPr sz="2250" b="1">
              <a:solidFill>
                <a:srgbClr val="79D0A8"/>
              </a:solidFill>
              <a:latin typeface="Calibri" panose="020F0502020204030204" charset="0"/>
              <a:ea typeface="DejaVu Sans"/>
              <a:cs typeface="Calibri" panose="020F0502020204030204" charset="0"/>
            </a:endParaRPr>
          </a:p>
        </p:txBody>
      </p:sp>
      <p:sp>
        <p:nvSpPr>
          <p:cNvPr id="6" name="Rectangle 5"/>
          <p:cNvSpPr>
            <a:spLocks noGrp="1"/>
          </p:cNvSpPr>
          <p:nvPr/>
        </p:nvSpPr>
        <p:spPr>
          <a:xfrm>
            <a:off x="666750" y="2962275"/>
            <a:ext cx="3086100" cy="2619375"/>
          </a:xfrm>
          <a:prstGeom prst="rect">
            <a:avLst/>
          </a:prstGeom>
          <a:noFill/>
          <a:ln w="0">
            <a:noFill/>
          </a:ln>
        </p:spPr>
        <p:txBody>
          <a:bodyPr/>
          <a:lstStyle>
            <a:defPPr>
              <a:defRPr sz="1950" b="0">
                <a:solidFill>
                  <a:srgbClr val="E6EFEA"/>
                </a:solidFill>
                <a:latin typeface="DejaVu Sans"/>
                <a:ea typeface="DejaVu Sans"/>
                <a:cs typeface="DejaVu Sans"/>
              </a:defRPr>
            </a:defPPr>
          </a:lstStyle>
          <a:p>
            <a:pPr algn="just">
              <a:defRPr sz="1950" b="0">
                <a:solidFill>
                  <a:srgbClr val="E6EFEA"/>
                </a:solidFill>
                <a:latin typeface="DejaVu Sans"/>
                <a:ea typeface="DejaVu Sans"/>
                <a:cs typeface="DejaVu Sans"/>
              </a:defRPr>
            </a:pPr>
            <a:r>
              <a:rPr sz="1950" b="0">
                <a:solidFill>
                  <a:srgbClr val="E6EFEA"/>
                </a:solidFill>
                <a:latin typeface="Calibri" panose="020F0502020204030204" charset="0"/>
                <a:ea typeface="DejaVu Sans"/>
                <a:cs typeface="Calibri" panose="020F0502020204030204" charset="0"/>
              </a:rPr>
              <a:t>Mỗi thẻ cho biết nguyên liệu, định lượng và dinh dưỡng. Người dùng so sánh với mục tiêu một bữa rồi gán thực đơn vào sáng, trưa hoặc tối.</a:t>
            </a:r>
            <a:endParaRPr sz="1950" b="0">
              <a:solidFill>
                <a:srgbClr val="E6EFEA"/>
              </a:solidFill>
              <a:latin typeface="Calibri" panose="020F0502020204030204" charset="0"/>
              <a:ea typeface="DejaVu Sans"/>
              <a:cs typeface="Calibri" panose="020F050202020403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8" name="Panel nội dung"/>
          <p:cNvSpPr>
            <a:spLocks noGrp="1"/>
          </p:cNvSpPr>
          <p:nvPr/>
        </p:nvSpPr>
        <p:spPr>
          <a:xfrm>
            <a:off x="457200" y="1485900"/>
            <a:ext cx="4876800" cy="4552950"/>
          </a:xfrm>
          <a:prstGeom prst="roundRect">
            <a:avLst>
              <a:gd name="adj" fmla="val 3766"/>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Rectangle 1"/>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Calibri" panose="020F0502020204030204" charset="0"/>
                <a:ea typeface="DejaVu Sans"/>
                <a:cs typeface="Calibri" panose="020F0502020204030204" charset="0"/>
              </a:rPr>
              <a:t>Bước 3. Đối chiếu dinh dưỡng ngày</a:t>
            </a:r>
            <a:endParaRPr sz="3150" b="1">
              <a:solidFill>
                <a:srgbClr val="FFFFFF"/>
              </a:solidFill>
              <a:latin typeface="Calibri" panose="020F0502020204030204" charset="0"/>
              <a:ea typeface="DejaVu Sans"/>
              <a:cs typeface="Calibri" panose="020F0502020204030204" charset="0"/>
            </a:endParaRPr>
          </a:p>
        </p:txBody>
      </p:sp>
      <p:sp>
        <p:nvSpPr>
          <p:cNvPr id="3" name="Rectangle 2"/>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Calibri" panose="020F0502020204030204" charset="0"/>
              <a:ea typeface="DejaVu Sans"/>
              <a:cs typeface="Calibri" panose="020F0502020204030204" charset="0"/>
            </a:endParaRPr>
          </a:p>
        </p:txBody>
      </p:sp>
      <p:pic>
        <p:nvPicPr>
          <p:cNvPr id="4" name="Picture 3"/>
          <p:cNvPicPr>
            <a:picLocks noChangeAspect="1"/>
          </p:cNvPicPr>
          <p:nvPr/>
        </p:nvPicPr>
        <p:blipFill>
          <a:blip r:embed="rId1"/>
          <a:stretch>
            <a:fillRect/>
          </a:stretch>
        </p:blipFill>
        <p:spPr>
          <a:xfrm>
            <a:off x="5792039" y="1381125"/>
            <a:ext cx="5560922" cy="4857750"/>
          </a:xfrm>
          <a:prstGeom prst="rect">
            <a:avLst/>
          </a:prstGeom>
        </p:spPr>
      </p:pic>
      <p:sp>
        <p:nvSpPr>
          <p:cNvPr id="5" name="Rectangle 4"/>
          <p:cNvSpPr>
            <a:spLocks noGrp="1"/>
          </p:cNvSpPr>
          <p:nvPr/>
        </p:nvSpPr>
        <p:spPr>
          <a:xfrm>
            <a:off x="704850" y="1724025"/>
            <a:ext cx="4362450" cy="866775"/>
          </a:xfrm>
          <a:prstGeom prst="rect">
            <a:avLst/>
          </a:prstGeom>
          <a:noFill/>
          <a:ln w="0">
            <a:noFill/>
          </a:ln>
        </p:spPr>
        <p:txBody>
          <a:bodyPr/>
          <a:lstStyle>
            <a:defPPr>
              <a:defRPr sz="2400" b="1">
                <a:solidFill>
                  <a:srgbClr val="79D0A8"/>
                </a:solidFill>
                <a:latin typeface="DejaVu Sans"/>
                <a:ea typeface="DejaVu Sans"/>
                <a:cs typeface="DejaVu Sans"/>
              </a:defRPr>
            </a:defPPr>
          </a:lstStyle>
          <a:p>
            <a:pPr>
              <a:defRPr sz="2400" b="1">
                <a:solidFill>
                  <a:srgbClr val="79D0A8"/>
                </a:solidFill>
                <a:latin typeface="DejaVu Sans"/>
                <a:ea typeface="DejaVu Sans"/>
                <a:cs typeface="DejaVu Sans"/>
              </a:defRPr>
            </a:pPr>
            <a:r>
              <a:rPr sz="2400" b="1">
                <a:solidFill>
                  <a:srgbClr val="79D0A8"/>
                </a:solidFill>
                <a:latin typeface="Calibri" panose="020F0502020204030204" charset="0"/>
                <a:ea typeface="DejaVu Sans"/>
                <a:cs typeface="Calibri" panose="020F0502020204030204" charset="0"/>
              </a:rPr>
              <a:t>Theo dõi tổng dinh dưỡng</a:t>
            </a:r>
            <a:endParaRPr sz="2400" b="1">
              <a:solidFill>
                <a:srgbClr val="79D0A8"/>
              </a:solidFill>
              <a:latin typeface="Calibri" panose="020F0502020204030204" charset="0"/>
              <a:ea typeface="DejaVu Sans"/>
              <a:cs typeface="Calibri" panose="020F0502020204030204" charset="0"/>
            </a:endParaRPr>
          </a:p>
        </p:txBody>
      </p:sp>
      <p:sp>
        <p:nvSpPr>
          <p:cNvPr id="6" name="Rectangle 5"/>
          <p:cNvSpPr>
            <a:spLocks noGrp="1"/>
          </p:cNvSpPr>
          <p:nvPr/>
        </p:nvSpPr>
        <p:spPr>
          <a:xfrm>
            <a:off x="704850" y="3067050"/>
            <a:ext cx="4314825" cy="1771650"/>
          </a:xfrm>
          <a:prstGeom prst="rect">
            <a:avLst/>
          </a:prstGeom>
          <a:noFill/>
          <a:ln w="0">
            <a:noFill/>
          </a:ln>
        </p:spPr>
        <p:txBody>
          <a:bodyPr/>
          <a:lstStyle>
            <a:defPPr>
              <a:defRPr sz="2025" b="0">
                <a:solidFill>
                  <a:srgbClr val="E6EFEA"/>
                </a:solidFill>
                <a:latin typeface="DejaVu Sans"/>
                <a:ea typeface="DejaVu Sans"/>
                <a:cs typeface="DejaVu Sans"/>
              </a:defRPr>
            </a:defPPr>
          </a:lstStyle>
          <a:p>
            <a:pPr algn="just">
              <a:defRPr sz="2025" b="0">
                <a:solidFill>
                  <a:srgbClr val="E6EFEA"/>
                </a:solidFill>
                <a:latin typeface="DejaVu Sans"/>
                <a:ea typeface="DejaVu Sans"/>
                <a:cs typeface="DejaVu Sans"/>
              </a:defRPr>
            </a:pPr>
            <a:r>
              <a:rPr sz="2025" b="0">
                <a:solidFill>
                  <a:srgbClr val="E6EFEA"/>
                </a:solidFill>
                <a:latin typeface="Calibri" panose="020F0502020204030204" charset="0"/>
                <a:ea typeface="DejaVu Sans"/>
                <a:cs typeface="Calibri" panose="020F0502020204030204" charset="0"/>
              </a:rPr>
              <a:t>Sau khi chọn các bữa, hệ thống cộng dinh dưỡng và đặt cạnh mục tiêu ngày. Người dùng xem phần chênh lệch để điều chỉnh thực đơn.</a:t>
            </a:r>
            <a:endParaRPr sz="2025" b="0">
              <a:solidFill>
                <a:srgbClr val="E6EFEA"/>
              </a:solidFill>
              <a:latin typeface="Calibri" panose="020F0502020204030204" charset="0"/>
              <a:ea typeface="DejaVu Sans"/>
              <a:cs typeface="Calibri" panose="020F0502020204030204" charset="0"/>
            </a:endParaRPr>
          </a:p>
        </p:txBody>
      </p:sp>
      <p:sp>
        <p:nvSpPr>
          <p:cNvPr id="7" name="Rectangle 6"/>
          <p:cNvSpPr>
            <a:spLocks noGrp="1"/>
          </p:cNvSpPr>
          <p:nvPr/>
        </p:nvSpPr>
        <p:spPr>
          <a:xfrm>
            <a:off x="704850" y="5172075"/>
            <a:ext cx="4314825" cy="866775"/>
          </a:xfrm>
          <a:prstGeom prst="rect">
            <a:avLst/>
          </a:prstGeom>
          <a:noFill/>
          <a:ln w="0">
            <a:noFill/>
          </a:ln>
        </p:spPr>
        <p:txBody>
          <a:bodyPr/>
          <a:lstStyle>
            <a:defPPr>
              <a:defRPr sz="1800" b="0">
                <a:solidFill>
                  <a:srgbClr val="B4CDC1"/>
                </a:solidFill>
                <a:latin typeface="DejaVu Sans"/>
                <a:ea typeface="DejaVu Sans"/>
                <a:cs typeface="DejaVu Sans"/>
              </a:defRPr>
            </a:defPPr>
          </a:lstStyle>
          <a:p>
            <a:pPr>
              <a:defRPr sz="1800" b="0">
                <a:solidFill>
                  <a:srgbClr val="B4CDC1"/>
                </a:solidFill>
                <a:latin typeface="DejaVu Sans"/>
                <a:ea typeface="DejaVu Sans"/>
                <a:cs typeface="DejaVu Sans"/>
              </a:defRPr>
            </a:pPr>
            <a:r>
              <a:rPr sz="1800" b="0">
                <a:solidFill>
                  <a:srgbClr val="B4CDC1"/>
                </a:solidFill>
                <a:latin typeface="Calibri" panose="020F0502020204030204" charset="0"/>
                <a:ea typeface="DejaVu Sans"/>
                <a:cs typeface="Calibri" panose="020F0502020204030204" charset="0"/>
              </a:rPr>
              <a:t>Ảnh đang ở trạng thái chưa chọn bữa, nên tổng dinh dưỡng bằng 0.</a:t>
            </a:r>
            <a:endParaRPr sz="1800" b="0">
              <a:solidFill>
                <a:srgbClr val="B4CDC1"/>
              </a:solidFill>
              <a:latin typeface="Calibri" panose="020F0502020204030204" charset="0"/>
              <a:ea typeface="DejaVu Sans"/>
              <a:cs typeface="Calibri" panose="020F0502020204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11" name="Panel nội dung"/>
          <p:cNvSpPr>
            <a:spLocks noGrp="1"/>
          </p:cNvSpPr>
          <p:nvPr/>
        </p:nvSpPr>
        <p:spPr>
          <a:xfrm>
            <a:off x="457200" y="1390650"/>
            <a:ext cx="4953000" cy="4143375"/>
          </a:xfrm>
          <a:prstGeom prst="roundRect">
            <a:avLst>
              <a:gd name="adj" fmla="val 4138"/>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Panel nội dung"/>
          <p:cNvSpPr>
            <a:spLocks noGrp="1"/>
          </p:cNvSpPr>
          <p:nvPr/>
        </p:nvSpPr>
        <p:spPr>
          <a:xfrm>
            <a:off x="5734050" y="1390650"/>
            <a:ext cx="5905500" cy="4772406"/>
          </a:xfrm>
          <a:prstGeom prst="roundRect">
            <a:avLst>
              <a:gd name="adj" fmla="val 3273"/>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3" name="Rectangle 2"/>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Calibri" panose="020F0502020204030204" charset="0"/>
                <a:ea typeface="DejaVu Sans"/>
                <a:cs typeface="Calibri" panose="020F0502020204030204" charset="0"/>
              </a:rPr>
              <a:t>Kết quả kiểm tra các chức năng</a:t>
            </a:r>
            <a:endParaRPr sz="3150" b="1">
              <a:solidFill>
                <a:srgbClr val="FFFFFF"/>
              </a:solidFill>
              <a:latin typeface="Calibri" panose="020F0502020204030204" charset="0"/>
              <a:ea typeface="DejaVu Sans"/>
              <a:cs typeface="Calibri" panose="020F0502020204030204" charset="0"/>
            </a:endParaRPr>
          </a:p>
        </p:txBody>
      </p:sp>
      <p:sp>
        <p:nvSpPr>
          <p:cNvPr id="4" name="Rectangle 3"/>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Calibri" panose="020F0502020204030204" charset="0"/>
              <a:ea typeface="DejaVu Sans"/>
              <a:cs typeface="Calibri" panose="020F0502020204030204" charset="0"/>
            </a:endParaRPr>
          </a:p>
        </p:txBody>
      </p:sp>
      <p:sp>
        <p:nvSpPr>
          <p:cNvPr id="5" name="Rectangle 4"/>
          <p:cNvSpPr>
            <a:spLocks noGrp="1"/>
          </p:cNvSpPr>
          <p:nvPr/>
        </p:nvSpPr>
        <p:spPr>
          <a:xfrm>
            <a:off x="666750" y="1552575"/>
            <a:ext cx="4762500" cy="476250"/>
          </a:xfrm>
          <a:prstGeom prst="rect">
            <a:avLst/>
          </a:prstGeom>
          <a:noFill/>
          <a:ln w="0">
            <a:noFill/>
          </a:ln>
        </p:spPr>
        <p:txBody>
          <a:bodyPr/>
          <a:lstStyle>
            <a:defPPr>
              <a:defRPr sz="2250" b="1">
                <a:solidFill>
                  <a:srgbClr val="79D0A8"/>
                </a:solidFill>
                <a:latin typeface="DejaVu Sans"/>
                <a:ea typeface="DejaVu Sans"/>
                <a:cs typeface="DejaVu Sans"/>
              </a:defRPr>
            </a:defPPr>
          </a:lstStyle>
          <a:p>
            <a:pPr>
              <a:defRPr sz="2250" b="1">
                <a:solidFill>
                  <a:srgbClr val="79D0A8"/>
                </a:solidFill>
                <a:latin typeface="DejaVu Sans"/>
                <a:ea typeface="DejaVu Sans"/>
                <a:cs typeface="DejaVu Sans"/>
              </a:defRPr>
            </a:pPr>
            <a:r>
              <a:rPr sz="2250" b="1">
                <a:solidFill>
                  <a:srgbClr val="79D0A8"/>
                </a:solidFill>
                <a:latin typeface="Calibri" panose="020F0502020204030204" charset="0"/>
                <a:ea typeface="DejaVu Sans"/>
                <a:cs typeface="Calibri" panose="020F0502020204030204" charset="0"/>
              </a:rPr>
              <a:t>Dữ liệu đầu vào</a:t>
            </a:r>
            <a:endParaRPr sz="2250" b="1">
              <a:solidFill>
                <a:srgbClr val="79D0A8"/>
              </a:solidFill>
              <a:latin typeface="Calibri" panose="020F0502020204030204" charset="0"/>
              <a:ea typeface="DejaVu Sans"/>
              <a:cs typeface="Calibri" panose="020F0502020204030204" charset="0"/>
            </a:endParaRPr>
          </a:p>
        </p:txBody>
      </p:sp>
      <p:sp>
        <p:nvSpPr>
          <p:cNvPr id="6" name="Rectangle 5"/>
          <p:cNvSpPr>
            <a:spLocks noGrp="1"/>
          </p:cNvSpPr>
          <p:nvPr/>
        </p:nvSpPr>
        <p:spPr>
          <a:xfrm>
            <a:off x="666750" y="2190750"/>
            <a:ext cx="4524375" cy="1266825"/>
          </a:xfrm>
          <a:prstGeom prst="rect">
            <a:avLst/>
          </a:prstGeom>
          <a:noFill/>
          <a:ln w="0">
            <a:noFill/>
          </a:ln>
        </p:spPr>
        <p:txBody>
          <a:bodyPr/>
          <a:lstStyle>
            <a:defPPr>
              <a:defRPr sz="1950" b="0">
                <a:solidFill>
                  <a:srgbClr val="E6EFEA"/>
                </a:solidFill>
                <a:latin typeface="DejaVu Sans"/>
                <a:ea typeface="DejaVu Sans"/>
                <a:cs typeface="DejaVu Sans"/>
              </a:defRPr>
            </a:defPPr>
          </a:lstStyle>
          <a:p>
            <a:pPr>
              <a:defRPr sz="1950" b="0">
                <a:solidFill>
                  <a:srgbClr val="E6EFEA"/>
                </a:solidFill>
                <a:latin typeface="DejaVu Sans"/>
                <a:ea typeface="DejaVu Sans"/>
                <a:cs typeface="DejaVu Sans"/>
              </a:defRPr>
            </a:pPr>
            <a:r>
              <a:rPr sz="1950" b="0">
                <a:solidFill>
                  <a:srgbClr val="E6EFEA"/>
                </a:solidFill>
                <a:latin typeface="Calibri" panose="020F0502020204030204" charset="0"/>
                <a:ea typeface="DejaVu Sans"/>
                <a:cs typeface="Calibri" panose="020F0502020204030204" charset="0"/>
              </a:rPr>
              <a:t>Biểu mẫu chặn tuổi −10 và yêu cầu tuổi tối thiểu 16. Dữ liệu không hợp lệ dừng trước bước tìm thực đơn.</a:t>
            </a:r>
            <a:endParaRPr sz="1950" b="0">
              <a:solidFill>
                <a:srgbClr val="E6EFEA"/>
              </a:solidFill>
              <a:latin typeface="Calibri" panose="020F0502020204030204" charset="0"/>
              <a:ea typeface="DejaVu Sans"/>
              <a:cs typeface="Calibri" panose="020F0502020204030204" charset="0"/>
            </a:endParaRPr>
          </a:p>
        </p:txBody>
      </p:sp>
      <p:pic>
        <p:nvPicPr>
          <p:cNvPr id="7" name="Picture 6"/>
          <p:cNvPicPr>
            <a:picLocks noChangeAspect="1"/>
          </p:cNvPicPr>
          <p:nvPr/>
        </p:nvPicPr>
        <p:blipFill>
          <a:blip r:embed="rId1"/>
          <a:stretch>
            <a:fillRect/>
          </a:stretch>
        </p:blipFill>
        <p:spPr>
          <a:xfrm>
            <a:off x="666750" y="3643608"/>
            <a:ext cx="4476750" cy="1666284"/>
          </a:xfrm>
          <a:prstGeom prst="rect">
            <a:avLst/>
          </a:prstGeom>
        </p:spPr>
      </p:pic>
      <p:sp>
        <p:nvSpPr>
          <p:cNvPr id="8" name="Rectangle 7"/>
          <p:cNvSpPr>
            <a:spLocks noGrp="1"/>
          </p:cNvSpPr>
          <p:nvPr/>
        </p:nvSpPr>
        <p:spPr>
          <a:xfrm>
            <a:off x="5953125" y="1552575"/>
            <a:ext cx="5238750" cy="476250"/>
          </a:xfrm>
          <a:prstGeom prst="rect">
            <a:avLst/>
          </a:prstGeom>
          <a:noFill/>
          <a:ln w="0">
            <a:noFill/>
          </a:ln>
        </p:spPr>
        <p:txBody>
          <a:bodyPr/>
          <a:lstStyle>
            <a:defPPr>
              <a:defRPr sz="2250" b="1">
                <a:solidFill>
                  <a:srgbClr val="79D0A8"/>
                </a:solidFill>
                <a:latin typeface="DejaVu Sans"/>
                <a:ea typeface="DejaVu Sans"/>
                <a:cs typeface="DejaVu Sans"/>
              </a:defRPr>
            </a:defPPr>
          </a:lstStyle>
          <a:p>
            <a:pPr>
              <a:defRPr sz="2250" b="1">
                <a:solidFill>
                  <a:srgbClr val="79D0A8"/>
                </a:solidFill>
                <a:latin typeface="DejaVu Sans"/>
                <a:ea typeface="DejaVu Sans"/>
                <a:cs typeface="DejaVu Sans"/>
              </a:defRPr>
            </a:pPr>
            <a:r>
              <a:rPr sz="2250" b="1">
                <a:solidFill>
                  <a:srgbClr val="79D0A8"/>
                </a:solidFill>
                <a:latin typeface="Calibri" panose="020F0502020204030204" charset="0"/>
                <a:ea typeface="DejaVu Sans"/>
                <a:cs typeface="Calibri" panose="020F0502020204030204" charset="0"/>
              </a:rPr>
              <a:t>Loại trừ thịt bò</a:t>
            </a:r>
            <a:endParaRPr sz="2250" b="1">
              <a:solidFill>
                <a:srgbClr val="79D0A8"/>
              </a:solidFill>
              <a:latin typeface="Calibri" panose="020F0502020204030204" charset="0"/>
              <a:ea typeface="DejaVu Sans"/>
              <a:cs typeface="Calibri" panose="020F0502020204030204" charset="0"/>
            </a:endParaRPr>
          </a:p>
        </p:txBody>
      </p:sp>
      <p:pic>
        <p:nvPicPr>
          <p:cNvPr id="9" name="Picture 8"/>
          <p:cNvPicPr>
            <a:picLocks noChangeAspect="1"/>
          </p:cNvPicPr>
          <p:nvPr/>
        </p:nvPicPr>
        <p:blipFill>
          <a:blip r:embed="rId2"/>
          <a:stretch>
            <a:fillRect/>
          </a:stretch>
        </p:blipFill>
        <p:spPr>
          <a:xfrm>
            <a:off x="6219607" y="2171700"/>
            <a:ext cx="4896286" cy="3714750"/>
          </a:xfrm>
          <a:prstGeom prst="rect">
            <a:avLst/>
          </a:prstGeom>
        </p:spPr>
      </p:pic>
      <p:sp>
        <p:nvSpPr>
          <p:cNvPr id="10" name="Rectangle 9"/>
          <p:cNvSpPr>
            <a:spLocks noGrp="1"/>
          </p:cNvSpPr>
          <p:nvPr/>
        </p:nvSpPr>
        <p:spPr>
          <a:xfrm>
            <a:off x="5953125" y="5924550"/>
            <a:ext cx="5238750" cy="666750"/>
          </a:xfrm>
          <a:prstGeom prst="rect">
            <a:avLst/>
          </a:prstGeom>
          <a:noFill/>
          <a:ln w="0">
            <a:noFill/>
          </a:ln>
        </p:spPr>
        <p:txBody>
          <a:bodyPr/>
          <a:lstStyle>
            <a:defPPr>
              <a:defRPr sz="1575" b="0">
                <a:solidFill>
                  <a:srgbClr val="B4CDC1"/>
                </a:solidFill>
                <a:latin typeface="DejaVu Sans"/>
                <a:ea typeface="DejaVu Sans"/>
                <a:cs typeface="DejaVu Sans"/>
              </a:defRPr>
            </a:defPPr>
          </a:lstStyle>
          <a:p>
            <a:pPr>
              <a:defRPr sz="1575" b="0">
                <a:solidFill>
                  <a:srgbClr val="B4CDC1"/>
                </a:solidFill>
                <a:latin typeface="DejaVu Sans"/>
                <a:ea typeface="DejaVu Sans"/>
                <a:cs typeface="DejaVu Sans"/>
              </a:defRPr>
            </a:pPr>
            <a:endParaRPr sz="1575" b="0" dirty="0">
              <a:solidFill>
                <a:srgbClr val="B4CDC1"/>
              </a:solidFill>
              <a:latin typeface="Calibri" panose="020F0502020204030204" charset="0"/>
              <a:ea typeface="DejaVu Sans"/>
              <a:cs typeface="Calibri" panose="020F05020202040302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12" name="Panel nội dung"/>
          <p:cNvSpPr>
            <a:spLocks noGrp="1"/>
          </p:cNvSpPr>
          <p:nvPr/>
        </p:nvSpPr>
        <p:spPr>
          <a:xfrm>
            <a:off x="457200" y="1400175"/>
            <a:ext cx="11249025" cy="5143500"/>
          </a:xfrm>
          <a:prstGeom prst="roundRect">
            <a:avLst>
              <a:gd name="adj" fmla="val 3333"/>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dirty="0">
              <a:latin typeface="Calibri" panose="020F0502020204030204" charset="0"/>
              <a:cs typeface="Calibri" panose="020F0502020204030204" charset="0"/>
            </a:endParaRPr>
          </a:p>
        </p:txBody>
      </p:sp>
      <p:sp>
        <p:nvSpPr>
          <p:cNvPr id="2" name="Rectangle 1"/>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Calibri" panose="020F0502020204030204" charset="0"/>
                <a:ea typeface="DejaVu Sans"/>
                <a:cs typeface="Calibri" panose="020F0502020204030204" charset="0"/>
              </a:rPr>
              <a:t>Minh họa kết quả tính nhu cầu</a:t>
            </a:r>
            <a:endParaRPr sz="3150" b="1">
              <a:solidFill>
                <a:srgbClr val="FFFFFF"/>
              </a:solidFill>
              <a:latin typeface="Calibri" panose="020F0502020204030204" charset="0"/>
              <a:ea typeface="DejaVu Sans"/>
              <a:cs typeface="Calibri" panose="020F0502020204030204" charset="0"/>
            </a:endParaRPr>
          </a:p>
        </p:txBody>
      </p:sp>
      <p:sp>
        <p:nvSpPr>
          <p:cNvPr id="3" name="Rectangle 2"/>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Calibri" panose="020F0502020204030204" charset="0"/>
              <a:ea typeface="DejaVu Sans"/>
              <a:cs typeface="Calibri" panose="020F0502020204030204" charset="0"/>
            </a:endParaRPr>
          </a:p>
        </p:txBody>
      </p:sp>
      <p:sp>
        <p:nvSpPr>
          <p:cNvPr id="4" name="Rectangle 3"/>
          <p:cNvSpPr>
            <a:spLocks noGrp="1"/>
          </p:cNvSpPr>
          <p:nvPr/>
        </p:nvSpPr>
        <p:spPr>
          <a:xfrm>
            <a:off x="742950" y="1666875"/>
            <a:ext cx="10382250" cy="571500"/>
          </a:xfrm>
          <a:prstGeom prst="rect">
            <a:avLst/>
          </a:prstGeom>
          <a:noFill/>
          <a:ln w="0">
            <a:noFill/>
          </a:ln>
        </p:spPr>
        <p:txBody>
          <a:bodyPr/>
          <a:lstStyle>
            <a:defPPr>
              <a:defRPr sz="2625" b="1">
                <a:solidFill>
                  <a:srgbClr val="79D0A8"/>
                </a:solidFill>
                <a:latin typeface="DejaVu Sans"/>
                <a:ea typeface="DejaVu Sans"/>
                <a:cs typeface="DejaVu Sans"/>
              </a:defRPr>
            </a:defPPr>
          </a:lstStyle>
          <a:p>
            <a:pPr>
              <a:defRPr sz="2625" b="1">
                <a:solidFill>
                  <a:srgbClr val="79D0A8"/>
                </a:solidFill>
                <a:latin typeface="DejaVu Sans"/>
                <a:ea typeface="DejaVu Sans"/>
                <a:cs typeface="DejaVu Sans"/>
              </a:defRPr>
            </a:pPr>
            <a:r>
              <a:rPr sz="2625" b="1">
                <a:solidFill>
                  <a:srgbClr val="79D0A8"/>
                </a:solidFill>
                <a:latin typeface="Calibri" panose="020F0502020204030204" charset="0"/>
                <a:ea typeface="DejaVu Sans"/>
                <a:cs typeface="Calibri" panose="020F0502020204030204" charset="0"/>
              </a:rPr>
              <a:t>Nam, 20 tuổi, 170 cm, 60 kg</a:t>
            </a:r>
            <a:endParaRPr sz="2625" b="1">
              <a:solidFill>
                <a:srgbClr val="79D0A8"/>
              </a:solidFill>
              <a:latin typeface="Calibri" panose="020F0502020204030204" charset="0"/>
              <a:ea typeface="DejaVu Sans"/>
              <a:cs typeface="Calibri" panose="020F0502020204030204" charset="0"/>
            </a:endParaRPr>
          </a:p>
        </p:txBody>
      </p:sp>
      <p:sp>
        <p:nvSpPr>
          <p:cNvPr id="5" name="Rectangle 4"/>
          <p:cNvSpPr>
            <a:spLocks noGrp="1"/>
          </p:cNvSpPr>
          <p:nvPr/>
        </p:nvSpPr>
        <p:spPr>
          <a:xfrm>
            <a:off x="742950" y="2419350"/>
            <a:ext cx="10382250" cy="561975"/>
          </a:xfrm>
          <a:prstGeom prst="rect">
            <a:avLst/>
          </a:prstGeom>
          <a:noFill/>
          <a:ln w="0">
            <a:noFill/>
          </a:ln>
        </p:spPr>
        <p:txBody>
          <a:bodyPr/>
          <a:lstStyle>
            <a:defPPr>
              <a:defRPr sz="2175" b="0">
                <a:solidFill>
                  <a:srgbClr val="E6EFEA"/>
                </a:solidFill>
                <a:latin typeface="DejaVu Sans"/>
                <a:ea typeface="DejaVu Sans"/>
                <a:cs typeface="DejaVu Sans"/>
              </a:defRPr>
            </a:defPPr>
          </a:lstStyle>
          <a:p>
            <a:pPr>
              <a:defRPr sz="2175" b="0">
                <a:solidFill>
                  <a:srgbClr val="E6EFEA"/>
                </a:solidFill>
                <a:latin typeface="DejaVu Sans"/>
                <a:ea typeface="DejaVu Sans"/>
                <a:cs typeface="DejaVu Sans"/>
              </a:defRPr>
            </a:pPr>
            <a:r>
              <a:rPr sz="2175" b="0" dirty="0" err="1">
                <a:solidFill>
                  <a:srgbClr val="E6EFEA"/>
                </a:solidFill>
                <a:latin typeface="Calibri" panose="020F0502020204030204" charset="0"/>
                <a:ea typeface="DejaVu Sans"/>
                <a:cs typeface="Calibri" panose="020F0502020204030204" charset="0"/>
              </a:rPr>
              <a:t>Vận</a:t>
            </a:r>
            <a:r>
              <a:rPr sz="2175" b="0" dirty="0">
                <a:solidFill>
                  <a:srgbClr val="E6EFEA"/>
                </a:solidFill>
                <a:latin typeface="Calibri" panose="020F0502020204030204" charset="0"/>
                <a:ea typeface="DejaVu Sans"/>
                <a:cs typeface="Calibri" panose="020F0502020204030204" charset="0"/>
              </a:rPr>
              <a:t> </a:t>
            </a:r>
            <a:r>
              <a:rPr sz="2175" b="0" dirty="0" err="1">
                <a:solidFill>
                  <a:srgbClr val="E6EFEA"/>
                </a:solidFill>
                <a:latin typeface="Calibri" panose="020F0502020204030204" charset="0"/>
                <a:ea typeface="DejaVu Sans"/>
                <a:cs typeface="Calibri" panose="020F0502020204030204" charset="0"/>
              </a:rPr>
              <a:t>động</a:t>
            </a:r>
            <a:r>
              <a:rPr sz="2175" b="0" dirty="0">
                <a:solidFill>
                  <a:srgbClr val="E6EFEA"/>
                </a:solidFill>
                <a:latin typeface="Calibri" panose="020F0502020204030204" charset="0"/>
                <a:ea typeface="DejaVu Sans"/>
                <a:cs typeface="Calibri" panose="020F0502020204030204" charset="0"/>
              </a:rPr>
              <a:t> </a:t>
            </a:r>
            <a:r>
              <a:rPr sz="2175" b="0" dirty="0" err="1">
                <a:solidFill>
                  <a:srgbClr val="E6EFEA"/>
                </a:solidFill>
                <a:latin typeface="Calibri" panose="020F0502020204030204" charset="0"/>
                <a:ea typeface="DejaVu Sans"/>
                <a:cs typeface="Calibri" panose="020F0502020204030204" charset="0"/>
              </a:rPr>
              <a:t>nhẹ</a:t>
            </a:r>
            <a:r>
              <a:rPr sz="2175" b="0" dirty="0">
                <a:solidFill>
                  <a:srgbClr val="E6EFEA"/>
                </a:solidFill>
                <a:latin typeface="Calibri" panose="020F0502020204030204" charset="0"/>
                <a:ea typeface="DejaVu Sans"/>
                <a:cs typeface="Calibri" panose="020F0502020204030204" charset="0"/>
              </a:rPr>
              <a:t>, </a:t>
            </a:r>
            <a:r>
              <a:rPr sz="2175" b="0" dirty="0" err="1">
                <a:solidFill>
                  <a:srgbClr val="E6EFEA"/>
                </a:solidFill>
                <a:latin typeface="Calibri" panose="020F0502020204030204" charset="0"/>
                <a:ea typeface="DejaVu Sans"/>
                <a:cs typeface="Calibri" panose="020F0502020204030204" charset="0"/>
              </a:rPr>
              <a:t>hệ</a:t>
            </a:r>
            <a:r>
              <a:rPr sz="2175" b="0" dirty="0">
                <a:solidFill>
                  <a:srgbClr val="E6EFEA"/>
                </a:solidFill>
                <a:latin typeface="Calibri" panose="020F0502020204030204" charset="0"/>
                <a:ea typeface="DejaVu Sans"/>
                <a:cs typeface="Calibri" panose="020F0502020204030204" charset="0"/>
              </a:rPr>
              <a:t> </a:t>
            </a:r>
            <a:r>
              <a:rPr sz="2175" b="0" dirty="0" err="1">
                <a:solidFill>
                  <a:srgbClr val="E6EFEA"/>
                </a:solidFill>
                <a:latin typeface="Calibri" panose="020F0502020204030204" charset="0"/>
                <a:ea typeface="DejaVu Sans"/>
                <a:cs typeface="Calibri" panose="020F0502020204030204" charset="0"/>
              </a:rPr>
              <a:t>số</a:t>
            </a:r>
            <a:r>
              <a:rPr sz="2175" b="0" dirty="0">
                <a:solidFill>
                  <a:srgbClr val="E6EFEA"/>
                </a:solidFill>
                <a:latin typeface="Calibri" panose="020F0502020204030204" charset="0"/>
                <a:ea typeface="DejaVu Sans"/>
                <a:cs typeface="Calibri" panose="020F0502020204030204" charset="0"/>
              </a:rPr>
              <a:t> 1,375. </a:t>
            </a:r>
            <a:r>
              <a:rPr sz="2175" b="0" dirty="0" err="1">
                <a:solidFill>
                  <a:srgbClr val="E6EFEA"/>
                </a:solidFill>
                <a:latin typeface="Calibri" panose="020F0502020204030204" charset="0"/>
                <a:ea typeface="DejaVu Sans"/>
                <a:cs typeface="Calibri" panose="020F0502020204030204" charset="0"/>
              </a:rPr>
              <a:t>Mục</a:t>
            </a:r>
            <a:r>
              <a:rPr sz="2175" b="0" dirty="0">
                <a:solidFill>
                  <a:srgbClr val="E6EFEA"/>
                </a:solidFill>
                <a:latin typeface="Calibri" panose="020F0502020204030204" charset="0"/>
                <a:ea typeface="DejaVu Sans"/>
                <a:cs typeface="Calibri" panose="020F0502020204030204" charset="0"/>
              </a:rPr>
              <a:t> </a:t>
            </a:r>
            <a:r>
              <a:rPr sz="2175" b="0" dirty="0" err="1">
                <a:solidFill>
                  <a:srgbClr val="E6EFEA"/>
                </a:solidFill>
                <a:latin typeface="Calibri" panose="020F0502020204030204" charset="0"/>
                <a:ea typeface="DejaVu Sans"/>
                <a:cs typeface="Calibri" panose="020F0502020204030204" charset="0"/>
              </a:rPr>
              <a:t>tiêu</a:t>
            </a:r>
            <a:r>
              <a:rPr sz="2175" b="0" dirty="0">
                <a:solidFill>
                  <a:srgbClr val="E6EFEA"/>
                </a:solidFill>
                <a:latin typeface="Calibri" panose="020F0502020204030204" charset="0"/>
                <a:ea typeface="DejaVu Sans"/>
                <a:cs typeface="Calibri" panose="020F0502020204030204" charset="0"/>
              </a:rPr>
              <a:t>: </a:t>
            </a:r>
            <a:r>
              <a:rPr sz="2175" b="0" dirty="0" err="1">
                <a:solidFill>
                  <a:srgbClr val="E6EFEA"/>
                </a:solidFill>
                <a:latin typeface="Calibri" panose="020F0502020204030204" charset="0"/>
                <a:ea typeface="DejaVu Sans"/>
                <a:cs typeface="Calibri" panose="020F0502020204030204" charset="0"/>
              </a:rPr>
              <a:t>tăng</a:t>
            </a:r>
            <a:r>
              <a:rPr sz="2175" b="0" dirty="0">
                <a:solidFill>
                  <a:srgbClr val="E6EFEA"/>
                </a:solidFill>
                <a:latin typeface="Calibri" panose="020F0502020204030204" charset="0"/>
                <a:ea typeface="DejaVu Sans"/>
                <a:cs typeface="Calibri" panose="020F0502020204030204" charset="0"/>
              </a:rPr>
              <a:t> </a:t>
            </a:r>
            <a:r>
              <a:rPr sz="2175" b="0" dirty="0" err="1">
                <a:solidFill>
                  <a:srgbClr val="E6EFEA"/>
                </a:solidFill>
                <a:latin typeface="Calibri" panose="020F0502020204030204" charset="0"/>
                <a:ea typeface="DejaVu Sans"/>
                <a:cs typeface="Calibri" panose="020F0502020204030204" charset="0"/>
              </a:rPr>
              <a:t>cơ</a:t>
            </a:r>
            <a:r>
              <a:rPr sz="2175" b="0" dirty="0">
                <a:solidFill>
                  <a:srgbClr val="E6EFEA"/>
                </a:solidFill>
                <a:latin typeface="Calibri" panose="020F0502020204030204" charset="0"/>
                <a:ea typeface="DejaVu Sans"/>
                <a:cs typeface="Calibri" panose="020F0502020204030204" charset="0"/>
              </a:rPr>
              <a:t>.</a:t>
            </a:r>
            <a:endParaRPr sz="2175" b="0" dirty="0">
              <a:solidFill>
                <a:srgbClr val="E6EFEA"/>
              </a:solidFill>
              <a:latin typeface="Calibri" panose="020F0502020204030204" charset="0"/>
              <a:ea typeface="DejaVu Sans"/>
              <a:cs typeface="Calibri" panose="020F0502020204030204" charset="0"/>
            </a:endParaRPr>
          </a:p>
        </p:txBody>
      </p:sp>
      <p:sp>
        <p:nvSpPr>
          <p:cNvPr id="6" name="Rectangle 5"/>
          <p:cNvSpPr>
            <a:spLocks noGrp="1"/>
          </p:cNvSpPr>
          <p:nvPr/>
        </p:nvSpPr>
        <p:spPr>
          <a:xfrm>
            <a:off x="2729863" y="2843212"/>
            <a:ext cx="5524500" cy="1171575"/>
          </a:xfrm>
          <a:prstGeom prst="rect">
            <a:avLst/>
          </a:prstGeom>
          <a:noFill/>
          <a:ln w="0">
            <a:noFill/>
          </a:ln>
        </p:spPr>
        <p:txBody>
          <a:bodyPr/>
          <a:lstStyle>
            <a:defPPr>
              <a:defRPr sz="6600" b="1">
                <a:solidFill>
                  <a:srgbClr val="FFFFFF"/>
                </a:solidFill>
                <a:latin typeface="DejaVu Sans"/>
                <a:ea typeface="DejaVu Sans"/>
                <a:cs typeface="DejaVu Sans"/>
              </a:defRPr>
            </a:defPPr>
          </a:lstStyle>
          <a:p>
            <a:pPr>
              <a:defRPr sz="6600" b="1">
                <a:solidFill>
                  <a:srgbClr val="FFFFFF"/>
                </a:solidFill>
                <a:latin typeface="DejaVu Sans"/>
                <a:ea typeface="DejaVu Sans"/>
                <a:cs typeface="DejaVu Sans"/>
              </a:defRPr>
            </a:pPr>
            <a:r>
              <a:rPr sz="6600" b="1" dirty="0">
                <a:solidFill>
                  <a:srgbClr val="FFFFFF"/>
                </a:solidFill>
                <a:latin typeface="Calibri" panose="020F0502020204030204" charset="0"/>
                <a:ea typeface="DejaVu Sans"/>
                <a:cs typeface="Calibri" panose="020F0502020204030204" charset="0"/>
              </a:rPr>
              <a:t>2.155</a:t>
            </a:r>
            <a:endParaRPr sz="6600" b="1" dirty="0">
              <a:solidFill>
                <a:srgbClr val="FFFFFF"/>
              </a:solidFill>
              <a:latin typeface="Calibri" panose="020F0502020204030204" charset="0"/>
              <a:ea typeface="DejaVu Sans"/>
              <a:cs typeface="Calibri" panose="020F0502020204030204" charset="0"/>
            </a:endParaRPr>
          </a:p>
        </p:txBody>
      </p:sp>
      <p:sp>
        <p:nvSpPr>
          <p:cNvPr id="7" name="Rectangle 6"/>
          <p:cNvSpPr>
            <a:spLocks noGrp="1"/>
          </p:cNvSpPr>
          <p:nvPr/>
        </p:nvSpPr>
        <p:spPr>
          <a:xfrm>
            <a:off x="6038150" y="3187192"/>
            <a:ext cx="5238750" cy="619125"/>
          </a:xfrm>
          <a:prstGeom prst="rect">
            <a:avLst/>
          </a:prstGeom>
          <a:noFill/>
          <a:ln w="0">
            <a:noFill/>
          </a:ln>
        </p:spPr>
        <p:txBody>
          <a:bodyPr/>
          <a:lstStyle>
            <a:defPPr>
              <a:defRPr sz="2100" b="0">
                <a:solidFill>
                  <a:srgbClr val="E6EFEA"/>
                </a:solidFill>
                <a:latin typeface="DejaVu Sans"/>
                <a:ea typeface="DejaVu Sans"/>
                <a:cs typeface="DejaVu Sans"/>
              </a:defRPr>
            </a:defPPr>
          </a:lstStyle>
          <a:p>
            <a:pPr>
              <a:defRPr sz="2100" b="0">
                <a:solidFill>
                  <a:srgbClr val="E6EFEA"/>
                </a:solidFill>
                <a:latin typeface="DejaVu Sans"/>
                <a:ea typeface="DejaVu Sans"/>
                <a:cs typeface="DejaVu Sans"/>
              </a:defRPr>
            </a:pPr>
            <a:r>
              <a:rPr sz="2100" b="0" dirty="0">
                <a:solidFill>
                  <a:srgbClr val="E6EFEA"/>
                </a:solidFill>
                <a:latin typeface="Calibri" panose="020F0502020204030204" charset="0"/>
                <a:ea typeface="DejaVu Sans"/>
                <a:cs typeface="Calibri" panose="020F0502020204030204" charset="0"/>
              </a:rPr>
              <a:t>kcal/</a:t>
            </a:r>
            <a:r>
              <a:rPr sz="2100" b="0" dirty="0" err="1">
                <a:solidFill>
                  <a:srgbClr val="E6EFEA"/>
                </a:solidFill>
                <a:latin typeface="Calibri" panose="020F0502020204030204" charset="0"/>
                <a:ea typeface="DejaVu Sans"/>
                <a:cs typeface="Calibri" panose="020F0502020204030204" charset="0"/>
              </a:rPr>
              <a:t>ngày</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trước</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điều</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chỉnh</a:t>
            </a:r>
            <a:endParaRPr sz="2100" b="0" dirty="0">
              <a:solidFill>
                <a:srgbClr val="E6EFEA"/>
              </a:solidFill>
              <a:latin typeface="Calibri" panose="020F0502020204030204" charset="0"/>
              <a:ea typeface="DejaVu Sans"/>
              <a:cs typeface="Calibri" panose="020F0502020204030204" charset="0"/>
            </a:endParaRPr>
          </a:p>
        </p:txBody>
      </p:sp>
      <p:sp>
        <p:nvSpPr>
          <p:cNvPr id="8" name="Rectangle 7"/>
          <p:cNvSpPr>
            <a:spLocks noGrp="1"/>
          </p:cNvSpPr>
          <p:nvPr/>
        </p:nvSpPr>
        <p:spPr>
          <a:xfrm>
            <a:off x="2720338" y="3654425"/>
            <a:ext cx="4638675" cy="1171575"/>
          </a:xfrm>
          <a:prstGeom prst="rect">
            <a:avLst/>
          </a:prstGeom>
          <a:noFill/>
          <a:ln w="0">
            <a:noFill/>
          </a:ln>
        </p:spPr>
        <p:txBody>
          <a:bodyPr/>
          <a:lstStyle>
            <a:defPPr>
              <a:defRPr sz="6600" b="1">
                <a:solidFill>
                  <a:srgbClr val="79D0A8"/>
                </a:solidFill>
                <a:latin typeface="DejaVu Sans"/>
                <a:ea typeface="DejaVu Sans"/>
                <a:cs typeface="DejaVu Sans"/>
              </a:defRPr>
            </a:defPPr>
          </a:lstStyle>
          <a:p>
            <a:pPr>
              <a:defRPr sz="6600" b="1">
                <a:solidFill>
                  <a:srgbClr val="79D0A8"/>
                </a:solidFill>
                <a:latin typeface="DejaVu Sans"/>
                <a:ea typeface="DejaVu Sans"/>
                <a:cs typeface="DejaVu Sans"/>
              </a:defRPr>
            </a:pPr>
            <a:r>
              <a:rPr sz="6600" b="1" dirty="0">
                <a:solidFill>
                  <a:srgbClr val="79D0A8"/>
                </a:solidFill>
                <a:latin typeface="Calibri" panose="020F0502020204030204" charset="0"/>
                <a:ea typeface="DejaVu Sans"/>
                <a:cs typeface="Calibri" panose="020F0502020204030204" charset="0"/>
              </a:rPr>
              <a:t>2.655</a:t>
            </a:r>
            <a:endParaRPr sz="6600" b="1" dirty="0">
              <a:solidFill>
                <a:srgbClr val="79D0A8"/>
              </a:solidFill>
              <a:latin typeface="Calibri" panose="020F0502020204030204" charset="0"/>
              <a:ea typeface="DejaVu Sans"/>
              <a:cs typeface="Calibri" panose="020F0502020204030204" charset="0"/>
            </a:endParaRPr>
          </a:p>
        </p:txBody>
      </p:sp>
      <p:sp>
        <p:nvSpPr>
          <p:cNvPr id="9" name="Rectangle 8"/>
          <p:cNvSpPr>
            <a:spLocks noGrp="1"/>
          </p:cNvSpPr>
          <p:nvPr/>
        </p:nvSpPr>
        <p:spPr>
          <a:xfrm>
            <a:off x="6081712" y="4035237"/>
            <a:ext cx="4619625" cy="619125"/>
          </a:xfrm>
          <a:prstGeom prst="rect">
            <a:avLst/>
          </a:prstGeom>
          <a:noFill/>
          <a:ln w="0">
            <a:noFill/>
          </a:ln>
        </p:spPr>
        <p:txBody>
          <a:bodyPr/>
          <a:lstStyle>
            <a:defPPr>
              <a:defRPr sz="2025" b="0">
                <a:solidFill>
                  <a:srgbClr val="E6EFEA"/>
                </a:solidFill>
                <a:latin typeface="DejaVu Sans"/>
                <a:ea typeface="DejaVu Sans"/>
                <a:cs typeface="DejaVu Sans"/>
              </a:defRPr>
            </a:defPPr>
          </a:lstStyle>
          <a:p>
            <a:pPr>
              <a:defRPr sz="2025" b="0">
                <a:solidFill>
                  <a:srgbClr val="E6EFEA"/>
                </a:solidFill>
                <a:latin typeface="DejaVu Sans"/>
                <a:ea typeface="DejaVu Sans"/>
                <a:cs typeface="DejaVu Sans"/>
              </a:defRPr>
            </a:pPr>
            <a:r>
              <a:rPr sz="2025" b="0" dirty="0">
                <a:solidFill>
                  <a:srgbClr val="E6EFEA"/>
                </a:solidFill>
                <a:latin typeface="Calibri" panose="020F0502020204030204" charset="0"/>
                <a:ea typeface="DejaVu Sans"/>
                <a:cs typeface="Calibri" panose="020F0502020204030204" charset="0"/>
              </a:rPr>
              <a:t>kcal/</a:t>
            </a:r>
            <a:r>
              <a:rPr sz="2025" b="0" dirty="0" err="1">
                <a:solidFill>
                  <a:srgbClr val="E6EFEA"/>
                </a:solidFill>
                <a:latin typeface="Calibri" panose="020F0502020204030204" charset="0"/>
                <a:ea typeface="DejaVu Sans"/>
                <a:cs typeface="Calibri" panose="020F0502020204030204" charset="0"/>
              </a:rPr>
              <a:t>ngày</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sau</a:t>
            </a:r>
            <a:r>
              <a:rPr sz="2025" b="0" dirty="0">
                <a:solidFill>
                  <a:srgbClr val="E6EFEA"/>
                </a:solidFill>
                <a:latin typeface="Calibri" panose="020F0502020204030204" charset="0"/>
                <a:ea typeface="DejaVu Sans"/>
                <a:cs typeface="Calibri" panose="020F0502020204030204" charset="0"/>
              </a:rPr>
              <a:t> </a:t>
            </a:r>
            <a:r>
              <a:rPr sz="2025" b="0" dirty="0" err="1">
                <a:solidFill>
                  <a:srgbClr val="E6EFEA"/>
                </a:solidFill>
                <a:latin typeface="Calibri" panose="020F0502020204030204" charset="0"/>
                <a:ea typeface="DejaVu Sans"/>
                <a:cs typeface="Calibri" panose="020F0502020204030204" charset="0"/>
              </a:rPr>
              <a:t>cộng</a:t>
            </a:r>
            <a:r>
              <a:rPr sz="2025" b="0" dirty="0">
                <a:solidFill>
                  <a:srgbClr val="E6EFEA"/>
                </a:solidFill>
                <a:latin typeface="Calibri" panose="020F0502020204030204" charset="0"/>
                <a:ea typeface="DejaVu Sans"/>
                <a:cs typeface="Calibri" panose="020F0502020204030204" charset="0"/>
              </a:rPr>
              <a:t> 500 kcal</a:t>
            </a:r>
            <a:endParaRPr sz="2025" b="0" dirty="0">
              <a:solidFill>
                <a:srgbClr val="E6EFEA"/>
              </a:solidFill>
              <a:latin typeface="Calibri" panose="020F0502020204030204" charset="0"/>
              <a:ea typeface="DejaVu Sans"/>
              <a:cs typeface="Calibri" panose="020F0502020204030204" charset="0"/>
            </a:endParaRPr>
          </a:p>
        </p:txBody>
      </p:sp>
      <p:sp>
        <p:nvSpPr>
          <p:cNvPr id="10" name="Rectangle 9"/>
          <p:cNvSpPr>
            <a:spLocks noGrp="1"/>
          </p:cNvSpPr>
          <p:nvPr/>
        </p:nvSpPr>
        <p:spPr>
          <a:xfrm>
            <a:off x="685505" y="4975225"/>
            <a:ext cx="5572125" cy="523875"/>
          </a:xfrm>
          <a:prstGeom prst="rect">
            <a:avLst/>
          </a:prstGeom>
          <a:noFill/>
          <a:ln w="0">
            <a:noFill/>
          </a:ln>
        </p:spPr>
        <p:txBody>
          <a:bodyPr/>
          <a:lstStyle>
            <a:defPPr>
              <a:defRPr sz="2175" b="1">
                <a:solidFill>
                  <a:srgbClr val="FFFFFF"/>
                </a:solidFill>
                <a:latin typeface="DejaVu Sans"/>
                <a:ea typeface="DejaVu Sans"/>
                <a:cs typeface="DejaVu Sans"/>
              </a:defRPr>
            </a:defPPr>
          </a:lstStyle>
          <a:p>
            <a:pPr>
              <a:defRPr sz="2175" b="1">
                <a:solidFill>
                  <a:srgbClr val="FFFFFF"/>
                </a:solidFill>
                <a:latin typeface="DejaVu Sans"/>
                <a:ea typeface="DejaVu Sans"/>
                <a:cs typeface="DejaVu Sans"/>
              </a:defRPr>
            </a:pPr>
            <a:r>
              <a:rPr sz="2175" b="1" dirty="0" err="1">
                <a:solidFill>
                  <a:srgbClr val="FFFFFF"/>
                </a:solidFill>
                <a:latin typeface="Calibri" panose="020F0502020204030204" charset="0"/>
                <a:ea typeface="DejaVu Sans"/>
                <a:cs typeface="Calibri" panose="020F0502020204030204" charset="0"/>
              </a:rPr>
              <a:t>Kết</a:t>
            </a:r>
            <a:r>
              <a:rPr sz="2175" b="1" dirty="0">
                <a:solidFill>
                  <a:srgbClr val="FFFFFF"/>
                </a:solidFill>
                <a:latin typeface="Calibri" panose="020F0502020204030204" charset="0"/>
                <a:ea typeface="DejaVu Sans"/>
                <a:cs typeface="Calibri" panose="020F0502020204030204" charset="0"/>
              </a:rPr>
              <a:t> </a:t>
            </a:r>
            <a:r>
              <a:rPr sz="2175" b="1" dirty="0" err="1">
                <a:solidFill>
                  <a:srgbClr val="FFFFFF"/>
                </a:solidFill>
                <a:latin typeface="Calibri" panose="020F0502020204030204" charset="0"/>
                <a:ea typeface="DejaVu Sans"/>
                <a:cs typeface="Calibri" panose="020F0502020204030204" charset="0"/>
              </a:rPr>
              <a:t>quả</a:t>
            </a:r>
            <a:r>
              <a:rPr sz="2175" b="1" dirty="0">
                <a:solidFill>
                  <a:srgbClr val="FFFFFF"/>
                </a:solidFill>
                <a:latin typeface="Calibri" panose="020F0502020204030204" charset="0"/>
                <a:ea typeface="DejaVu Sans"/>
                <a:cs typeface="Calibri" panose="020F0502020204030204" charset="0"/>
              </a:rPr>
              <a:t> </a:t>
            </a:r>
            <a:r>
              <a:rPr sz="2175" b="1" dirty="0" err="1">
                <a:solidFill>
                  <a:srgbClr val="FFFFFF"/>
                </a:solidFill>
                <a:latin typeface="Calibri" panose="020F0502020204030204" charset="0"/>
                <a:ea typeface="DejaVu Sans"/>
                <a:cs typeface="Calibri" panose="020F0502020204030204" charset="0"/>
              </a:rPr>
              <a:t>trên</a:t>
            </a:r>
            <a:r>
              <a:rPr sz="2175" b="1" dirty="0">
                <a:solidFill>
                  <a:srgbClr val="FFFFFF"/>
                </a:solidFill>
                <a:latin typeface="Calibri" panose="020F0502020204030204" charset="0"/>
                <a:ea typeface="DejaVu Sans"/>
                <a:cs typeface="Calibri" panose="020F0502020204030204" charset="0"/>
              </a:rPr>
              <a:t> </a:t>
            </a:r>
            <a:r>
              <a:rPr sz="2175" b="1" dirty="0" err="1">
                <a:solidFill>
                  <a:srgbClr val="FFFFFF"/>
                </a:solidFill>
                <a:latin typeface="Calibri" panose="020F0502020204030204" charset="0"/>
                <a:ea typeface="DejaVu Sans"/>
                <a:cs typeface="Calibri" panose="020F0502020204030204" charset="0"/>
              </a:rPr>
              <a:t>giao</a:t>
            </a:r>
            <a:r>
              <a:rPr sz="2175" b="1" dirty="0">
                <a:solidFill>
                  <a:srgbClr val="FFFFFF"/>
                </a:solidFill>
                <a:latin typeface="Calibri" panose="020F0502020204030204" charset="0"/>
                <a:ea typeface="DejaVu Sans"/>
                <a:cs typeface="Calibri" panose="020F0502020204030204" charset="0"/>
              </a:rPr>
              <a:t> </a:t>
            </a:r>
            <a:r>
              <a:rPr sz="2175" b="1" dirty="0" err="1">
                <a:solidFill>
                  <a:srgbClr val="FFFFFF"/>
                </a:solidFill>
                <a:latin typeface="Calibri" panose="020F0502020204030204" charset="0"/>
                <a:ea typeface="DejaVu Sans"/>
                <a:cs typeface="Calibri" panose="020F0502020204030204" charset="0"/>
              </a:rPr>
              <a:t>diện</a:t>
            </a:r>
            <a:endParaRPr sz="2175" b="1" dirty="0">
              <a:solidFill>
                <a:srgbClr val="FFFFFF"/>
              </a:solidFill>
              <a:latin typeface="Calibri" panose="020F0502020204030204" charset="0"/>
              <a:ea typeface="DejaVu Sans"/>
              <a:cs typeface="Calibri" panose="020F0502020204030204" charset="0"/>
            </a:endParaRPr>
          </a:p>
        </p:txBody>
      </p:sp>
      <p:pic>
        <p:nvPicPr>
          <p:cNvPr id="11" name="Picture 10"/>
          <p:cNvPicPr>
            <a:picLocks noChangeAspect="1"/>
          </p:cNvPicPr>
          <p:nvPr/>
        </p:nvPicPr>
        <p:blipFill>
          <a:blip r:embed="rId1"/>
          <a:stretch>
            <a:fillRect/>
          </a:stretch>
        </p:blipFill>
        <p:spPr>
          <a:xfrm>
            <a:off x="5136356" y="4963604"/>
            <a:ext cx="5564981" cy="11715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sp>
        <p:nvSpPr>
          <p:cNvPr id="6" name="Panel nội dung"/>
          <p:cNvSpPr>
            <a:spLocks noGrp="1"/>
          </p:cNvSpPr>
          <p:nvPr/>
        </p:nvSpPr>
        <p:spPr>
          <a:xfrm>
            <a:off x="457200" y="1400175"/>
            <a:ext cx="11249025" cy="5143500"/>
          </a:xfrm>
          <a:prstGeom prst="roundRect">
            <a:avLst>
              <a:gd name="adj" fmla="val 3333"/>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2" name="Rectangle 1"/>
          <p:cNvSpPr>
            <a:spLocks noGrp="1"/>
          </p:cNvSpPr>
          <p:nvPr/>
        </p:nvSpPr>
        <p:spPr>
          <a:xfrm>
            <a:off x="609600" y="457200"/>
            <a:ext cx="10953750" cy="857250"/>
          </a:xfrm>
          <a:prstGeom prst="rect">
            <a:avLst/>
          </a:prstGeom>
          <a:noFill/>
          <a:ln w="0">
            <a:noFill/>
          </a:ln>
        </p:spPr>
        <p:txBody>
          <a:bodyPr/>
          <a:lstStyle>
            <a:defPPr>
              <a:defRPr sz="3150" b="1">
                <a:solidFill>
                  <a:srgbClr val="FFFFFF"/>
                </a:solidFill>
                <a:latin typeface="DejaVu Sans"/>
                <a:ea typeface="DejaVu Sans"/>
                <a:cs typeface="DejaVu Sans"/>
              </a:defRPr>
            </a:defPPr>
          </a:lstStyle>
          <a:p>
            <a:pPr>
              <a:defRPr sz="3150" b="1">
                <a:solidFill>
                  <a:srgbClr val="FFFFFF"/>
                </a:solidFill>
                <a:latin typeface="DejaVu Sans"/>
                <a:ea typeface="DejaVu Sans"/>
                <a:cs typeface="DejaVu Sans"/>
              </a:defRPr>
            </a:pPr>
            <a:r>
              <a:rPr sz="3150" b="1">
                <a:solidFill>
                  <a:srgbClr val="FFFFFF"/>
                </a:solidFill>
                <a:latin typeface="Calibri" panose="020F0502020204030204" charset="0"/>
                <a:ea typeface="DejaVu Sans"/>
                <a:cs typeface="Calibri" panose="020F0502020204030204" charset="0"/>
              </a:rPr>
              <a:t>Hạn chế và hướng phát triển</a:t>
            </a:r>
            <a:endParaRPr sz="3150" b="1">
              <a:solidFill>
                <a:srgbClr val="FFFFFF"/>
              </a:solidFill>
              <a:latin typeface="Calibri" panose="020F0502020204030204" charset="0"/>
              <a:ea typeface="DejaVu Sans"/>
              <a:cs typeface="Calibri" panose="020F0502020204030204" charset="0"/>
            </a:endParaRPr>
          </a:p>
        </p:txBody>
      </p:sp>
      <p:sp>
        <p:nvSpPr>
          <p:cNvPr id="3" name="Rectangle 2"/>
          <p:cNvSpPr>
            <a:spLocks noGrp="1"/>
          </p:cNvSpPr>
          <p:nvPr/>
        </p:nvSpPr>
        <p:spPr>
          <a:xfrm>
            <a:off x="11049000" y="6296025"/>
            <a:ext cx="666750" cy="285750"/>
          </a:xfrm>
          <a:prstGeom prst="rect">
            <a:avLst/>
          </a:prstGeom>
          <a:noFill/>
          <a:ln w="0">
            <a:noFill/>
          </a:ln>
        </p:spPr>
        <p:txBody>
          <a:bodyPr/>
          <a:lstStyle>
            <a:defPPr>
              <a:defRPr sz="1275" b="0">
                <a:solidFill>
                  <a:srgbClr val="B4CDC1"/>
                </a:solidFill>
                <a:latin typeface="DejaVu Sans"/>
                <a:ea typeface="DejaVu Sans"/>
                <a:cs typeface="DejaVu Sans"/>
              </a:defRPr>
            </a:defPPr>
          </a:lstStyle>
          <a:p>
            <a:pPr>
              <a:defRPr sz="1275" b="0">
                <a:solidFill>
                  <a:srgbClr val="B4CDC1"/>
                </a:solidFill>
                <a:latin typeface="DejaVu Sans"/>
                <a:ea typeface="DejaVu Sans"/>
                <a:cs typeface="DejaVu Sans"/>
              </a:defRPr>
            </a:pPr>
            <a:endParaRPr sz="1275" b="0" dirty="0">
              <a:solidFill>
                <a:srgbClr val="B4CDC1"/>
              </a:solidFill>
              <a:latin typeface="Calibri" panose="020F0502020204030204" charset="0"/>
              <a:ea typeface="DejaVu Sans"/>
              <a:cs typeface="Calibri" panose="020F0502020204030204" charset="0"/>
            </a:endParaRPr>
          </a:p>
        </p:txBody>
      </p:sp>
      <p:graphicFrame>
        <p:nvGraphicFramePr>
          <p:cNvPr id="4" name="Table 3"/>
          <p:cNvGraphicFramePr/>
          <p:nvPr/>
        </p:nvGraphicFramePr>
        <p:xfrm>
          <a:off x="666750" y="1743075"/>
          <a:ext cx="10763250" cy="3333752"/>
        </p:xfrm>
        <a:graphic>
          <a:graphicData uri="http://schemas.openxmlformats.org/drawingml/2006/table">
            <a:tbl>
              <a:tblPr/>
              <a:tblGrid>
                <a:gridCol w="5381625"/>
                <a:gridCol w="5381625"/>
              </a:tblGrid>
              <a:tr h="833438">
                <a:tc>
                  <a:txBody>
                    <a:bodyPr/>
                    <a:lstStyle/>
                    <a:p>
                      <a:pPr algn="ctr"/>
                      <a:r>
                        <a:rPr sz="1800" b="1">
                          <a:solidFill>
                            <a:srgbClr val="FFFFFF"/>
                          </a:solidFill>
                          <a:latin typeface="Calibri" panose="020F0502020204030204" charset="0"/>
                          <a:ea typeface="DejaVu Sans"/>
                          <a:cs typeface="Calibri" panose="020F0502020204030204" charset="0"/>
                        </a:rPr>
                        <a:t>Hạn chế hiện tại</a:t>
                      </a:r>
                      <a:endParaRPr sz="1800" b="1">
                        <a:solidFill>
                          <a:srgbClr val="FFFFFF"/>
                        </a:solidFill>
                        <a:latin typeface="Calibri" panose="020F0502020204030204" charset="0"/>
                        <a:ea typeface="DejaVu Sans"/>
                        <a:cs typeface="Calibri" panose="020F0502020204030204" charset="0"/>
                      </a:endParaRPr>
                    </a:p>
                  </a:txBody>
                  <a:tcPr anchor="ctr" anchorCtr="0">
                    <a:solidFill>
                      <a:srgbClr val="23604F"/>
                    </a:solidFill>
                  </a:tcPr>
                </a:tc>
                <a:tc>
                  <a:txBody>
                    <a:bodyPr/>
                    <a:lstStyle/>
                    <a:p>
                      <a:pPr algn="ctr"/>
                      <a:r>
                        <a:rPr sz="1800" b="1">
                          <a:solidFill>
                            <a:srgbClr val="FFFFFF"/>
                          </a:solidFill>
                          <a:latin typeface="Calibri" panose="020F0502020204030204" charset="0"/>
                          <a:ea typeface="DejaVu Sans"/>
                          <a:cs typeface="Calibri" panose="020F0502020204030204" charset="0"/>
                        </a:rPr>
                        <a:t>Hướng cải thiện</a:t>
                      </a:r>
                      <a:endParaRPr sz="1800" b="1">
                        <a:solidFill>
                          <a:srgbClr val="FFFFFF"/>
                        </a:solidFill>
                        <a:latin typeface="Calibri" panose="020F0502020204030204" charset="0"/>
                        <a:ea typeface="DejaVu Sans"/>
                        <a:cs typeface="Calibri" panose="020F0502020204030204" charset="0"/>
                      </a:endParaRPr>
                    </a:p>
                  </a:txBody>
                  <a:tcPr anchor="ctr" anchorCtr="0">
                    <a:solidFill>
                      <a:srgbClr val="23604F"/>
                    </a:solidFill>
                  </a:tcPr>
                </a:tc>
              </a:tr>
              <a:tr h="833438">
                <a:tc>
                  <a:txBody>
                    <a:bodyPr/>
                    <a:lstStyle/>
                    <a:p>
                      <a:r>
                        <a:rPr sz="1800" b="0">
                          <a:solidFill>
                            <a:srgbClr val="E6EFEA"/>
                          </a:solidFill>
                          <a:latin typeface="Calibri" panose="020F0502020204030204" charset="0"/>
                          <a:ea typeface="DejaVu Sans"/>
                          <a:cs typeface="Calibri" panose="020F0502020204030204" charset="0"/>
                        </a:rPr>
                        <a:t>Các gợi ý có thể lặp nguyên liệu</a:t>
                      </a:r>
                      <a:endParaRPr sz="1800" b="0">
                        <a:solidFill>
                          <a:srgbClr val="E6EFEA"/>
                        </a:solidFill>
                        <a:latin typeface="Calibri" panose="020F0502020204030204" charset="0"/>
                        <a:ea typeface="DejaVu Sans"/>
                        <a:cs typeface="Calibri" panose="020F0502020204030204" charset="0"/>
                      </a:endParaRPr>
                    </a:p>
                  </a:txBody>
                  <a:tcPr anchor="ctr" anchorCtr="0">
                    <a:solidFill>
                      <a:srgbClr val="174A3D"/>
                    </a:solidFill>
                  </a:tcPr>
                </a:tc>
                <a:tc>
                  <a:txBody>
                    <a:bodyPr/>
                    <a:lstStyle/>
                    <a:p>
                      <a:r>
                        <a:rPr sz="1800" b="0">
                          <a:solidFill>
                            <a:srgbClr val="E6EFEA"/>
                          </a:solidFill>
                          <a:latin typeface="Calibri" panose="020F0502020204030204" charset="0"/>
                          <a:ea typeface="DejaVu Sans"/>
                          <a:cs typeface="Calibri" panose="020F0502020204030204" charset="0"/>
                        </a:rPr>
                        <a:t>Tăng tiêu chí đa dạng khi xếp hạng</a:t>
                      </a:r>
                      <a:endParaRPr sz="1800" b="0">
                        <a:solidFill>
                          <a:srgbClr val="E6EFEA"/>
                        </a:solidFill>
                        <a:latin typeface="Calibri" panose="020F0502020204030204" charset="0"/>
                        <a:ea typeface="DejaVu Sans"/>
                        <a:cs typeface="Calibri" panose="020F0502020204030204" charset="0"/>
                      </a:endParaRPr>
                    </a:p>
                  </a:txBody>
                  <a:tcPr anchor="ctr" anchorCtr="0">
                    <a:solidFill>
                      <a:srgbClr val="174A3D"/>
                    </a:solidFill>
                  </a:tcPr>
                </a:tc>
              </a:tr>
              <a:tr h="833438">
                <a:tc>
                  <a:txBody>
                    <a:bodyPr/>
                    <a:lstStyle/>
                    <a:p>
                      <a:r>
                        <a:rPr sz="1800" b="0">
                          <a:solidFill>
                            <a:srgbClr val="E6EFEA"/>
                          </a:solidFill>
                          <a:latin typeface="Calibri" panose="020F0502020204030204" charset="0"/>
                          <a:ea typeface="DejaVu Sans"/>
                          <a:cs typeface="Calibri" panose="020F0502020204030204" charset="0"/>
                        </a:rPr>
                        <a:t>Chưa xét khẩu vị, chi phí và thời gian nấu</a:t>
                      </a:r>
                      <a:endParaRPr sz="1800" b="0">
                        <a:solidFill>
                          <a:srgbClr val="E6EFEA"/>
                        </a:solidFill>
                        <a:latin typeface="Calibri" panose="020F0502020204030204" charset="0"/>
                        <a:ea typeface="DejaVu Sans"/>
                        <a:cs typeface="Calibri" panose="020F0502020204030204" charset="0"/>
                      </a:endParaRPr>
                    </a:p>
                  </a:txBody>
                  <a:tcPr anchor="ctr" anchorCtr="0">
                    <a:solidFill>
                      <a:srgbClr val="1C5344"/>
                    </a:solidFill>
                  </a:tcPr>
                </a:tc>
                <a:tc>
                  <a:txBody>
                    <a:bodyPr/>
                    <a:lstStyle/>
                    <a:p>
                      <a:r>
                        <a:rPr sz="1800" b="0">
                          <a:solidFill>
                            <a:srgbClr val="E6EFEA"/>
                          </a:solidFill>
                          <a:latin typeface="Calibri" panose="020F0502020204030204" charset="0"/>
                          <a:ea typeface="DejaVu Sans"/>
                          <a:cs typeface="Calibri" panose="020F0502020204030204" charset="0"/>
                        </a:rPr>
                        <a:t>Bổ sung dữ liệu và bộ lọc theo nhu cầu</a:t>
                      </a:r>
                      <a:endParaRPr sz="1800" b="0">
                        <a:solidFill>
                          <a:srgbClr val="E6EFEA"/>
                        </a:solidFill>
                        <a:latin typeface="Calibri" panose="020F0502020204030204" charset="0"/>
                        <a:ea typeface="DejaVu Sans"/>
                        <a:cs typeface="Calibri" panose="020F0502020204030204" charset="0"/>
                      </a:endParaRPr>
                    </a:p>
                  </a:txBody>
                  <a:tcPr anchor="ctr" anchorCtr="0">
                    <a:solidFill>
                      <a:srgbClr val="1C5344"/>
                    </a:solidFill>
                  </a:tcPr>
                </a:tc>
              </a:tr>
              <a:tr h="833438">
                <a:tc>
                  <a:txBody>
                    <a:bodyPr/>
                    <a:lstStyle/>
                    <a:p>
                      <a:r>
                        <a:rPr sz="1800" b="0">
                          <a:solidFill>
                            <a:srgbClr val="E6EFEA"/>
                          </a:solidFill>
                          <a:latin typeface="Calibri" panose="020F0502020204030204" charset="0"/>
                          <a:ea typeface="DejaVu Sans"/>
                          <a:cs typeface="Calibri" panose="020F0502020204030204" charset="0"/>
                        </a:rPr>
                        <a:t>Chưa có tài khoản và lịch sử thực đơn</a:t>
                      </a:r>
                      <a:endParaRPr sz="1800" b="0">
                        <a:solidFill>
                          <a:srgbClr val="E6EFEA"/>
                        </a:solidFill>
                        <a:latin typeface="Calibri" panose="020F0502020204030204" charset="0"/>
                        <a:ea typeface="DejaVu Sans"/>
                        <a:cs typeface="Calibri" panose="020F0502020204030204" charset="0"/>
                      </a:endParaRPr>
                    </a:p>
                  </a:txBody>
                  <a:tcPr anchor="ctr" anchorCtr="0">
                    <a:solidFill>
                      <a:srgbClr val="174A3D"/>
                    </a:solidFill>
                  </a:tcPr>
                </a:tc>
                <a:tc>
                  <a:txBody>
                    <a:bodyPr/>
                    <a:lstStyle/>
                    <a:p>
                      <a:r>
                        <a:rPr sz="1800" b="0">
                          <a:solidFill>
                            <a:srgbClr val="E6EFEA"/>
                          </a:solidFill>
                          <a:latin typeface="Calibri" panose="020F0502020204030204" charset="0"/>
                          <a:ea typeface="DejaVu Sans"/>
                          <a:cs typeface="Calibri" panose="020F0502020204030204" charset="0"/>
                        </a:rPr>
                        <a:t>Lưu lựa chọn để hỗ trợ theo dõi dài hạn</a:t>
                      </a:r>
                      <a:endParaRPr sz="1800" b="0">
                        <a:solidFill>
                          <a:srgbClr val="E6EFEA"/>
                        </a:solidFill>
                        <a:latin typeface="Calibri" panose="020F0502020204030204" charset="0"/>
                        <a:ea typeface="DejaVu Sans"/>
                        <a:cs typeface="Calibri" panose="020F0502020204030204" charset="0"/>
                      </a:endParaRPr>
                    </a:p>
                  </a:txBody>
                  <a:tcPr anchor="ctr" anchorCtr="0">
                    <a:solidFill>
                      <a:srgbClr val="174A3D"/>
                    </a:solidFill>
                  </a:tcPr>
                </a:tc>
              </a:tr>
            </a:tbl>
          </a:graphicData>
        </a:graphic>
      </p:graphicFrame>
      <p:sp>
        <p:nvSpPr>
          <p:cNvPr id="5" name="Rectangle 4"/>
          <p:cNvSpPr>
            <a:spLocks noGrp="1"/>
          </p:cNvSpPr>
          <p:nvPr/>
        </p:nvSpPr>
        <p:spPr>
          <a:xfrm>
            <a:off x="666750" y="5243830"/>
            <a:ext cx="10763250" cy="771525"/>
          </a:xfrm>
          <a:prstGeom prst="rect">
            <a:avLst/>
          </a:prstGeom>
          <a:noFill/>
          <a:ln w="0">
            <a:noFill/>
          </a:ln>
        </p:spPr>
        <p:txBody>
          <a:bodyPr/>
          <a:lstStyle>
            <a:defPPr>
              <a:defRPr sz="2100" b="0">
                <a:solidFill>
                  <a:srgbClr val="E6EFEA"/>
                </a:solidFill>
                <a:latin typeface="DejaVu Sans"/>
                <a:ea typeface="DejaVu Sans"/>
                <a:cs typeface="DejaVu Sans"/>
              </a:defRPr>
            </a:defPPr>
          </a:lstStyle>
          <a:p>
            <a:pPr>
              <a:defRPr sz="2100" b="0">
                <a:solidFill>
                  <a:srgbClr val="E6EFEA"/>
                </a:solidFill>
                <a:latin typeface="DejaVu Sans"/>
                <a:ea typeface="DejaVu Sans"/>
                <a:cs typeface="DejaVu Sans"/>
              </a:defRPr>
            </a:pPr>
            <a:r>
              <a:rPr sz="2100" b="0" dirty="0" err="1">
                <a:solidFill>
                  <a:srgbClr val="E6EFEA"/>
                </a:solidFill>
                <a:latin typeface="Calibri" panose="020F0502020204030204" charset="0"/>
                <a:ea typeface="DejaVu Sans"/>
                <a:cs typeface="Calibri" panose="020F0502020204030204" charset="0"/>
              </a:rPr>
              <a:t>Cần</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thêm</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phản</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hồi</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người</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dùng</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và</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kiểm</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thử</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trên</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nhiều</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kịch</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bản</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để</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đánh</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giá</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mức</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độ</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phù</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hợp</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thực</a:t>
            </a:r>
            <a:r>
              <a:rPr sz="2100" b="0" dirty="0">
                <a:solidFill>
                  <a:srgbClr val="E6EFEA"/>
                </a:solidFill>
                <a:latin typeface="Calibri" panose="020F0502020204030204" charset="0"/>
                <a:ea typeface="DejaVu Sans"/>
                <a:cs typeface="Calibri" panose="020F0502020204030204" charset="0"/>
              </a:rPr>
              <a:t> </a:t>
            </a:r>
            <a:r>
              <a:rPr sz="2100" b="0" dirty="0" err="1">
                <a:solidFill>
                  <a:srgbClr val="E6EFEA"/>
                </a:solidFill>
                <a:latin typeface="Calibri" panose="020F0502020204030204" charset="0"/>
                <a:ea typeface="DejaVu Sans"/>
                <a:cs typeface="Calibri" panose="020F0502020204030204" charset="0"/>
              </a:rPr>
              <a:t>tế</a:t>
            </a:r>
            <a:r>
              <a:rPr sz="2100" b="0" dirty="0">
                <a:solidFill>
                  <a:srgbClr val="E6EFEA"/>
                </a:solidFill>
                <a:latin typeface="Calibri" panose="020F0502020204030204" charset="0"/>
                <a:ea typeface="DejaVu Sans"/>
                <a:cs typeface="Calibri" panose="020F0502020204030204" charset="0"/>
              </a:rPr>
              <a:t>.</a:t>
            </a:r>
            <a:endParaRPr sz="2100" b="0" dirty="0">
              <a:solidFill>
                <a:srgbClr val="E6EFEA"/>
              </a:solidFill>
              <a:latin typeface="Calibri" panose="020F0502020204030204" charset="0"/>
              <a:ea typeface="DejaVu Sans"/>
              <a:cs typeface="Calibri" panose="020F050202020403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03D35"/>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1"/>
          <a:srcRect l="28113" r="28113"/>
          <a:stretch>
            <a:fillRect/>
          </a:stretch>
        </p:blipFill>
        <p:spPr>
          <a:xfrm>
            <a:off x="6858000" y="0"/>
            <a:ext cx="5334000" cy="6858000"/>
          </a:xfrm>
          <a:prstGeom prst="rect">
            <a:avLst/>
          </a:prstGeom>
        </p:spPr>
      </p:pic>
      <p:sp>
        <p:nvSpPr>
          <p:cNvPr id="2" name="Panel nội dung"/>
          <p:cNvSpPr>
            <a:spLocks noGrp="1"/>
          </p:cNvSpPr>
          <p:nvPr/>
        </p:nvSpPr>
        <p:spPr>
          <a:xfrm>
            <a:off x="457200" y="1609725"/>
            <a:ext cx="6019800" cy="3705225"/>
          </a:xfrm>
          <a:prstGeom prst="roundRect">
            <a:avLst>
              <a:gd name="adj" fmla="val 4627"/>
            </a:avLst>
          </a:prstGeom>
          <a:solidFill>
            <a:srgbClr val="1A5147"/>
          </a:solidFill>
          <a:ln w="9525">
            <a:solidFill>
              <a:srgbClr val="36685B"/>
            </a:solidFill>
          </a:ln>
        </p:spPr>
        <p:style>
          <a:lnRef idx="0">
            <a:scrgbClr r="0" g="0" b="0"/>
          </a:lnRef>
          <a:fillRef idx="0">
            <a:scrgbClr r="0" g="0" b="0"/>
          </a:fillRef>
          <a:effectRef idx="10">
            <a:scrgbClr r="0" g="0" b="0"/>
          </a:effectRef>
          <a:fontRef idx="major"/>
        </p:style>
        <p:txBody>
          <a:bodyPr/>
          <a:lstStyle/>
          <a:p>
            <a:endParaRPr lang="vi-VN">
              <a:latin typeface="Calibri" panose="020F0502020204030204" charset="0"/>
              <a:cs typeface="Calibri" panose="020F0502020204030204" charset="0"/>
            </a:endParaRPr>
          </a:p>
        </p:txBody>
      </p:sp>
      <p:sp>
        <p:nvSpPr>
          <p:cNvPr id="3" name="Rectangle 2"/>
          <p:cNvSpPr>
            <a:spLocks noGrp="1"/>
          </p:cNvSpPr>
          <p:nvPr/>
        </p:nvSpPr>
        <p:spPr>
          <a:xfrm>
            <a:off x="733425" y="2209800"/>
            <a:ext cx="5334000" cy="1095375"/>
          </a:xfrm>
          <a:prstGeom prst="rect">
            <a:avLst/>
          </a:prstGeom>
          <a:noFill/>
          <a:ln w="0">
            <a:noFill/>
          </a:ln>
        </p:spPr>
        <p:txBody>
          <a:bodyPr/>
          <a:lstStyle>
            <a:defPPr>
              <a:defRPr sz="6150" b="1">
                <a:solidFill>
                  <a:srgbClr val="FFFFFF"/>
                </a:solidFill>
                <a:latin typeface="DejaVu Sans"/>
                <a:ea typeface="DejaVu Sans"/>
                <a:cs typeface="DejaVu Sans"/>
              </a:defRPr>
            </a:defPPr>
          </a:lstStyle>
          <a:p>
            <a:pPr>
              <a:defRPr sz="6150" b="1">
                <a:solidFill>
                  <a:srgbClr val="FFFFFF"/>
                </a:solidFill>
                <a:latin typeface="DejaVu Sans"/>
                <a:ea typeface="DejaVu Sans"/>
                <a:cs typeface="DejaVu Sans"/>
              </a:defRPr>
            </a:pPr>
            <a:r>
              <a:rPr lang="en-US" sz="6150" b="1" dirty="0" err="1">
                <a:solidFill>
                  <a:srgbClr val="FFFFFF"/>
                </a:solidFill>
                <a:latin typeface="Calibri" panose="020F0502020204030204" charset="0"/>
                <a:ea typeface="DejaVu Sans"/>
                <a:cs typeface="Calibri" panose="020F0502020204030204" charset="0"/>
              </a:rPr>
              <a:t>Thank You!</a:t>
            </a:r>
            <a:endParaRPr lang="en-US" sz="6150" b="1" dirty="0" err="1">
              <a:solidFill>
                <a:srgbClr val="FFFFFF"/>
              </a:solidFill>
              <a:latin typeface="Calibri" panose="020F0502020204030204" charset="0"/>
              <a:ea typeface="DejaVu Sans"/>
              <a:cs typeface="Calibri" panose="020F0502020204030204" charset="0"/>
            </a:endParaRPr>
          </a:p>
        </p:txBody>
      </p:sp>
      <p:sp>
        <p:nvSpPr>
          <p:cNvPr id="4" name="Rectangle 3"/>
          <p:cNvSpPr>
            <a:spLocks noGrp="1"/>
          </p:cNvSpPr>
          <p:nvPr/>
        </p:nvSpPr>
        <p:spPr>
          <a:xfrm>
            <a:off x="790575" y="3581400"/>
            <a:ext cx="5078095" cy="1209675"/>
          </a:xfrm>
          <a:prstGeom prst="rect">
            <a:avLst/>
          </a:prstGeom>
          <a:noFill/>
          <a:ln w="0">
            <a:noFill/>
          </a:ln>
        </p:spPr>
        <p:txBody>
          <a:bodyPr/>
          <a:lstStyle>
            <a:defPPr>
              <a:defRPr sz="2925" b="0">
                <a:solidFill>
                  <a:srgbClr val="E6EFEA"/>
                </a:solidFill>
                <a:latin typeface="DejaVu Sans"/>
                <a:ea typeface="DejaVu Sans"/>
                <a:cs typeface="DejaVu Sans"/>
              </a:defRPr>
            </a:defPPr>
          </a:lstStyle>
          <a:p>
            <a:pPr algn="just">
              <a:defRPr sz="2925" b="0">
                <a:solidFill>
                  <a:srgbClr val="E6EFEA"/>
                </a:solidFill>
                <a:latin typeface="DejaVu Sans"/>
                <a:ea typeface="DejaVu Sans"/>
                <a:cs typeface="DejaVu Sans"/>
              </a:defRPr>
            </a:pPr>
            <a:r>
              <a:rPr lang="en-US" sz="2925" b="0" dirty="0" err="1">
                <a:solidFill>
                  <a:srgbClr val="E6EFEA"/>
                </a:solidFill>
                <a:latin typeface="Calibri" panose="020F0502020204030204" charset="0"/>
                <a:ea typeface="DejaVu Sans"/>
                <a:cs typeface="Calibri" panose="020F0502020204030204" charset="0"/>
              </a:rPr>
              <a:t>Cảm</a:t>
            </a:r>
            <a:r>
              <a:rPr lang="en-US" sz="2925" b="0" dirty="0">
                <a:solidFill>
                  <a:srgbClr val="E6EFEA"/>
                </a:solidFill>
                <a:latin typeface="Calibri" panose="020F0502020204030204" charset="0"/>
                <a:ea typeface="DejaVu Sans"/>
                <a:cs typeface="Calibri" panose="020F0502020204030204" charset="0"/>
              </a:rPr>
              <a:t> </a:t>
            </a:r>
            <a:r>
              <a:rPr lang="en-US" sz="2925" b="0" dirty="0" err="1">
                <a:solidFill>
                  <a:srgbClr val="E6EFEA"/>
                </a:solidFill>
                <a:latin typeface="Calibri" panose="020F0502020204030204" charset="0"/>
                <a:ea typeface="DejaVu Sans"/>
                <a:cs typeface="Calibri" panose="020F0502020204030204" charset="0"/>
              </a:rPr>
              <a:t>ơn</a:t>
            </a:r>
            <a:r>
              <a:rPr lang="en-US" sz="2925" b="0" dirty="0">
                <a:solidFill>
                  <a:srgbClr val="E6EFEA"/>
                </a:solidFill>
                <a:latin typeface="Calibri" panose="020F0502020204030204" charset="0"/>
                <a:ea typeface="DejaVu Sans"/>
                <a:cs typeface="Calibri" panose="020F0502020204030204" charset="0"/>
              </a:rPr>
              <a:t> </a:t>
            </a:r>
            <a:r>
              <a:rPr lang="en-US" sz="2925" b="0" dirty="0" err="1">
                <a:solidFill>
                  <a:srgbClr val="E6EFEA"/>
                </a:solidFill>
                <a:latin typeface="Calibri" panose="020F0502020204030204" charset="0"/>
                <a:ea typeface="DejaVu Sans"/>
                <a:cs typeface="Calibri" panose="020F0502020204030204" charset="0"/>
              </a:rPr>
              <a:t>cô</a:t>
            </a:r>
            <a:r>
              <a:rPr lang="en-US" sz="2925" b="0" dirty="0">
                <a:solidFill>
                  <a:srgbClr val="E6EFEA"/>
                </a:solidFill>
                <a:latin typeface="Calibri" panose="020F0502020204030204" charset="0"/>
                <a:ea typeface="DejaVu Sans"/>
                <a:cs typeface="Calibri" panose="020F0502020204030204" charset="0"/>
              </a:rPr>
              <a:t> </a:t>
            </a:r>
            <a:r>
              <a:rPr lang="en-US" sz="2925" b="0" dirty="0" err="1">
                <a:solidFill>
                  <a:srgbClr val="E6EFEA"/>
                </a:solidFill>
                <a:latin typeface="Calibri" panose="020F0502020204030204" charset="0"/>
                <a:ea typeface="DejaVu Sans"/>
                <a:cs typeface="Calibri" panose="020F0502020204030204" charset="0"/>
              </a:rPr>
              <a:t>và</a:t>
            </a:r>
            <a:r>
              <a:rPr lang="en-US" sz="2925" dirty="0">
                <a:solidFill>
                  <a:srgbClr val="E6EFEA"/>
                </a:solidFill>
                <a:latin typeface="Calibri" panose="020F0502020204030204" charset="0"/>
                <a:ea typeface="DejaVu Sans"/>
                <a:cs typeface="Calibri" panose="020F0502020204030204" charset="0"/>
              </a:rPr>
              <a:t> </a:t>
            </a:r>
            <a:r>
              <a:rPr lang="en-US" sz="2925" dirty="0" err="1">
                <a:solidFill>
                  <a:srgbClr val="E6EFEA"/>
                </a:solidFill>
                <a:latin typeface="Calibri" panose="020F0502020204030204" charset="0"/>
                <a:ea typeface="DejaVu Sans"/>
                <a:cs typeface="Calibri" panose="020F0502020204030204" charset="0"/>
              </a:rPr>
              <a:t>các</a:t>
            </a:r>
            <a:r>
              <a:rPr lang="en-US" sz="2925" dirty="0">
                <a:solidFill>
                  <a:srgbClr val="E6EFEA"/>
                </a:solidFill>
                <a:latin typeface="Calibri" panose="020F0502020204030204" charset="0"/>
                <a:ea typeface="DejaVu Sans"/>
                <a:cs typeface="Calibri" panose="020F0502020204030204" charset="0"/>
              </a:rPr>
              <a:t> </a:t>
            </a:r>
            <a:r>
              <a:rPr lang="en-US" sz="2925" dirty="0" err="1">
                <a:solidFill>
                  <a:srgbClr val="E6EFEA"/>
                </a:solidFill>
                <a:latin typeface="Calibri" panose="020F0502020204030204" charset="0"/>
                <a:ea typeface="DejaVu Sans"/>
                <a:cs typeface="Calibri" panose="020F0502020204030204" charset="0"/>
              </a:rPr>
              <a:t>bạn</a:t>
            </a:r>
            <a:r>
              <a:rPr lang="en-US" sz="2925" dirty="0">
                <a:solidFill>
                  <a:srgbClr val="E6EFEA"/>
                </a:solidFill>
                <a:latin typeface="Calibri" panose="020F0502020204030204" charset="0"/>
                <a:ea typeface="DejaVu Sans"/>
                <a:cs typeface="Calibri" panose="020F0502020204030204" charset="0"/>
              </a:rPr>
              <a:t> </a:t>
            </a:r>
            <a:r>
              <a:rPr lang="en-US" sz="2925" dirty="0" err="1">
                <a:solidFill>
                  <a:srgbClr val="E6EFEA"/>
                </a:solidFill>
                <a:latin typeface="Calibri" panose="020F0502020204030204" charset="0"/>
                <a:ea typeface="DejaVu Sans"/>
                <a:cs typeface="Calibri" panose="020F0502020204030204" charset="0"/>
              </a:rPr>
              <a:t>đã</a:t>
            </a:r>
            <a:r>
              <a:rPr lang="en-US" sz="2925" dirty="0">
                <a:solidFill>
                  <a:srgbClr val="E6EFEA"/>
                </a:solidFill>
                <a:latin typeface="Calibri" panose="020F0502020204030204" charset="0"/>
                <a:ea typeface="DejaVu Sans"/>
                <a:cs typeface="Calibri" panose="020F0502020204030204" charset="0"/>
              </a:rPr>
              <a:t> </a:t>
            </a:r>
            <a:r>
              <a:rPr lang="en-US" sz="2925" dirty="0" err="1">
                <a:solidFill>
                  <a:srgbClr val="E6EFEA"/>
                </a:solidFill>
                <a:latin typeface="Calibri" panose="020F0502020204030204" charset="0"/>
                <a:ea typeface="DejaVu Sans"/>
                <a:cs typeface="Calibri" panose="020F0502020204030204" charset="0"/>
              </a:rPr>
              <a:t>lắng</a:t>
            </a:r>
            <a:r>
              <a:rPr lang="en-US" sz="2925" dirty="0">
                <a:solidFill>
                  <a:srgbClr val="E6EFEA"/>
                </a:solidFill>
                <a:latin typeface="Calibri" panose="020F0502020204030204" charset="0"/>
                <a:ea typeface="DejaVu Sans"/>
                <a:cs typeface="Calibri" panose="020F0502020204030204" charset="0"/>
              </a:rPr>
              <a:t> </a:t>
            </a:r>
            <a:r>
              <a:rPr lang="en-US" sz="2925" dirty="0" err="1">
                <a:solidFill>
                  <a:srgbClr val="E6EFEA"/>
                </a:solidFill>
                <a:latin typeface="Calibri" panose="020F0502020204030204" charset="0"/>
                <a:ea typeface="DejaVu Sans"/>
                <a:cs typeface="Calibri" panose="020F0502020204030204" charset="0"/>
              </a:rPr>
              <a:t>nghe</a:t>
            </a:r>
            <a:endParaRPr sz="2925" b="0" dirty="0">
              <a:solidFill>
                <a:srgbClr val="E6EFEA"/>
              </a:solidFill>
              <a:latin typeface="Calibri" panose="020F0502020204030204" charset="0"/>
              <a:ea typeface="DejaVu Sans"/>
              <a:cs typeface="Calibri" panose="020F0502020204030204" charset="0"/>
            </a:endParaRPr>
          </a:p>
        </p:txBody>
      </p:sp>
      <p:sp>
        <p:nvSpPr>
          <p:cNvPr id="5" name="Rectangle 4"/>
          <p:cNvSpPr>
            <a:spLocks noGrp="1"/>
          </p:cNvSpPr>
          <p:nvPr/>
        </p:nvSpPr>
        <p:spPr>
          <a:xfrm>
            <a:off x="781050" y="5676900"/>
            <a:ext cx="5381625" cy="457200"/>
          </a:xfrm>
          <a:prstGeom prst="rect">
            <a:avLst/>
          </a:prstGeom>
          <a:noFill/>
          <a:ln w="0">
            <a:noFill/>
          </a:ln>
        </p:spPr>
        <p:txBody>
          <a:bodyPr/>
          <a:lstStyle>
            <a:defPPr>
              <a:defRPr sz="1950" b="0">
                <a:solidFill>
                  <a:srgbClr val="B4CDC1"/>
                </a:solidFill>
                <a:latin typeface="DejaVu Sans"/>
                <a:ea typeface="DejaVu Sans"/>
                <a:cs typeface="DejaVu Sans"/>
              </a:defRPr>
            </a:defPPr>
          </a:lstStyle>
          <a:p>
            <a:pPr>
              <a:defRPr sz="1950" b="0">
                <a:solidFill>
                  <a:srgbClr val="B4CDC1"/>
                </a:solidFill>
                <a:latin typeface="DejaVu Sans"/>
                <a:ea typeface="DejaVu Sans"/>
                <a:cs typeface="DejaVu Sans"/>
              </a:defRPr>
            </a:pPr>
            <a:endParaRPr sz="1950" b="0" dirty="0">
              <a:solidFill>
                <a:srgbClr val="B4CDC1"/>
              </a:solidFill>
              <a:latin typeface="DejaVu Sans"/>
              <a:ea typeface="DejaVu Sans"/>
              <a:cs typeface="DejaVu Sans"/>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71450" dist="81382" dir="4166637">
              <a:srgbClr val="000000">
                <a:alpha val="2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71450" dist="81382" dir="4166637">
              <a:srgbClr val="000000">
                <a:alpha val="2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5126</Words>
  <Application>WPS Presentation</Application>
  <PresentationFormat>Widescreen</PresentationFormat>
  <Paragraphs>294</Paragraphs>
  <Slides>20</Slides>
  <Notes>20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SimSun</vt:lpstr>
      <vt:lpstr>Wingdings</vt:lpstr>
      <vt:lpstr>Calibri</vt:lpstr>
      <vt:lpstr>DejaVu Sans</vt:lpstr>
      <vt:lpstr>Microsoft YaHei</vt:lpstr>
      <vt:lpstr>Arial Unicode MS</vt:lpstr>
      <vt:lpstr>Aptos</vt:lpstr>
      <vt:lpstr>Segoe UI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Bắc Phan</cp:lastModifiedBy>
  <cp:revision>35</cp:revision>
  <dcterms:created xsi:type="dcterms:W3CDTF">2026-10-10T17:40:00Z</dcterms:created>
  <dcterms:modified xsi:type="dcterms:W3CDTF">2026-10-11T04:03:11Z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F4E660D7ECF84F8983FB2E27F9D6BB56_13</vt:lpwstr>
  </property>
  <property fmtid="{D5CDD505-2E9C-101B-9397-08002B2CF9AE}" pid="3" name="KSOProductBuildVer">
    <vt:lpwstr>1033-12.1.0.28485</vt:lpwstr>
  </property>
</Properties>
</file>